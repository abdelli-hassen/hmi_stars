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F84841-10BF-F954-0F3E-27F3F2AE2EE5}" v="279" dt="2026-06-21T16:37:33.256"/>
    <p1510:client id="{A7D1E2DE-A2DB-DDA9-7FFE-1883C704D082}" v="10" dt="2026-06-21T16:46:48.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38" autoAdjust="0"/>
    <p:restoredTop sz="87059" autoAdjust="0"/>
  </p:normalViewPr>
  <p:slideViewPr>
    <p:cSldViewPr snapToGrid="0" snapToObjects="1">
      <p:cViewPr varScale="1">
        <p:scale>
          <a:sx n="92" d="100"/>
          <a:sy n="92" d="100"/>
        </p:scale>
        <p:origin x="1392" y="5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c:v>
                </c:pt>
              </c:strCache>
            </c:strRef>
          </c:tx>
          <c:spPr>
            <a:solidFill>
              <a:schemeClr val="accent1"/>
            </a:solidFill>
            <a:ln w="9525" cap="flat">
              <a:solidFill>
                <a:srgbClr val="F9F9F9"/>
              </a:solidFill>
              <a:prstDash val="solid"/>
              <a:round/>
            </a:ln>
            <a:effectLst/>
          </c:spPr>
          <c:explosion val="4"/>
          <c:dPt>
            <c:idx val="0"/>
            <c:bubble3D val="0"/>
            <c:spPr>
              <a:solidFill>
                <a:srgbClr val="10B981"/>
              </a:solidFill>
              <a:effectLst/>
            </c:spPr>
            <c:extLst>
              <c:ext xmlns:c16="http://schemas.microsoft.com/office/drawing/2014/chart" uri="{C3380CC4-5D6E-409C-BE32-E72D297353CC}">
                <c16:uniqueId val="{00000001-F1E7-4D87-BCD4-006A79B35ACA}"/>
              </c:ext>
            </c:extLst>
          </c:dPt>
          <c:dPt>
            <c:idx val="1"/>
            <c:bubble3D val="0"/>
            <c:spPr>
              <a:solidFill>
                <a:srgbClr val="1A1D2E"/>
              </a:solidFill>
              <a:effectLst/>
            </c:spPr>
            <c:extLst>
              <c:ext xmlns:c16="http://schemas.microsoft.com/office/drawing/2014/chart" uri="{C3380CC4-5D6E-409C-BE32-E72D297353CC}">
                <c16:uniqueId val="{00000003-F1E7-4D87-BCD4-006A79B35ACA}"/>
              </c:ext>
            </c:extLst>
          </c:dPt>
          <c:cat>
            <c:strRef>
              <c:f>Sheet1!$A$2:$A$3</c:f>
              <c:strCache>
                <c:ptCount val="2"/>
                <c:pt idx="0">
                  <c:v>a</c:v>
                </c:pt>
                <c:pt idx="1">
                  <c:v>b</c:v>
                </c:pt>
              </c:strCache>
            </c:strRef>
          </c:cat>
          <c:val>
            <c:numRef>
              <c:f>Sheet1!$B$2:$B$3</c:f>
              <c:numCache>
                <c:formatCode>General</c:formatCode>
                <c:ptCount val="2"/>
                <c:pt idx="0">
                  <c:v>100</c:v>
                </c:pt>
                <c:pt idx="1">
                  <c:v>0</c:v>
                </c:pt>
              </c:numCache>
            </c:numRef>
          </c:val>
          <c:extLst>
            <c:ext xmlns:c16="http://schemas.microsoft.com/office/drawing/2014/chart" uri="{C3380CC4-5D6E-409C-BE32-E72D297353CC}">
              <c16:uniqueId val="{00000004-F1E7-4D87-BCD4-006A79B35AC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BDBF0A3B-995C-4639-ADE1-46BE65A3232A}" type="datetimeFigureOut">
              <a:rPr lang="fr-FR" smtClean="0"/>
              <a:t>22/06/2026</a:t>
            </a:fld>
            <a:endParaRPr lang="fr-FR"/>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051E809-1079-48EE-A436-54691A31CE2E}" type="slidenum">
              <a:rPr lang="fr-FR" smtClean="0"/>
              <a:t>‹#›</a:t>
            </a:fld>
            <a:endParaRPr lang="fr-FR"/>
          </a:p>
        </p:txBody>
      </p:sp>
    </p:spTree>
    <p:extLst>
      <p:ext uri="{BB962C8B-B14F-4D97-AF65-F5344CB8AC3E}">
        <p14:creationId xmlns:p14="http://schemas.microsoft.com/office/powerpoint/2010/main" val="517085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err="1"/>
              <a:t>yassine</a:t>
            </a:r>
            <a:endParaRPr lang="en-US"/>
          </a:p>
          <a:p>
            <a:endParaRPr lang="en-US"/>
          </a:p>
          <a:p>
            <a:r>
              <a:rPr lang="en-US"/>
              <a:t>“Good morning, Madam and  the members of the jury. Thank you for your time and attention. Today, me and my partner will present our project and explain the work we have done throughout our internship</a:t>
            </a:r>
          </a:p>
        </p:txBody>
      </p:sp>
      <p:sp>
        <p:nvSpPr>
          <p:cNvPr id="4" name="Slide Number Placeholder 3"/>
          <p:cNvSpPr>
            <a:spLocks noGrp="1"/>
          </p:cNvSpPr>
          <p:nvPr>
            <p:ph type="sldNum" sz="quarter" idx="5"/>
          </p:nvPr>
        </p:nvSpPr>
        <p:spPr/>
        <p:txBody>
          <a:bodyPr/>
          <a:lstStyle/>
          <a:p>
            <a:fld id="{1051E809-1079-48EE-A436-54691A31CE2E}" type="slidenum">
              <a:rPr lang="fr-FR" smtClean="0"/>
              <a:t>1</a:t>
            </a:fld>
            <a:endParaRPr lang="fr-FR"/>
          </a:p>
        </p:txBody>
      </p:sp>
    </p:spTree>
    <p:extLst>
      <p:ext uri="{BB962C8B-B14F-4D97-AF65-F5344CB8AC3E}">
        <p14:creationId xmlns:p14="http://schemas.microsoft.com/office/powerpoint/2010/main" val="4259889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err="1"/>
              <a:t>yassine</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a:t>
            </a:fld>
            <a:endParaRPr lang="fr-FR"/>
          </a:p>
        </p:txBody>
      </p:sp>
    </p:spTree>
    <p:extLst>
      <p:ext uri="{BB962C8B-B14F-4D97-AF65-F5344CB8AC3E}">
        <p14:creationId xmlns:p14="http://schemas.microsoft.com/office/powerpoint/2010/main" val="2031817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This Final Year Project focuses on the design and development of a complete web and mobile application ecosystem for HMI Stars Consulting, </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3</a:t>
            </a:fld>
            <a:endParaRPr lang="fr-FR"/>
          </a:p>
        </p:txBody>
      </p:sp>
    </p:spTree>
    <p:extLst>
      <p:ext uri="{BB962C8B-B14F-4D97-AF65-F5344CB8AC3E}">
        <p14:creationId xmlns:p14="http://schemas.microsoft.com/office/powerpoint/2010/main" val="331474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4</a:t>
            </a:fld>
            <a:endParaRPr lang="fr-FR"/>
          </a:p>
        </p:txBody>
      </p:sp>
    </p:spTree>
    <p:extLst>
      <p:ext uri="{BB962C8B-B14F-4D97-AF65-F5344CB8AC3E}">
        <p14:creationId xmlns:p14="http://schemas.microsoft.com/office/powerpoint/2010/main" val="2723668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Yassine </a:t>
            </a:r>
          </a:p>
          <a:p>
            <a:endParaRPr lang="en-US"/>
          </a:p>
          <a:p>
            <a:r>
              <a:rPr lang="en-US"/>
              <a:t>Before the implementation of this solution, the company relied mainly on traditional communication methods such as emails, phone calls, messaging applications, and physical documents to exchange information with client companies. This approach often led to delays, loss of important documents, inefficient communication, and difficulties in tracking employees and administrative activities.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5</a:t>
            </a:fld>
            <a:endParaRPr lang="fr-FR"/>
          </a:p>
        </p:txBody>
      </p:sp>
    </p:spTree>
    <p:extLst>
      <p:ext uri="{BB962C8B-B14F-4D97-AF65-F5344CB8AC3E}">
        <p14:creationId xmlns:p14="http://schemas.microsoft.com/office/powerpoint/2010/main" val="2109157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a:t>
            </a:r>
          </a:p>
        </p:txBody>
      </p:sp>
      <p:sp>
        <p:nvSpPr>
          <p:cNvPr id="4" name="Slide Number Placeholder 3"/>
          <p:cNvSpPr>
            <a:spLocks noGrp="1"/>
          </p:cNvSpPr>
          <p:nvPr>
            <p:ph type="sldNum" sz="quarter" idx="5"/>
          </p:nvPr>
        </p:nvSpPr>
        <p:spPr/>
        <p:txBody>
          <a:bodyPr/>
          <a:lstStyle/>
          <a:p>
            <a:fld id="{1051E809-1079-48EE-A436-54691A31CE2E}" type="slidenum">
              <a:rPr lang="fr-FR" smtClean="0"/>
              <a:t>6</a:t>
            </a:fld>
            <a:endParaRPr lang="fr-FR"/>
          </a:p>
        </p:txBody>
      </p:sp>
    </p:spTree>
    <p:extLst>
      <p:ext uri="{BB962C8B-B14F-4D97-AF65-F5344CB8AC3E}">
        <p14:creationId xmlns:p14="http://schemas.microsoft.com/office/powerpoint/2010/main" val="1178197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 </a:t>
            </a:r>
            <a:r>
              <a:rPr lang="en-US" err="1"/>
              <a:t>hassen</a:t>
            </a:r>
            <a:endParaRPr lang="en-US"/>
          </a:p>
          <a:p>
            <a:endParaRPr lang="en-US"/>
          </a:p>
          <a:p>
            <a:r>
              <a:rPr lang="en-US"/>
              <a:t>During the requirement analysis phase, we studied the company’s needs, identified existing problems, and defined the requirements necessary to develop an efficient and secure solution.</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7</a:t>
            </a:fld>
            <a:endParaRPr lang="fr-FR"/>
          </a:p>
        </p:txBody>
      </p:sp>
    </p:spTree>
    <p:extLst>
      <p:ext uri="{BB962C8B-B14F-4D97-AF65-F5344CB8AC3E}">
        <p14:creationId xmlns:p14="http://schemas.microsoft.com/office/powerpoint/2010/main" val="3667534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err="1"/>
              <a:t>hassen</a:t>
            </a:r>
            <a:endParaRPr lang="en-US"/>
          </a:p>
          <a:p>
            <a:endParaRPr lang="en-US"/>
          </a:p>
          <a:p>
            <a:r>
              <a:rPr lang="en-US"/>
              <a:t>Client Managers use the Mobile App to track attendance, scan documents offline, and chat with support. HMI Stars Consultants use the Web platform to register companies, review records, and export reports. Each role has dedicated tools matching their responsibilities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8</a:t>
            </a:fld>
            <a:endParaRPr lang="fr-FR"/>
          </a:p>
        </p:txBody>
      </p:sp>
    </p:spTree>
    <p:extLst>
      <p:ext uri="{BB962C8B-B14F-4D97-AF65-F5344CB8AC3E}">
        <p14:creationId xmlns:p14="http://schemas.microsoft.com/office/powerpoint/2010/main" val="3743129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This slide presents the core functional requirements across three system layers. The Mobile App provides OTP authentication, attendance tracking with interactive calendars, document scanning via camera, and warning template creation. </a:t>
            </a:r>
          </a:p>
          <a:p>
            <a:r>
              <a:rPr lang="en-US"/>
              <a:t>The Web platform enables client company management, employee search, attendance export to Excel, and direct PDF preview.</a:t>
            </a:r>
          </a:p>
          <a:p>
            <a:r>
              <a:rPr lang="en-US"/>
              <a:t>The Backend Database ensures secure OTP verification, relational data linking, Row Level Security (RLS) for data isolation between companies, and WebSocket triggers for real-time chat updates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9</a:t>
            </a:fld>
            <a:endParaRPr lang="fr-FR"/>
          </a:p>
        </p:txBody>
      </p:sp>
    </p:spTree>
    <p:extLst>
      <p:ext uri="{BB962C8B-B14F-4D97-AF65-F5344CB8AC3E}">
        <p14:creationId xmlns:p14="http://schemas.microsoft.com/office/powerpoint/2010/main" val="2721610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Here we cover the non-functional requirements that ensure system quality. Data security is enforced through PostgreSQL Row Level Security, blocking unauthorized access at the database level. The mobile app supports offline mode by caching attendance logs locally and syncing when the connection is restored. The codebase is structured by features, making future updates easy without breaking existing modules. Finally, API response times are optimized to load pages in under 200 milliseconds, ensuring a fast user experience."</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10</a:t>
            </a:fld>
            <a:endParaRPr lang="fr-FR"/>
          </a:p>
        </p:txBody>
      </p:sp>
    </p:spTree>
    <p:extLst>
      <p:ext uri="{BB962C8B-B14F-4D97-AF65-F5344CB8AC3E}">
        <p14:creationId xmlns:p14="http://schemas.microsoft.com/office/powerpoint/2010/main" val="1321997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Yassine </a:t>
            </a:r>
          </a:p>
          <a:p>
            <a:endParaRPr lang="en-US"/>
          </a:p>
          <a:p>
            <a:r>
              <a:rPr lang="en-US"/>
              <a:t>The system follows the 2TUP methodology with an MVC architecture, backed by </a:t>
            </a:r>
            <a:r>
              <a:rPr lang="en-US" err="1"/>
              <a:t>Supabase</a:t>
            </a:r>
            <a:r>
              <a:rPr lang="en-US"/>
              <a:t> for database, real-time WebSocket, and authentication services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11</a:t>
            </a:fld>
            <a:endParaRPr lang="fr-FR"/>
          </a:p>
        </p:txBody>
      </p:sp>
    </p:spTree>
    <p:extLst>
      <p:ext uri="{BB962C8B-B14F-4D97-AF65-F5344CB8AC3E}">
        <p14:creationId xmlns:p14="http://schemas.microsoft.com/office/powerpoint/2010/main" val="3505281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The </a:t>
            </a:r>
            <a:r>
              <a:rPr lang="fr-FR" err="1"/>
              <a:t>project</a:t>
            </a:r>
            <a:r>
              <a:rPr lang="fr-FR"/>
              <a:t> was </a:t>
            </a:r>
            <a:r>
              <a:rPr lang="fr-FR" err="1"/>
              <a:t>developed</a:t>
            </a:r>
            <a:r>
              <a:rPr lang="fr-FR"/>
              <a:t> </a:t>
            </a:r>
            <a:r>
              <a:rPr lang="fr-FR" err="1"/>
              <a:t>using</a:t>
            </a:r>
            <a:r>
              <a:rPr lang="fr-FR"/>
              <a:t> the 2TUP </a:t>
            </a:r>
            <a:r>
              <a:rPr lang="fr-FR" err="1"/>
              <a:t>methodology</a:t>
            </a:r>
            <a:r>
              <a:rPr lang="fr-FR"/>
              <a:t> in four phases. </a:t>
            </a:r>
            <a:r>
              <a:rPr lang="fr-FR" err="1"/>
              <a:t>We</a:t>
            </a:r>
            <a:r>
              <a:rPr lang="fr-FR"/>
              <a:t> </a:t>
            </a:r>
            <a:r>
              <a:rPr lang="fr-FR" err="1"/>
              <a:t>began</a:t>
            </a:r>
            <a:r>
              <a:rPr lang="fr-FR"/>
              <a:t> by </a:t>
            </a:r>
            <a:r>
              <a:rPr lang="fr-FR" err="1"/>
              <a:t>identifying</a:t>
            </a:r>
            <a:r>
              <a:rPr lang="fr-FR"/>
              <a:t> the </a:t>
            </a:r>
            <a:r>
              <a:rPr lang="fr-FR" err="1"/>
              <a:t>actors</a:t>
            </a:r>
            <a:r>
              <a:rPr lang="fr-FR"/>
              <a:t>, use cases, and </a:t>
            </a:r>
            <a:r>
              <a:rPr lang="fr-FR" err="1"/>
              <a:t>project</a:t>
            </a:r>
            <a:r>
              <a:rPr lang="fr-FR"/>
              <a:t> priorities, </a:t>
            </a:r>
            <a:r>
              <a:rPr lang="fr-FR" err="1"/>
              <a:t>then</a:t>
            </a:r>
            <a:r>
              <a:rPr lang="fr-FR"/>
              <a:t> </a:t>
            </a:r>
            <a:r>
              <a:rPr lang="fr-FR" err="1"/>
              <a:t>designed</a:t>
            </a:r>
            <a:r>
              <a:rPr lang="fr-FR"/>
              <a:t> the system </a:t>
            </a:r>
            <a:r>
              <a:rPr lang="fr-FR" err="1"/>
              <a:t>through</a:t>
            </a:r>
            <a:r>
              <a:rPr lang="fr-FR"/>
              <a:t> </a:t>
            </a:r>
            <a:r>
              <a:rPr lang="fr-FR" err="1"/>
              <a:t>sequence</a:t>
            </a:r>
            <a:r>
              <a:rPr lang="fr-FR"/>
              <a:t> and class </a:t>
            </a:r>
            <a:r>
              <a:rPr lang="fr-FR" err="1"/>
              <a:t>diagrams</a:t>
            </a:r>
            <a:r>
              <a:rPr lang="fr-FR"/>
              <a:t>. </a:t>
            </a:r>
            <a:r>
              <a:rPr lang="fr-FR" err="1"/>
              <a:t>Development</a:t>
            </a:r>
            <a:r>
              <a:rPr lang="fr-FR"/>
              <a:t> was </a:t>
            </a:r>
            <a:r>
              <a:rPr lang="fr-FR" err="1"/>
              <a:t>carried</a:t>
            </a:r>
            <a:r>
              <a:rPr lang="fr-FR"/>
              <a:t> out in four </a:t>
            </a:r>
            <a:r>
              <a:rPr lang="fr-FR" err="1"/>
              <a:t>iterations</a:t>
            </a:r>
            <a:r>
              <a:rPr lang="fr-FR"/>
              <a:t> </a:t>
            </a:r>
            <a:r>
              <a:rPr lang="fr-FR" err="1"/>
              <a:t>covering</a:t>
            </a:r>
            <a:r>
              <a:rPr lang="fr-FR"/>
              <a:t> </a:t>
            </a:r>
            <a:r>
              <a:rPr lang="fr-FR" err="1"/>
              <a:t>authentication</a:t>
            </a:r>
            <a:r>
              <a:rPr lang="fr-FR"/>
              <a:t>, </a:t>
            </a:r>
            <a:r>
              <a:rPr lang="fr-FR" err="1"/>
              <a:t>attendance</a:t>
            </a:r>
            <a:r>
              <a:rPr lang="fr-FR"/>
              <a:t>, chat, and warning management. </a:t>
            </a:r>
          </a:p>
          <a:p>
            <a:r>
              <a:rPr lang="fr-FR"/>
              <a:t>Finally, the system was </a:t>
            </a:r>
            <a:r>
              <a:rPr lang="fr-FR" err="1"/>
              <a:t>deployed</a:t>
            </a:r>
            <a:r>
              <a:rPr lang="fr-FR"/>
              <a:t>, </a:t>
            </a:r>
            <a:r>
              <a:rPr lang="fr-FR" err="1"/>
              <a:t>tested</a:t>
            </a:r>
            <a:r>
              <a:rPr lang="fr-FR"/>
              <a:t>, and </a:t>
            </a:r>
            <a:r>
              <a:rPr lang="fr-FR" err="1"/>
              <a:t>evaluated</a:t>
            </a:r>
            <a:r>
              <a:rPr lang="fr-FR"/>
              <a:t>.</a:t>
            </a:r>
          </a:p>
          <a:p>
            <a:r>
              <a:rPr lang="fr-FR"/>
              <a:t> </a:t>
            </a:r>
          </a:p>
          <a:p>
            <a:r>
              <a:rPr lang="fr-FR"/>
              <a:t>This is the mobile application use case diagramme</a:t>
            </a:r>
          </a:p>
          <a:p>
            <a:r>
              <a:rPr lang="fr-FR"/>
              <a:t>The application </a:t>
            </a:r>
            <a:r>
              <a:rPr lang="fr-FR" err="1"/>
              <a:t>includes</a:t>
            </a:r>
            <a:r>
              <a:rPr lang="fr-FR"/>
              <a:t> employees and absence management, </a:t>
            </a:r>
            <a:r>
              <a:rPr lang="fr-FR" err="1"/>
              <a:t>attendance</a:t>
            </a:r>
            <a:r>
              <a:rPr lang="fr-FR"/>
              <a:t> </a:t>
            </a:r>
            <a:r>
              <a:rPr lang="fr-FR" err="1"/>
              <a:t>tracking</a:t>
            </a:r>
            <a:r>
              <a:rPr lang="fr-FR"/>
              <a:t>, warning management, real-time chat </a:t>
            </a:r>
            <a:r>
              <a:rPr lang="fr-FR" err="1"/>
              <a:t>with</a:t>
            </a:r>
            <a:r>
              <a:rPr lang="fr-FR"/>
              <a:t> document sharing, client </a:t>
            </a:r>
            <a:r>
              <a:rPr lang="fr-FR" err="1"/>
              <a:t>task</a:t>
            </a:r>
            <a:r>
              <a:rPr lang="fr-FR"/>
              <a:t> </a:t>
            </a:r>
            <a:r>
              <a:rPr lang="fr-FR" err="1"/>
              <a:t>scheduling</a:t>
            </a:r>
            <a:r>
              <a:rPr lang="fr-FR"/>
              <a:t>, </a:t>
            </a:r>
            <a:r>
              <a:rPr lang="fr-FR" err="1"/>
              <a:t>company</a:t>
            </a:r>
            <a:r>
              <a:rPr lang="fr-FR"/>
              <a:t> management </a:t>
            </a:r>
            <a:r>
              <a:rPr lang="fr-FR" err="1"/>
              <a:t>with</a:t>
            </a:r>
            <a:r>
              <a:rPr lang="fr-FR"/>
              <a:t> full CRUD </a:t>
            </a:r>
            <a:r>
              <a:rPr lang="fr-FR" err="1"/>
              <a:t>operations</a:t>
            </a:r>
            <a:r>
              <a:rPr lang="fr-FR"/>
              <a:t>, as </a:t>
            </a:r>
            <a:r>
              <a:rPr lang="fr-FR" err="1"/>
              <a:t>well</a:t>
            </a:r>
            <a:r>
              <a:rPr lang="fr-FR"/>
              <a:t> as </a:t>
            </a:r>
            <a:r>
              <a:rPr lang="fr-FR" err="1"/>
              <a:t>account</a:t>
            </a:r>
            <a:r>
              <a:rPr lang="fr-FR"/>
              <a:t> settings, </a:t>
            </a:r>
            <a:r>
              <a:rPr lang="fr-FR" err="1"/>
              <a:t>password</a:t>
            </a:r>
            <a:r>
              <a:rPr lang="fr-FR"/>
              <a:t> </a:t>
            </a:r>
            <a:r>
              <a:rPr lang="fr-FR" err="1"/>
              <a:t>recovery</a:t>
            </a:r>
            <a:r>
              <a:rPr lang="fr-FR"/>
              <a:t>, and </a:t>
            </a:r>
            <a:r>
              <a:rPr lang="fr-FR" err="1"/>
              <a:t>administrator</a:t>
            </a:r>
            <a:r>
              <a:rPr lang="fr-FR"/>
              <a:t> user management.</a:t>
            </a:r>
          </a:p>
        </p:txBody>
      </p:sp>
      <p:sp>
        <p:nvSpPr>
          <p:cNvPr id="4" name="Slide Number Placeholder 3"/>
          <p:cNvSpPr>
            <a:spLocks noGrp="1"/>
          </p:cNvSpPr>
          <p:nvPr>
            <p:ph type="sldNum" sz="quarter" idx="5"/>
          </p:nvPr>
        </p:nvSpPr>
        <p:spPr/>
        <p:txBody>
          <a:bodyPr/>
          <a:lstStyle/>
          <a:p>
            <a:fld id="{1051E809-1079-48EE-A436-54691A31CE2E}" type="slidenum">
              <a:rPr lang="fr-FR" smtClean="0"/>
              <a:t>12</a:t>
            </a:fld>
            <a:endParaRPr lang="fr-FR"/>
          </a:p>
        </p:txBody>
      </p:sp>
    </p:spTree>
    <p:extLst>
      <p:ext uri="{BB962C8B-B14F-4D97-AF65-F5344CB8AC3E}">
        <p14:creationId xmlns:p14="http://schemas.microsoft.com/office/powerpoint/2010/main" val="1914447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The system uses a </a:t>
            </a:r>
            <a:r>
              <a:rPr lang="fr-FR" err="1"/>
              <a:t>three</a:t>
            </a:r>
            <a:r>
              <a:rPr lang="fr-FR"/>
              <a:t>-layer architecture-Flutter UI (Mobile + Web), Provider-</a:t>
            </a:r>
            <a:r>
              <a:rPr lang="fr-FR" err="1"/>
              <a:t>based</a:t>
            </a:r>
            <a:r>
              <a:rPr lang="fr-FR"/>
              <a:t> state management, and </a:t>
            </a:r>
            <a:r>
              <a:rPr lang="fr-FR" err="1"/>
              <a:t>Supabase</a:t>
            </a:r>
            <a:r>
              <a:rPr lang="fr-FR"/>
              <a:t> backend (API,</a:t>
            </a:r>
          </a:p>
          <a:p>
            <a:r>
              <a:rPr lang="fr-FR"/>
              <a:t>Storage, Auth, PostgreSQL, </a:t>
            </a:r>
            <a:r>
              <a:rPr lang="fr-FR" err="1"/>
              <a:t>Realtime</a:t>
            </a:r>
            <a:r>
              <a:rPr lang="fr-FR"/>
              <a:t>) —</a:t>
            </a:r>
            <a:r>
              <a:rPr lang="fr-FR" err="1"/>
              <a:t>supported</a:t>
            </a:r>
            <a:r>
              <a:rPr lang="fr-FR"/>
              <a:t> by RLS data isolation, </a:t>
            </a:r>
            <a:r>
              <a:rPr lang="fr-FR" err="1"/>
              <a:t>millisecond</a:t>
            </a:r>
            <a:r>
              <a:rPr lang="fr-FR"/>
              <a:t> CDC updates, and offline SQLite </a:t>
            </a:r>
            <a:r>
              <a:rPr lang="fr-FR" err="1"/>
              <a:t>sync</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13</a:t>
            </a:fld>
            <a:endParaRPr lang="fr-FR"/>
          </a:p>
        </p:txBody>
      </p:sp>
    </p:spTree>
    <p:extLst>
      <p:ext uri="{BB962C8B-B14F-4D97-AF65-F5344CB8AC3E}">
        <p14:creationId xmlns:p14="http://schemas.microsoft.com/office/powerpoint/2010/main" val="3135684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"We organized the code using the MVC pattern.</a:t>
            </a:r>
          </a:p>
          <a:p>
            <a:endParaRPr lang="en-US"/>
          </a:p>
          <a:p>
            <a:r>
              <a:rPr lang="en-US"/>
              <a:t>The Model represents database tables and handles JSON data. </a:t>
            </a:r>
          </a:p>
          <a:p>
            <a:endParaRPr lang="en-US"/>
          </a:p>
          <a:p>
            <a:r>
              <a:rPr lang="en-US"/>
              <a:t>The View includes the onterfaces like attendance and chat that react to state changes.</a:t>
            </a:r>
          </a:p>
          <a:p>
            <a:endParaRPr lang="en-US"/>
          </a:p>
          <a:p>
            <a:r>
              <a:rPr lang="en-US"/>
              <a:t>The Controller manages user actions, API calls, and local caching. This separation ensures modularity and simplifies future updates."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14</a:t>
            </a:fld>
            <a:endParaRPr lang="fr-FR"/>
          </a:p>
        </p:txBody>
      </p:sp>
    </p:spTree>
    <p:extLst>
      <p:ext uri="{BB962C8B-B14F-4D97-AF65-F5344CB8AC3E}">
        <p14:creationId xmlns:p14="http://schemas.microsoft.com/office/powerpoint/2010/main" val="2727799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hassen</a:t>
            </a:r>
            <a:r>
              <a:rPr lang="en-US"/>
              <a:t>“</a:t>
            </a:r>
          </a:p>
          <a:p>
            <a:r>
              <a:rPr lang="en-US"/>
              <a:t>This chapter covers the system design and UML diagrams. We modeled database structures and user flows using use case, sequence, and class diagrams. These blueprints guided our development from requirements to implementation</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15</a:t>
            </a:fld>
            <a:endParaRPr lang="fr-FR"/>
          </a:p>
        </p:txBody>
      </p:sp>
    </p:spTree>
    <p:extLst>
      <p:ext uri="{BB962C8B-B14F-4D97-AF65-F5344CB8AC3E}">
        <p14:creationId xmlns:p14="http://schemas.microsoft.com/office/powerpoint/2010/main" val="824261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use case diagram</a:t>
            </a:r>
          </a:p>
          <a:p>
            <a:r>
              <a:rPr lang="en-US"/>
              <a:t> shows two actors: mobile managers log attendance, leaves, and chat; web consultants register companies, preview, and export.</a:t>
            </a:r>
          </a:p>
          <a:p>
            <a:r>
              <a:rPr lang="en-US"/>
              <a:t>Common features: login, RLS, real-time chat. The full system includes employee, attendance, warnings, chat, documents, tasks, companies, and user management."</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16</a:t>
            </a:fld>
            <a:endParaRPr lang="fr-FR"/>
          </a:p>
        </p:txBody>
      </p:sp>
    </p:spTree>
    <p:extLst>
      <p:ext uri="{BB962C8B-B14F-4D97-AF65-F5344CB8AC3E}">
        <p14:creationId xmlns:p14="http://schemas.microsoft.com/office/powerpoint/2010/main" val="2195393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global class diagram shows Company as the root table, with Employees, Attendance, Leaves, Messages, Documents, and Warnings linked through foreign keys. </a:t>
            </a:r>
          </a:p>
          <a:p>
            <a:r>
              <a:rPr lang="en-US"/>
              <a:t>RLS ensures per-company data isolation, and automatic cleanup rules manage old logs.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17</a:t>
            </a:fld>
            <a:endParaRPr lang="fr-FR"/>
          </a:p>
        </p:txBody>
      </p:sp>
    </p:spTree>
    <p:extLst>
      <p:ext uri="{BB962C8B-B14F-4D97-AF65-F5344CB8AC3E}">
        <p14:creationId xmlns:p14="http://schemas.microsoft.com/office/powerpoint/2010/main" val="1413919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"Sequence diagrams model three critical flows.</a:t>
            </a:r>
          </a:p>
          <a:p>
            <a:r>
              <a:rPr lang="fr-FR"/>
              <a:t>Login flow: password reset request → OTP email → verification → password update. </a:t>
            </a:r>
          </a:p>
          <a:p>
            <a:r>
              <a:rPr lang="fr-FR"/>
              <a:t>Leave flow: absence request with database security checks.</a:t>
            </a:r>
          </a:p>
          <a:p>
            <a:r>
              <a:rPr lang="fr-FR"/>
              <a:t>Chat flow: instant message push via WebSocket.</a:t>
            </a:r>
          </a:p>
          <a:p>
            <a:r>
              <a:rPr lang="fr-FR"/>
              <a:t>Each diagram shows the exact step-by-step interaction between screens, controllers, services, and the database."</a:t>
            </a:r>
          </a:p>
        </p:txBody>
      </p:sp>
      <p:sp>
        <p:nvSpPr>
          <p:cNvPr id="4" name="Slide Number Placeholder 3"/>
          <p:cNvSpPr>
            <a:spLocks noGrp="1"/>
          </p:cNvSpPr>
          <p:nvPr>
            <p:ph type="sldNum" sz="quarter" idx="5"/>
          </p:nvPr>
        </p:nvSpPr>
        <p:spPr/>
        <p:txBody>
          <a:bodyPr/>
          <a:lstStyle/>
          <a:p>
            <a:fld id="{1051E809-1079-48EE-A436-54691A31CE2E}" type="slidenum">
              <a:rPr lang="fr-FR" smtClean="0"/>
              <a:t>18</a:t>
            </a:fld>
            <a:endParaRPr lang="fr-FR"/>
          </a:p>
        </p:txBody>
      </p:sp>
    </p:spTree>
    <p:extLst>
      <p:ext uri="{BB962C8B-B14F-4D97-AF65-F5344CB8AC3E}">
        <p14:creationId xmlns:p14="http://schemas.microsoft.com/office/powerpoint/2010/main" val="27609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“Yassine </a:t>
            </a:r>
          </a:p>
          <a:p>
            <a:r>
              <a:rPr lang="en-US"/>
              <a:t>This chapter covers the realization phase-how we built all features across four sprints: authentication, attendance, chat, and warnings."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19</a:t>
            </a:fld>
            <a:endParaRPr lang="fr-FR"/>
          </a:p>
        </p:txBody>
      </p:sp>
    </p:spTree>
    <p:extLst>
      <p:ext uri="{BB962C8B-B14F-4D97-AF65-F5344CB8AC3E}">
        <p14:creationId xmlns:p14="http://schemas.microsoft.com/office/powerpoint/2010/main" val="2097359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sign in , select , and see what matters  </a:t>
            </a:r>
          </a:p>
          <a:p>
            <a:endParaRPr lang="en-US"/>
          </a:p>
          <a:p>
            <a:r>
              <a:rPr lang="en-US"/>
              <a:t>Users authenticate via OTP through </a:t>
            </a:r>
            <a:r>
              <a:rPr lang="en-US" err="1"/>
              <a:t>Supabase</a:t>
            </a:r>
            <a:r>
              <a:rPr lang="en-US"/>
              <a:t> Auth, select their company from a multi-company selector, and access a dashboard showing </a:t>
            </a:r>
            <a:r>
              <a:rPr lang="en-US" err="1"/>
              <a:t>unpointed</a:t>
            </a:r>
            <a:r>
              <a:rPr lang="en-US"/>
              <a:t> staff and reminders. The app supports bilingual FR/EN and Light/Dark themes."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20</a:t>
            </a:fld>
            <a:endParaRPr lang="fr-FR"/>
          </a:p>
        </p:txBody>
      </p:sp>
    </p:spTree>
    <p:extLst>
      <p:ext uri="{BB962C8B-B14F-4D97-AF65-F5344CB8AC3E}">
        <p14:creationId xmlns:p14="http://schemas.microsoft.com/office/powerpoint/2010/main" val="2355178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"Attendance works 100% offline with a color-coded calendar, grid or list view for marking present or absent with notes, and SQLite cache that auto-syncs when back online."</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21</a:t>
            </a:fld>
            <a:endParaRPr lang="fr-FR"/>
          </a:p>
        </p:txBody>
      </p:sp>
    </p:spTree>
    <p:extLst>
      <p:ext uri="{BB962C8B-B14F-4D97-AF65-F5344CB8AC3E}">
        <p14:creationId xmlns:p14="http://schemas.microsoft.com/office/powerpoint/2010/main" val="2883523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Real-time chat with WebSocket instant delivery, </a:t>
            </a:r>
          </a:p>
          <a:p>
            <a:r>
              <a:rPr lang="en-US"/>
              <a:t>document upload for KBIS, VAT, RIB directly to Supabase Storage, </a:t>
            </a:r>
          </a:p>
          <a:p>
            <a:r>
              <a:rPr lang="en-US"/>
              <a:t>and document scanner from camera to cropped PDF attachment."</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22</a:t>
            </a:fld>
            <a:endParaRPr lang="fr-FR"/>
          </a:p>
        </p:txBody>
      </p:sp>
    </p:spTree>
    <p:extLst>
      <p:ext uri="{BB962C8B-B14F-4D97-AF65-F5344CB8AC3E}">
        <p14:creationId xmlns:p14="http://schemas.microsoft.com/office/powerpoint/2010/main" val="249977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employee and every warning, one tap away.</a:t>
            </a:r>
          </a:p>
          <a:p>
            <a:r>
              <a:rPr lang="en-US"/>
              <a:t>The Employee Directory gives full profiles with contract, SSN, and documents in grid or list view.</a:t>
            </a:r>
          </a:p>
          <a:p>
            <a:r>
              <a:rPr lang="en-US"/>
              <a:t>Disciplinary Warnings offer 3 categories with 5 templates each-edit, select recipients, and Gmail opens pre-filled. </a:t>
            </a:r>
          </a:p>
          <a:p>
            <a:r>
              <a:rPr lang="en-US"/>
              <a:t>All managed in one place</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23</a:t>
            </a:fld>
            <a:endParaRPr lang="fr-FR"/>
          </a:p>
        </p:txBody>
      </p:sp>
    </p:spTree>
    <p:extLst>
      <p:ext uri="{BB962C8B-B14F-4D97-AF65-F5344CB8AC3E}">
        <p14:creationId xmlns:p14="http://schemas.microsoft.com/office/powerpoint/2010/main" val="16951905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dashboard. 100+ companies, 500+ employees, 8 active alerts. All critical reminders in one place."</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24</a:t>
            </a:fld>
            <a:endParaRPr lang="fr-FR"/>
          </a:p>
        </p:txBody>
      </p:sp>
    </p:spTree>
    <p:extLst>
      <p:ext uri="{BB962C8B-B14F-4D97-AF65-F5344CB8AC3E}">
        <p14:creationId xmlns:p14="http://schemas.microsoft.com/office/powerpoint/2010/main" val="1176696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hassen </a:t>
            </a:r>
          </a:p>
        </p:txBody>
      </p:sp>
      <p:sp>
        <p:nvSpPr>
          <p:cNvPr id="4" name="Slide Number Placeholder 3"/>
          <p:cNvSpPr>
            <a:spLocks noGrp="1"/>
          </p:cNvSpPr>
          <p:nvPr>
            <p:ph type="sldNum" sz="quarter" idx="5"/>
          </p:nvPr>
        </p:nvSpPr>
        <p:spPr/>
        <p:txBody>
          <a:bodyPr/>
          <a:lstStyle/>
          <a:p>
            <a:fld id="{1051E809-1079-48EE-A436-54691A31CE2E}" type="slidenum">
              <a:rPr lang="fr-FR" smtClean="0"/>
              <a:t>25</a:t>
            </a:fld>
            <a:endParaRPr lang="fr-FR"/>
          </a:p>
        </p:txBody>
      </p:sp>
    </p:spTree>
    <p:extLst>
      <p:ext uri="{BB962C8B-B14F-4D97-AF65-F5344CB8AC3E}">
        <p14:creationId xmlns:p14="http://schemas.microsoft.com/office/powerpoint/2010/main" val="2839520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26</a:t>
            </a:fld>
            <a:endParaRPr lang="fr-FR"/>
          </a:p>
        </p:txBody>
      </p:sp>
    </p:spTree>
    <p:extLst>
      <p:ext uri="{BB962C8B-B14F-4D97-AF65-F5344CB8AC3E}">
        <p14:creationId xmlns:p14="http://schemas.microsoft.com/office/powerpoint/2010/main" val="344229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chapter covers</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27</a:t>
            </a:fld>
            <a:endParaRPr lang="fr-FR"/>
          </a:p>
        </p:txBody>
      </p:sp>
    </p:spTree>
    <p:extLst>
      <p:ext uri="{BB962C8B-B14F-4D97-AF65-F5344CB8AC3E}">
        <p14:creationId xmlns:p14="http://schemas.microsoft.com/office/powerpoint/2010/main" val="2574349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18 out of 18 tests passed: login, RLS, offline sync.</a:t>
            </a:r>
          </a:p>
          <a:p>
            <a:r>
              <a:rPr lang="en-US"/>
              <a:t>Live demo shows mobile and web with offline caching and auto-sync</a:t>
            </a:r>
          </a:p>
        </p:txBody>
      </p:sp>
      <p:sp>
        <p:nvSpPr>
          <p:cNvPr id="4" name="Slide Number Placeholder 3"/>
          <p:cNvSpPr>
            <a:spLocks noGrp="1"/>
          </p:cNvSpPr>
          <p:nvPr>
            <p:ph type="sldNum" sz="quarter" idx="5"/>
          </p:nvPr>
        </p:nvSpPr>
        <p:spPr/>
        <p:txBody>
          <a:bodyPr/>
          <a:lstStyle/>
          <a:p>
            <a:fld id="{1051E809-1079-48EE-A436-54691A31CE2E}" type="slidenum">
              <a:rPr lang="fr-FR" smtClean="0"/>
              <a:t>28</a:t>
            </a:fld>
            <a:endParaRPr lang="fr-FR"/>
          </a:p>
        </p:txBody>
      </p:sp>
    </p:spTree>
    <p:extLst>
      <p:ext uri="{BB962C8B-B14F-4D97-AF65-F5344CB8AC3E}">
        <p14:creationId xmlns:p14="http://schemas.microsoft.com/office/powerpoint/2010/main" val="36979367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We delivered mobile and web platforms with </a:t>
            </a:r>
            <a:r>
              <a:rPr lang="en-US" err="1"/>
              <a:t>realtime</a:t>
            </a:r>
            <a:r>
              <a:rPr lang="en-US"/>
              <a:t> backend and data isolation; next steps: automated emails, PDF </a:t>
            </a:r>
            <a:r>
              <a:rPr lang="en-US" err="1"/>
              <a:t>payslips</a:t>
            </a:r>
            <a:r>
              <a:rPr lang="en-US"/>
              <a:t>, and document OCR</a:t>
            </a:r>
            <a:endParaRPr lang="fr-FR"/>
          </a:p>
        </p:txBody>
      </p:sp>
      <p:sp>
        <p:nvSpPr>
          <p:cNvPr id="4" name="Slide Number Placeholder 3"/>
          <p:cNvSpPr>
            <a:spLocks noGrp="1"/>
          </p:cNvSpPr>
          <p:nvPr>
            <p:ph type="sldNum" sz="quarter" idx="5"/>
          </p:nvPr>
        </p:nvSpPr>
        <p:spPr/>
        <p:txBody>
          <a:bodyPr/>
          <a:lstStyle/>
          <a:p>
            <a:fld id="{1051E809-1079-48EE-A436-54691A31CE2E}" type="slidenum">
              <a:rPr lang="fr-FR" smtClean="0"/>
              <a:t>29</a:t>
            </a:fld>
            <a:endParaRPr lang="fr-FR"/>
          </a:p>
        </p:txBody>
      </p:sp>
    </p:spTree>
    <p:extLst>
      <p:ext uri="{BB962C8B-B14F-4D97-AF65-F5344CB8AC3E}">
        <p14:creationId xmlns:p14="http://schemas.microsoft.com/office/powerpoint/2010/main" val="4267473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UniLogo" Type="http://schemas.openxmlformats.org/package/2006/relationships/image" Target="../media/uni_logo.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A"/>
        </a:solidFill>
        <a:effectLst/>
      </p:bgPr>
    </p:bg>
    <p:spTree>
      <p:nvGrpSpPr>
        <p:cNvPr id="1" name=""/>
        <p:cNvGrpSpPr/>
        <p:nvPr/>
      </p:nvGrpSpPr>
      <p:grpSpPr>
        <a:xfrm>
          <a:off x="0" y="0"/>
          <a:ext cx="0" cy="0"/>
          <a:chOff x="0" y="0"/>
          <a:chExt cx="0" cy="0"/>
        </a:xfrm>
      </p:grpSpPr>
      <p:sp>
        <p:nvSpPr>
          <p:cNvPr id="2" name="GRAD::purplePink::blob::0"/>
          <p:cNvSpPr/>
          <p:nvPr/>
        </p:nvSpPr>
        <p:spPr>
          <a:xfrm>
            <a:off x="-2011680" y="-2103120"/>
            <a:ext cx="6400800" cy="6400800"/>
          </a:xfrm>
          <a:prstGeom prst="ellipse">
            <a:avLst/>
          </a:prstGeom>
          <a:gradFill rotWithShape="1">
            <a:gsLst>
              <a:gs pos="0">
                <a:srgbClr val="A855F7">
                  <a:alpha val="50000"/>
                </a:srgbClr>
              </a:gs>
              <a:gs pos="55000">
                <a:srgbClr val="EC4899">
                  <a:alpha val="22000"/>
                </a:srgbClr>
              </a:gs>
              <a:gs pos="100000">
                <a:srgbClr val="EC4899">
                  <a:alpha val="0"/>
                </a:srgbClr>
              </a:gs>
            </a:gsLst>
            <a:path path="circle">
              <a:fillToRect l="50000" t="50000" r="50000" b="50000"/>
            </a:path>
          </a:gradFill>
          <a:ln/>
          <a:effectLst>
            <a:softEdge rad="380000"/>
          </a:effectLst>
        </p:spPr>
        <p:txBody>
          <a:bodyPr/>
          <a:lstStyle/>
          <a:p>
            <a:endParaRPr lang="fr-FR"/>
          </a:p>
        </p:txBody>
      </p:sp>
      <p:sp>
        <p:nvSpPr>
          <p:cNvPr id="3" name="GRAD::cyanEmerald::blob::1"/>
          <p:cNvSpPr/>
          <p:nvPr/>
        </p:nvSpPr>
        <p:spPr>
          <a:xfrm>
            <a:off x="5669280" y="2377440"/>
            <a:ext cx="5943600" cy="5943600"/>
          </a:xfrm>
          <a:prstGeom prst="ellipse">
            <a:avLst/>
          </a:prstGeom>
          <a:gradFill rotWithShape="1">
            <a:gsLst>
              <a:gs pos="0">
                <a:srgbClr val="22D3EE">
                  <a:alpha val="50000"/>
                </a:srgbClr>
              </a:gs>
              <a:gs pos="55000">
                <a:srgbClr val="10B981">
                  <a:alpha val="22000"/>
                </a:srgbClr>
              </a:gs>
              <a:gs pos="100000">
                <a:srgbClr val="10B981">
                  <a:alpha val="0"/>
                </a:srgbClr>
              </a:gs>
            </a:gsLst>
            <a:path path="circle">
              <a:fillToRect l="50000" t="50000" r="50000" b="50000"/>
            </a:path>
          </a:gradFill>
          <a:ln/>
          <a:effectLst>
            <a:softEdge rad="380000"/>
          </a:effectLst>
        </p:spPr>
        <p:txBody>
          <a:bodyPr/>
          <a:lstStyle/>
          <a:p>
            <a:endParaRPr lang="fr-FR"/>
          </a:p>
        </p:txBody>
      </p:sp>
      <p:sp>
        <p:nvSpPr>
          <p:cNvPr id="4" name="GRAD::blueViolet::blob::2"/>
          <p:cNvSpPr/>
          <p:nvPr/>
        </p:nvSpPr>
        <p:spPr>
          <a:xfrm>
            <a:off x="1644041" y="3169398"/>
            <a:ext cx="4572000" cy="4572000"/>
          </a:xfrm>
          <a:prstGeom prst="ellipse">
            <a:avLst/>
          </a:prstGeom>
          <a:gradFill rotWithShape="1">
            <a:gsLst>
              <a:gs pos="0">
                <a:srgbClr val="4F7CFF">
                  <a:alpha val="50000"/>
                </a:srgbClr>
              </a:gs>
              <a:gs pos="55000">
                <a:srgbClr val="8B5CF6">
                  <a:alpha val="22000"/>
                </a:srgbClr>
              </a:gs>
              <a:gs pos="100000">
                <a:srgbClr val="8B5CF6">
                  <a:alpha val="0"/>
                </a:srgbClr>
              </a:gs>
            </a:gsLst>
            <a:path path="circle">
              <a:fillToRect l="50000" t="50000" r="50000" b="50000"/>
            </a:path>
          </a:gradFill>
          <a:ln/>
          <a:effectLst>
            <a:softEdge rad="380000"/>
          </a:effectLst>
        </p:spPr>
        <p:txBody>
          <a:bodyPr/>
          <a:lstStyle/>
          <a:p>
            <a:endParaRPr lang="fr-FR"/>
          </a:p>
        </p:txBody>
      </p:sp>
      <p:sp>
        <p:nvSpPr>
          <p:cNvPr id="5" name="Shape 3"/>
          <p:cNvSpPr/>
          <p:nvPr/>
        </p:nvSpPr>
        <p:spPr>
          <a:xfrm>
            <a:off x="548640" y="457200"/>
            <a:ext cx="3383280" cy="384048"/>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6" name="Text 4"/>
          <p:cNvSpPr/>
          <p:nvPr/>
        </p:nvSpPr>
        <p:spPr>
          <a:xfrm>
            <a:off x="548640" y="457200"/>
            <a:ext cx="3383280" cy="384048"/>
          </a:xfrm>
          <a:prstGeom prst="rect">
            <a:avLst/>
          </a:prstGeom>
          <a:noFill/>
          <a:ln/>
        </p:spPr>
        <p:txBody>
          <a:bodyPr wrap="square" lIns="0" tIns="0" rIns="0" bIns="0" rtlCol="0" anchor="ctr"/>
          <a:lstStyle/>
          <a:p>
            <a:pPr marL="0" indent="0" algn="ctr">
              <a:buNone/>
            </a:pPr>
            <a:r>
              <a:rPr lang="en-US" sz="1000" b="1" kern="0" spc="100">
                <a:solidFill>
                  <a:srgbClr val="FFFFFF"/>
                </a:solidFill>
                <a:latin typeface="Inter" pitchFamily="34" charset="0"/>
                <a:ea typeface="Inter" pitchFamily="34" charset="-122"/>
                <a:cs typeface="Inter" pitchFamily="34" charset="-120"/>
              </a:rPr>
              <a:t>FINAL YEAR DEFENSE  ·  2025/2026</a:t>
            </a:r>
            <a:endParaRPr lang="en-US" sz="1000"/>
          </a:p>
        </p:txBody>
      </p:sp>
      <p:sp>
        <p:nvSpPr>
          <p:cNvPr id="7" name="ANIM::150::title3"/>
          <p:cNvSpPr/>
          <p:nvPr/>
        </p:nvSpPr>
        <p:spPr>
          <a:xfrm>
            <a:off x="502920" y="1051560"/>
            <a:ext cx="6400800" cy="1554480"/>
          </a:xfrm>
          <a:prstGeom prst="rect">
            <a:avLst/>
          </a:prstGeom>
          <a:noFill/>
          <a:ln/>
        </p:spPr>
        <p:txBody>
          <a:bodyPr wrap="square" lIns="0" tIns="0" rIns="0" bIns="0" rtlCol="0" anchor="t"/>
          <a:lstStyle/>
          <a:p>
            <a:pPr marL="0" indent="0" algn="l">
              <a:buNone/>
            </a:pPr>
            <a:r>
              <a:rPr lang="en-US" sz="8600" b="1">
                <a:solidFill>
                  <a:srgbClr val="FFFFFF"/>
                </a:solidFill>
                <a:latin typeface="Sora" pitchFamily="34" charset="0"/>
                <a:ea typeface="Sora" pitchFamily="34" charset="-122"/>
                <a:cs typeface="Sora" pitchFamily="34" charset="-120"/>
              </a:rPr>
              <a:t>HMI</a:t>
            </a:r>
            <a:r>
              <a:rPr lang="en-US" sz="8600" b="1">
                <a:solidFill>
                  <a:srgbClr val="22D3EE"/>
                </a:solidFill>
                <a:latin typeface="Sora" pitchFamily="34" charset="0"/>
                <a:ea typeface="Sora" pitchFamily="34" charset="-122"/>
                <a:cs typeface="Sora" pitchFamily="34" charset="-120"/>
              </a:rPr>
              <a:t> Stars</a:t>
            </a:r>
            <a:endParaRPr lang="en-US" sz="8600"/>
          </a:p>
        </p:txBody>
      </p:sp>
      <p:sp>
        <p:nvSpPr>
          <p:cNvPr id="8" name="ANIM::420::subtitle4"/>
          <p:cNvSpPr/>
          <p:nvPr/>
        </p:nvSpPr>
        <p:spPr>
          <a:xfrm>
            <a:off x="530351" y="2542032"/>
            <a:ext cx="7285889" cy="457200"/>
          </a:xfrm>
          <a:prstGeom prst="rect">
            <a:avLst/>
          </a:prstGeom>
          <a:noFill/>
          <a:ln/>
        </p:spPr>
        <p:txBody>
          <a:bodyPr wrap="square" lIns="0" tIns="0" rIns="0" bIns="0" rtlCol="0" anchor="ctr"/>
          <a:lstStyle/>
          <a:p>
            <a:pPr marL="0" indent="0" algn="l">
              <a:buNone/>
            </a:pPr>
            <a:r>
              <a:rPr lang="en-US" sz="1600">
                <a:solidFill>
                  <a:srgbClr val="C7CCDA"/>
                </a:solidFill>
                <a:latin typeface="Inter" pitchFamily="34" charset="0"/>
                <a:ea typeface="Inter" pitchFamily="34" charset="-122"/>
                <a:cs typeface="Inter" pitchFamily="34" charset="-120"/>
              </a:rPr>
              <a:t>A real-time web &amp; mobile ecosystem for expert accounting consulting</a:t>
            </a:r>
            <a:endParaRPr lang="en-US" sz="1600"/>
          </a:p>
        </p:txBody>
      </p:sp>
      <p:sp>
        <p:nvSpPr>
          <p:cNvPr id="9" name="ANIM::700::card5"/>
          <p:cNvSpPr/>
          <p:nvPr/>
        </p:nvSpPr>
        <p:spPr>
          <a:xfrm>
            <a:off x="502920" y="3337560"/>
            <a:ext cx="3931920" cy="1234440"/>
          </a:xfrm>
          <a:prstGeom prst="roundRect">
            <a:avLst>
              <a:gd name="adj" fmla="val 1185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0" name="Text 8"/>
          <p:cNvSpPr/>
          <p:nvPr/>
        </p:nvSpPr>
        <p:spPr>
          <a:xfrm>
            <a:off x="731520" y="3520440"/>
            <a:ext cx="3474720" cy="228600"/>
          </a:xfrm>
          <a:prstGeom prst="rect">
            <a:avLst/>
          </a:prstGeom>
          <a:noFill/>
          <a:ln/>
        </p:spPr>
        <p:txBody>
          <a:bodyPr wrap="square" lIns="0" tIns="0" rIns="0" bIns="0" rtlCol="0" anchor="ctr"/>
          <a:lstStyle/>
          <a:p>
            <a:pPr marL="0" indent="0" algn="l">
              <a:buNone/>
            </a:pPr>
            <a:r>
              <a:rPr lang="en-US" sz="900" kern="0" spc="150">
                <a:solidFill>
                  <a:srgbClr val="8890A6"/>
                </a:solidFill>
                <a:latin typeface="Inter" pitchFamily="34" charset="0"/>
                <a:ea typeface="Inter" pitchFamily="34" charset="-122"/>
                <a:cs typeface="Inter" pitchFamily="34" charset="-120"/>
              </a:rPr>
              <a:t>PRESENTED BY</a:t>
            </a:r>
            <a:endParaRPr lang="en-US" sz="900"/>
          </a:p>
        </p:txBody>
      </p:sp>
      <p:sp>
        <p:nvSpPr>
          <p:cNvPr id="11" name="Text 9"/>
          <p:cNvSpPr/>
          <p:nvPr/>
        </p:nvSpPr>
        <p:spPr>
          <a:xfrm>
            <a:off x="731520" y="3749040"/>
            <a:ext cx="3474720" cy="292608"/>
          </a:xfrm>
          <a:prstGeom prst="rect">
            <a:avLst/>
          </a:prstGeom>
          <a:noFill/>
          <a:ln/>
        </p:spPr>
        <p:txBody>
          <a:bodyPr wrap="square" lIns="0" tIns="0" rIns="0" bIns="0" rtlCol="0" anchor="ctr"/>
          <a:lstStyle/>
          <a:p>
            <a:pPr marL="0" indent="0" algn="l">
              <a:buNone/>
            </a:pPr>
            <a:r>
              <a:rPr lang="en-US" sz="1500" b="1">
                <a:solidFill>
                  <a:srgbClr val="FFFFFF"/>
                </a:solidFill>
                <a:latin typeface="Sora" pitchFamily="34" charset="0"/>
                <a:ea typeface="Sora" pitchFamily="34" charset="-122"/>
                <a:cs typeface="Sora" pitchFamily="34" charset="-120"/>
              </a:rPr>
              <a:t>Hassen ABDELLI</a:t>
            </a:r>
            <a:endParaRPr lang="en-US" sz="1500"/>
          </a:p>
        </p:txBody>
      </p:sp>
      <p:sp>
        <p:nvSpPr>
          <p:cNvPr id="12" name="Text 10"/>
          <p:cNvSpPr/>
          <p:nvPr/>
        </p:nvSpPr>
        <p:spPr>
          <a:xfrm>
            <a:off x="731520" y="4041648"/>
            <a:ext cx="3474720" cy="292608"/>
          </a:xfrm>
          <a:prstGeom prst="rect">
            <a:avLst/>
          </a:prstGeom>
          <a:noFill/>
          <a:ln/>
        </p:spPr>
        <p:txBody>
          <a:bodyPr wrap="square" lIns="0" tIns="0" rIns="0" bIns="0" rtlCol="0" anchor="ctr"/>
          <a:lstStyle/>
          <a:p>
            <a:pPr marL="0" indent="0" algn="l">
              <a:buNone/>
            </a:pPr>
            <a:r>
              <a:rPr lang="en-US" sz="1500" b="1">
                <a:solidFill>
                  <a:srgbClr val="FFFFFF"/>
                </a:solidFill>
                <a:latin typeface="Sora" pitchFamily="34" charset="0"/>
                <a:ea typeface="Sora" pitchFamily="34" charset="-122"/>
                <a:cs typeface="Sora" pitchFamily="34" charset="-120"/>
              </a:rPr>
              <a:t>Yassine ELHADJ</a:t>
            </a:r>
            <a:endParaRPr lang="en-US" sz="1500"/>
          </a:p>
        </p:txBody>
      </p:sp>
      <p:sp>
        <p:nvSpPr>
          <p:cNvPr id="13" name="Shape 11"/>
          <p:cNvSpPr/>
          <p:nvPr/>
        </p:nvSpPr>
        <p:spPr>
          <a:xfrm>
            <a:off x="4754880" y="3337560"/>
            <a:ext cx="3886200" cy="1234440"/>
          </a:xfrm>
          <a:prstGeom prst="roundRect">
            <a:avLst>
              <a:gd name="adj" fmla="val 11852"/>
            </a:avLst>
          </a:prstGeom>
          <a:solidFill>
            <a:srgbClr val="FFFFFF">
              <a:alpha val="6000"/>
            </a:srgbClr>
          </a:solidFill>
          <a:ln w="9525">
            <a:solidFill>
              <a:srgbClr val="FFFFFF">
                <a:alpha val="32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6" name="Text 13"/>
          <p:cNvSpPr/>
          <p:nvPr/>
        </p:nvSpPr>
        <p:spPr>
          <a:xfrm>
            <a:off x="502920" y="4739348"/>
            <a:ext cx="8229600" cy="228600"/>
          </a:xfrm>
          <a:prstGeom prst="rect">
            <a:avLst/>
          </a:prstGeom>
          <a:noFill/>
          <a:ln/>
        </p:spPr>
        <p:txBody>
          <a:bodyPr wrap="square" lIns="0" tIns="0" rIns="0" bIns="0" rtlCol="0" anchor="ctr"/>
          <a:lstStyle/>
          <a:p>
            <a:r>
              <a:rPr lang="en-US" sz="850" i="1">
                <a:solidFill>
                  <a:srgbClr val="8890A6"/>
                </a:solidFill>
                <a:latin typeface="Inter"/>
                <a:ea typeface="Inter"/>
                <a:cs typeface="Inter" pitchFamily="34" charset="-120"/>
              </a:rPr>
              <a:t>Jury — Dr. DHAHRI (President) · Dr. CHAKROUN (Reviewer) · Dr. CHAABOUNI (Supervisor)</a:t>
            </a:r>
            <a:endParaRPr lang="en-US" sz="850" i="1">
              <a:solidFill>
                <a:srgbClr val="8890A6"/>
              </a:solidFill>
              <a:latin typeface="Inter"/>
              <a:ea typeface="Inter"/>
              <a:cs typeface="Calibri" panose="020F0502020204030204"/>
            </a:endParaRPr>
          </a:p>
        </p:txBody>
      </p:sp>
      <p:sp>
        <p:nvSpPr>
          <p:cNvPr id="15" name="Text 12"/>
          <p:cNvSpPr/>
          <p:nvPr/>
        </p:nvSpPr>
        <p:spPr>
          <a:xfrm>
            <a:off x="4983480" y="3520440"/>
            <a:ext cx="3474720" cy="228600"/>
          </a:xfrm>
          <a:prstGeom prst="rect">
            <a:avLst/>
          </a:prstGeom>
        </p:spPr>
        <p:txBody>
          <a:bodyPr wrap="square" lIns="0" tIns="0" rIns="0" bIns="0" rtlCol="0" anchor="ctr"/>
          <a:lstStyle/>
          <a:p>
            <a:pPr marL="0" indent="0" algn="l">
              <a:buNone/>
            </a:pPr>
            <a:r>
              <a:rPr lang="en-US" sz="900" kern="0" spc="150">
                <a:solidFill>
                  <a:srgbClr val="8890A6"/>
                </a:solidFill>
                <a:latin typeface="Inter" pitchFamily="34" charset="0"/>
                <a:ea typeface="Inter" pitchFamily="34" charset="-122"/>
                <a:cs typeface="Inter" pitchFamily="34" charset="-120"/>
              </a:rPr>
              <a:t>SUPERVISED BY</a:t>
            </a:r>
            <a:endParaRPr lang="en-US" sz="900"/>
          </a:p>
        </p:txBody>
      </p:sp>
      <p:sp>
        <p:nvSpPr>
          <p:cNvPr id="1501" name="Text 12b"/>
          <p:cNvSpPr/>
          <p:nvPr/>
        </p:nvSpPr>
        <p:spPr>
          <a:xfrm>
            <a:off x="4983480" y="3749040"/>
            <a:ext cx="3474720" cy="292608"/>
          </a:xfrm>
          <a:prstGeom prst="rect">
            <a:avLst/>
          </a:prstGeom>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Dr. Aymen CHAABOUNI (Academic)</a:t>
            </a:r>
            <a:endParaRPr lang="en-US" sz="1300"/>
          </a:p>
        </p:txBody>
      </p:sp>
      <p:sp>
        <p:nvSpPr>
          <p:cNvPr id="1502" name="Text 12c"/>
          <p:cNvSpPr/>
          <p:nvPr/>
        </p:nvSpPr>
        <p:spPr>
          <a:xfrm>
            <a:off x="4983480" y="4041648"/>
            <a:ext cx="3474720" cy="292608"/>
          </a:xfrm>
          <a:prstGeom prst="rect">
            <a:avLst/>
          </a:prstGeom>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Mr. Salem AKLI (Enterprise)</a:t>
            </a:r>
            <a:endParaRPr lang="en-US" sz="1300"/>
          </a:p>
        </p:txBody>
      </p:sp>
      <p:pic>
        <p:nvPicPr>
          <p:cNvPr id="91" name="University Logo"/>
          <p:cNvPicPr>
            <a:picLocks noChangeAspect="1"/>
          </p:cNvPicPr>
          <p:nvPr/>
        </p:nvPicPr>
        <p:blipFill>
          <a:blip r:embed="rId3"/>
          <a:stretch>
            <a:fillRect/>
          </a:stretch>
        </p:blipFill>
        <p:spPr>
          <a:xfrm>
            <a:off x="7816241" y="289873"/>
            <a:ext cx="914400" cy="914400"/>
          </a:xfrm>
          <a:prstGeom prst="rect">
            <a:avLst/>
          </a:prstGeom>
        </p:spPr>
      </p:pic>
      <p:sp>
        <p:nvSpPr>
          <p:cNvPr id="92" name="University Name"/>
          <p:cNvSpPr/>
          <p:nvPr/>
        </p:nvSpPr>
        <p:spPr>
          <a:xfrm>
            <a:off x="7519381" y="1020699"/>
            <a:ext cx="1499501" cy="914400"/>
          </a:xfrm>
          <a:prstGeom prst="rect">
            <a:avLst/>
          </a:prstGeom>
        </p:spPr>
        <p:txBody>
          <a:bodyPr wrap="square" lIns="0" tIns="0" rIns="0" bIns="0" rtlCol="0" anchor="ctr"/>
          <a:lstStyle/>
          <a:p>
            <a:pPr algn="ctr">
              <a:buNone/>
            </a:pPr>
            <a:r>
              <a:rPr lang="en-US" sz="950" b="1">
                <a:solidFill>
                  <a:srgbClr val="00D2C4"/>
                </a:solidFill>
                <a:latin typeface="Sora"/>
                <a:ea typeface="Sora"/>
                <a:cs typeface="Sora"/>
              </a:rPr>
              <a:t>University of Kairouan</a:t>
            </a:r>
          </a:p>
          <a:p>
            <a:pPr algn="ctr">
              <a:buNone/>
            </a:pPr>
            <a:r>
              <a:rPr lang="en-US" sz="850">
                <a:solidFill>
                  <a:srgbClr val="C7CCDA"/>
                </a:solidFill>
                <a:latin typeface="Inter"/>
                <a:ea typeface="Inter"/>
                <a:cs typeface="Inter"/>
              </a:rPr>
              <a:t>Faculty of Sciences &amp; Techniques of Sidi Bouzid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500" fill="hold"/>
                                        <p:tgtEl>
                                          <p:spTgt spid="4"/>
                                        </p:tgtEl>
                                        <p:attrNameLst>
                                          <p:attrName>ppt_x</p:attrName>
                                        </p:attrNameLst>
                                      </p:cBhvr>
                                      <p:tavLst>
                                        <p:tav tm="0">
                                          <p:val>
                                            <p:strVal val="#ppt_x"/>
                                          </p:val>
                                        </p:tav>
                                        <p:tav tm="100000">
                                          <p:val>
                                            <p:strVal val="#ppt_x"/>
                                          </p:val>
                                        </p:tav>
                                      </p:tavLst>
                                    </p:anim>
                                    <p:anim calcmode="lin" valueType="num">
                                      <p:cBhvr additive="base">
                                        <p:cTn id="16" dur="1500" fill="hold"/>
                                        <p:tgtEl>
                                          <p:spTgt spid="4"/>
                                        </p:tgtEl>
                                        <p:attrNameLst>
                                          <p:attrName>ppt_y</p:attrName>
                                        </p:attrNameLst>
                                      </p:cBhvr>
                                      <p:tavLst>
                                        <p:tav tm="0">
                                          <p:val>
                                            <p:strVal val="0-#ppt_h/2"/>
                                          </p:val>
                                        </p:tav>
                                        <p:tav tm="100000">
                                          <p:val>
                                            <p:strVal val="#ppt_y"/>
                                          </p:val>
                                        </p:tav>
                                      </p:tavLst>
                                    </p:anim>
                                  </p:childTnLst>
                                </p:cTn>
                              </p:par>
                              <p:par>
                                <p:cTn id="17" presetID="53" presetClass="entr" presetSubtype="16" fill="hold" grpId="1"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par>
                                <p:cTn id="22" presetID="53" presetClass="entr" presetSubtype="16" fill="hold" grpId="1"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par>
                                <p:cTn id="27" presetID="10" presetClass="entr" presetSubtype="0" fill="hold" grpId="1"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1500"/>
                                        <p:tgtEl>
                                          <p:spTgt spid="10"/>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up)">
                                      <p:cBhvr>
                                        <p:cTn id="38" dur="1500"/>
                                        <p:tgtEl>
                                          <p:spTgt spid="15"/>
                                        </p:tgtEl>
                                      </p:cBhvr>
                                    </p:animEffect>
                                  </p:childTnLst>
                                </p:cTn>
                              </p:par>
                            </p:childTnLst>
                          </p:cTn>
                        </p:par>
                        <p:par>
                          <p:cTn id="39" fill="hold">
                            <p:stCondLst>
                              <p:cond delay="1500"/>
                            </p:stCondLst>
                            <p:childTnLst>
                              <p:par>
                                <p:cTn id="40" presetID="22" presetClass="entr" presetSubtype="1"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up)">
                                      <p:cBhvr>
                                        <p:cTn id="42" dur="1000"/>
                                        <p:tgtEl>
                                          <p:spTgt spid="11"/>
                                        </p:tgtEl>
                                      </p:cBhvr>
                                    </p:animEffect>
                                  </p:childTnLst>
                                </p:cTn>
                              </p:par>
                            </p:childTnLst>
                          </p:cTn>
                        </p:par>
                        <p:par>
                          <p:cTn id="43" fill="hold">
                            <p:stCondLst>
                              <p:cond delay="2500"/>
                            </p:stCondLst>
                            <p:childTnLst>
                              <p:par>
                                <p:cTn id="44" presetID="22" presetClass="entr" presetSubtype="1"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up)">
                                      <p:cBhvr>
                                        <p:cTn id="46" dur="1000"/>
                                        <p:tgtEl>
                                          <p:spTgt spid="12"/>
                                        </p:tgtEl>
                                      </p:cBhvr>
                                    </p:animEffect>
                                  </p:childTnLst>
                                </p:cTn>
                              </p:par>
                            </p:childTnLst>
                          </p:cTn>
                        </p:par>
                        <p:par>
                          <p:cTn id="47" fill="hold">
                            <p:stCondLst>
                              <p:cond delay="3500"/>
                            </p:stCondLst>
                            <p:childTnLst>
                              <p:par>
                                <p:cTn id="48" presetID="22" presetClass="entr" presetSubtype="1" fill="hold" grpId="0" nodeType="afterEffect">
                                  <p:stCondLst>
                                    <p:cond delay="0"/>
                                  </p:stCondLst>
                                  <p:childTnLst>
                                    <p:set>
                                      <p:cBhvr>
                                        <p:cTn id="49" dur="1" fill="hold">
                                          <p:stCondLst>
                                            <p:cond delay="0"/>
                                          </p:stCondLst>
                                        </p:cTn>
                                        <p:tgtEl>
                                          <p:spTgt spid="1501"/>
                                        </p:tgtEl>
                                        <p:attrNameLst>
                                          <p:attrName>style.visibility</p:attrName>
                                        </p:attrNameLst>
                                      </p:cBhvr>
                                      <p:to>
                                        <p:strVal val="visible"/>
                                      </p:to>
                                    </p:set>
                                    <p:animEffect transition="in" filter="wipe(up)">
                                      <p:cBhvr>
                                        <p:cTn id="50" dur="1000"/>
                                        <p:tgtEl>
                                          <p:spTgt spid="1501"/>
                                        </p:tgtEl>
                                      </p:cBhvr>
                                    </p:animEffect>
                                  </p:childTnLst>
                                </p:cTn>
                              </p:par>
                            </p:childTnLst>
                          </p:cTn>
                        </p:par>
                        <p:par>
                          <p:cTn id="51" fill="hold">
                            <p:stCondLst>
                              <p:cond delay="4500"/>
                            </p:stCondLst>
                            <p:childTnLst>
                              <p:par>
                                <p:cTn id="52" presetID="22" presetClass="entr" presetSubtype="1" fill="hold" grpId="0" nodeType="afterEffect">
                                  <p:stCondLst>
                                    <p:cond delay="0"/>
                                  </p:stCondLst>
                                  <p:childTnLst>
                                    <p:set>
                                      <p:cBhvr>
                                        <p:cTn id="53" dur="1" fill="hold">
                                          <p:stCondLst>
                                            <p:cond delay="0"/>
                                          </p:stCondLst>
                                        </p:cTn>
                                        <p:tgtEl>
                                          <p:spTgt spid="1502"/>
                                        </p:tgtEl>
                                        <p:attrNameLst>
                                          <p:attrName>style.visibility</p:attrName>
                                        </p:attrNameLst>
                                      </p:cBhvr>
                                      <p:to>
                                        <p:strVal val="visible"/>
                                      </p:to>
                                    </p:set>
                                    <p:animEffect transition="in" filter="wipe(up)">
                                      <p:cBhvr>
                                        <p:cTn id="54" dur="1000"/>
                                        <p:tgtEl>
                                          <p:spTgt spid="1502"/>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4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p:bldP spid="7" grpId="1" animBg="1"/>
      <p:bldP spid="8" grpId="0"/>
      <p:bldP spid="8" grpId="1" animBg="1"/>
      <p:bldP spid="9" grpId="0"/>
      <p:bldP spid="9" grpId="1" animBg="1"/>
      <p:bldP spid="10" grpId="0" animBg="1"/>
      <p:bldP spid="11" grpId="0" animBg="1"/>
      <p:bldP spid="12" grpId="0" animBg="1"/>
      <p:bldP spid="13" grpId="0" animBg="1"/>
      <p:bldP spid="16" grpId="0" animBg="1"/>
      <p:bldP spid="15" grpId="0"/>
      <p:bldP spid="1501" grpId="0"/>
      <p:bldP spid="1502"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A"/>
        </a:solidFill>
        <a:effectLst/>
      </p:bgPr>
    </p:bg>
    <p:spTree>
      <p:nvGrpSpPr>
        <p:cNvPr id="1" name=""/>
        <p:cNvGrpSpPr/>
        <p:nvPr/>
      </p:nvGrpSpPr>
      <p:grpSpPr>
        <a:xfrm>
          <a:off x="0" y="0"/>
          <a:ext cx="0" cy="0"/>
          <a:chOff x="0" y="0"/>
          <a:chExt cx="0" cy="0"/>
        </a:xfrm>
      </p:grpSpPr>
      <p:sp>
        <p:nvSpPr>
          <p:cNvPr id="2" name="GRAD::blueViolet2::blob::6"/>
          <p:cNvSpPr/>
          <p:nvPr/>
        </p:nvSpPr>
        <p:spPr>
          <a:xfrm>
            <a:off x="6748952" y="-1805940"/>
            <a:ext cx="4572000" cy="4572000"/>
          </a:xfrm>
          <a:prstGeom prst="ellipse">
            <a:avLst/>
          </a:prstGeom>
          <a:gradFill rotWithShape="1">
            <a:gsLst>
              <a:gs pos="0">
                <a:srgbClr val="4F7CFF">
                  <a:alpha val="46000"/>
                </a:srgbClr>
              </a:gs>
              <a:gs pos="55000">
                <a:srgbClr val="8B5CF6">
                  <a:alpha val="19000"/>
                </a:srgbClr>
              </a:gs>
              <a:gs pos="100000">
                <a:srgbClr val="8B5CF6">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83820" y="429133"/>
            <a:ext cx="7315200" cy="594360"/>
          </a:xfrm>
          <a:prstGeom prst="rect">
            <a:avLst/>
          </a:prstGeom>
          <a:noFill/>
          <a:ln/>
        </p:spPr>
        <p:txBody>
          <a:bodyPr wrap="square" lIns="0" tIns="0" rIns="0" bIns="0" rtlCol="0" anchor="ctr"/>
          <a:lstStyle/>
          <a:p>
            <a:pPr marL="0" indent="0" algn="l">
              <a:buNone/>
            </a:pPr>
            <a:r>
              <a:rPr lang="en-US" sz="3000" b="1">
                <a:solidFill>
                  <a:srgbClr val="FFFFFF"/>
                </a:solidFill>
                <a:latin typeface="Sora" pitchFamily="34" charset="0"/>
                <a:ea typeface="Sora" pitchFamily="34" charset="-122"/>
                <a:cs typeface="Sora" pitchFamily="34" charset="-120"/>
              </a:rPr>
              <a:t>Where we're headed</a:t>
            </a:r>
            <a:endParaRPr lang="en-US" sz="3000"/>
          </a:p>
        </p:txBody>
      </p:sp>
      <p:sp>
        <p:nvSpPr>
          <p:cNvPr id="5" name="ANIM::0::card0"/>
          <p:cNvSpPr/>
          <p:nvPr/>
        </p:nvSpPr>
        <p:spPr>
          <a:xfrm>
            <a:off x="919961" y="1417320"/>
            <a:ext cx="1034578" cy="3337560"/>
          </a:xfrm>
          <a:prstGeom prst="roundRect">
            <a:avLst>
              <a:gd name="adj" fmla="val 14141"/>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6" name="Shape_0"/>
          <p:cNvSpPr/>
          <p:nvPr/>
        </p:nvSpPr>
        <p:spPr>
          <a:xfrm>
            <a:off x="1236082" y="2159899"/>
            <a:ext cx="402336" cy="402336"/>
          </a:xfrm>
          <a:prstGeom prst="ellipse">
            <a:avLst/>
          </a:prstGeom>
          <a:solidFill>
            <a:srgbClr val="FF6B6B"/>
          </a:solidFill>
          <a:ln/>
        </p:spPr>
        <p:txBody>
          <a:bodyPr/>
          <a:lstStyle/>
          <a:p>
            <a:endParaRPr lang="fr-FR"/>
          </a:p>
        </p:txBody>
      </p:sp>
      <p:sp>
        <p:nvSpPr>
          <p:cNvPr id="7" name="Text_0_num"/>
          <p:cNvSpPr/>
          <p:nvPr/>
        </p:nvSpPr>
        <p:spPr>
          <a:xfrm>
            <a:off x="1236082" y="2167622"/>
            <a:ext cx="402336" cy="402336"/>
          </a:xfrm>
          <a:prstGeom prst="rect">
            <a:avLst/>
          </a:prstGeom>
          <a:noFill/>
          <a:ln/>
        </p:spPr>
        <p:txBody>
          <a:bodyPr wrap="square" lIns="0" tIns="0" rIns="0" bIns="0" rtlCol="0" anchor="ctr"/>
          <a:lstStyle/>
          <a:p>
            <a:pPr marL="0" indent="0" algn="ctr">
              <a:buNone/>
            </a:pPr>
            <a:r>
              <a:rPr lang="en-US" sz="1200" b="1">
                <a:solidFill>
                  <a:srgbClr val="0B0E1A"/>
                </a:solidFill>
                <a:latin typeface="Sora"/>
                <a:ea typeface="Sora"/>
                <a:cs typeface="Sora"/>
              </a:rPr>
              <a:t>01</a:t>
            </a:r>
          </a:p>
        </p:txBody>
      </p:sp>
      <p:sp>
        <p:nvSpPr>
          <p:cNvPr id="8" name="Text_0_title"/>
          <p:cNvSpPr/>
          <p:nvPr/>
        </p:nvSpPr>
        <p:spPr>
          <a:xfrm>
            <a:off x="1011401" y="3886200"/>
            <a:ext cx="851698" cy="777240"/>
          </a:xfrm>
          <a:prstGeom prst="rect">
            <a:avLst/>
          </a:prstGeom>
          <a:noFill/>
          <a:ln/>
        </p:spPr>
        <p:txBody>
          <a:bodyPr wrap="square" lIns="0" tIns="0" rIns="0" bIns="0" rtlCol="0" anchor="ctr"/>
          <a:lstStyle/>
          <a:p>
            <a:pPr marL="0" indent="0" algn="ctr">
              <a:buNone/>
            </a:pPr>
            <a:r>
              <a:rPr lang="en-US" sz="1050" b="1">
                <a:solidFill>
                  <a:srgbClr val="FFFFFF"/>
                </a:solidFill>
                <a:latin typeface="Sora"/>
                <a:ea typeface="Sora"/>
                <a:cs typeface="Sora"/>
              </a:rPr>
              <a:t>Introduction &amp; Context</a:t>
            </a:r>
          </a:p>
        </p:txBody>
      </p:sp>
      <p:sp>
        <p:nvSpPr>
          <p:cNvPr id="9" name="ANIM::110::card1"/>
          <p:cNvSpPr/>
          <p:nvPr/>
        </p:nvSpPr>
        <p:spPr>
          <a:xfrm>
            <a:off x="2119131" y="1418247"/>
            <a:ext cx="1034578" cy="3344356"/>
          </a:xfrm>
          <a:prstGeom prst="roundRect">
            <a:avLst>
              <a:gd name="adj" fmla="val 14141"/>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0" name="Shape_1"/>
          <p:cNvSpPr/>
          <p:nvPr/>
        </p:nvSpPr>
        <p:spPr>
          <a:xfrm>
            <a:off x="2435252" y="2176272"/>
            <a:ext cx="402336" cy="386890"/>
          </a:xfrm>
          <a:prstGeom prst="ellipse">
            <a:avLst/>
          </a:prstGeom>
          <a:solidFill>
            <a:srgbClr val="00D2C4"/>
          </a:solidFill>
          <a:ln/>
        </p:spPr>
        <p:txBody>
          <a:bodyPr/>
          <a:lstStyle/>
          <a:p>
            <a:endParaRPr lang="fr-FR"/>
          </a:p>
        </p:txBody>
      </p:sp>
      <p:sp>
        <p:nvSpPr>
          <p:cNvPr id="11" name="Text_1_num"/>
          <p:cNvSpPr/>
          <p:nvPr/>
        </p:nvSpPr>
        <p:spPr>
          <a:xfrm>
            <a:off x="2435252" y="2176272"/>
            <a:ext cx="402336" cy="363722"/>
          </a:xfrm>
          <a:prstGeom prst="rect">
            <a:avLst/>
          </a:prstGeom>
          <a:noFill/>
          <a:ln/>
        </p:spPr>
        <p:txBody>
          <a:bodyPr wrap="square" lIns="0" tIns="0" rIns="0" bIns="0" rtlCol="0" anchor="ctr"/>
          <a:lstStyle/>
          <a:p>
            <a:pPr marL="0" indent="0" algn="ctr">
              <a:buNone/>
            </a:pPr>
            <a:r>
              <a:rPr lang="en-US" sz="1200" b="1">
                <a:solidFill>
                  <a:srgbClr val="0B0E1A"/>
                </a:solidFill>
                <a:latin typeface="Sora"/>
                <a:ea typeface="Sora"/>
                <a:cs typeface="Sora"/>
              </a:rPr>
              <a:t>02</a:t>
            </a:r>
          </a:p>
        </p:txBody>
      </p:sp>
      <p:sp>
        <p:nvSpPr>
          <p:cNvPr id="12" name="Text_1_title"/>
          <p:cNvSpPr/>
          <p:nvPr/>
        </p:nvSpPr>
        <p:spPr>
          <a:xfrm>
            <a:off x="2210571" y="3869590"/>
            <a:ext cx="851698" cy="793745"/>
          </a:xfrm>
          <a:prstGeom prst="rect">
            <a:avLst/>
          </a:prstGeom>
          <a:noFill/>
          <a:ln/>
        </p:spPr>
        <p:txBody>
          <a:bodyPr wrap="square" lIns="0" tIns="0" rIns="0" bIns="0" rtlCol="0" anchor="ctr"/>
          <a:lstStyle/>
          <a:p>
            <a:pPr marL="0" indent="0" algn="ctr">
              <a:buNone/>
            </a:pPr>
            <a:r>
              <a:rPr lang="en-US" sz="1050" b="1">
                <a:solidFill>
                  <a:srgbClr val="FFFFFF"/>
                </a:solidFill>
                <a:latin typeface="Sora"/>
                <a:ea typeface="Sora"/>
                <a:cs typeface="Sora"/>
              </a:rPr>
              <a:t>Requirements Analysis</a:t>
            </a:r>
          </a:p>
        </p:txBody>
      </p:sp>
      <p:sp>
        <p:nvSpPr>
          <p:cNvPr id="13" name="ANIM::220::card2"/>
          <p:cNvSpPr/>
          <p:nvPr/>
        </p:nvSpPr>
        <p:spPr>
          <a:xfrm>
            <a:off x="3318301" y="1418247"/>
            <a:ext cx="1034578" cy="3344356"/>
          </a:xfrm>
          <a:prstGeom prst="roundRect">
            <a:avLst>
              <a:gd name="adj" fmla="val 14141"/>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4" name="Shape_2"/>
          <p:cNvSpPr/>
          <p:nvPr/>
        </p:nvSpPr>
        <p:spPr>
          <a:xfrm>
            <a:off x="3634422" y="2176272"/>
            <a:ext cx="402336" cy="363722"/>
          </a:xfrm>
          <a:prstGeom prst="ellipse">
            <a:avLst/>
          </a:prstGeom>
          <a:solidFill>
            <a:srgbClr val="8B5CF6"/>
          </a:solidFill>
          <a:ln/>
        </p:spPr>
        <p:txBody>
          <a:bodyPr/>
          <a:lstStyle/>
          <a:p>
            <a:endParaRPr lang="fr-FR"/>
          </a:p>
        </p:txBody>
      </p:sp>
      <p:sp>
        <p:nvSpPr>
          <p:cNvPr id="15" name="Text_2_num"/>
          <p:cNvSpPr/>
          <p:nvPr/>
        </p:nvSpPr>
        <p:spPr>
          <a:xfrm>
            <a:off x="3634422" y="2176272"/>
            <a:ext cx="402336" cy="402335"/>
          </a:xfrm>
          <a:prstGeom prst="rect">
            <a:avLst/>
          </a:prstGeom>
          <a:noFill/>
          <a:ln/>
        </p:spPr>
        <p:txBody>
          <a:bodyPr wrap="square" lIns="0" tIns="0" rIns="0" bIns="0" rtlCol="0" anchor="ctr"/>
          <a:lstStyle/>
          <a:p>
            <a:pPr marL="0" indent="0" algn="ctr">
              <a:buNone/>
            </a:pPr>
            <a:r>
              <a:rPr lang="en-US" sz="1200" b="1">
                <a:solidFill>
                  <a:srgbClr val="0B0E1A"/>
                </a:solidFill>
                <a:latin typeface="Sora"/>
                <a:ea typeface="Sora"/>
                <a:cs typeface="Sora"/>
              </a:rPr>
              <a:t>03</a:t>
            </a:r>
          </a:p>
        </p:txBody>
      </p:sp>
      <p:sp>
        <p:nvSpPr>
          <p:cNvPr id="16" name="Text_2_title"/>
          <p:cNvSpPr/>
          <p:nvPr/>
        </p:nvSpPr>
        <p:spPr>
          <a:xfrm>
            <a:off x="3409741" y="3861761"/>
            <a:ext cx="851698" cy="801574"/>
          </a:xfrm>
          <a:prstGeom prst="rect">
            <a:avLst/>
          </a:prstGeom>
          <a:noFill/>
          <a:ln/>
        </p:spPr>
        <p:txBody>
          <a:bodyPr wrap="square" lIns="0" tIns="0" rIns="0" bIns="0" rtlCol="0" anchor="ctr"/>
          <a:lstStyle/>
          <a:p>
            <a:pPr marL="0" indent="0" algn="ctr">
              <a:buNone/>
            </a:pPr>
            <a:r>
              <a:rPr lang="en-US" sz="1050" b="1">
                <a:solidFill>
                  <a:srgbClr val="FFFFFF"/>
                </a:solidFill>
                <a:latin typeface="Sora"/>
                <a:ea typeface="Sora"/>
                <a:cs typeface="Sora"/>
              </a:rPr>
              <a:t>Methodology &amp; Architecture</a:t>
            </a:r>
          </a:p>
        </p:txBody>
      </p:sp>
      <p:sp>
        <p:nvSpPr>
          <p:cNvPr id="17" name="ANIM::330::card3"/>
          <p:cNvSpPr/>
          <p:nvPr/>
        </p:nvSpPr>
        <p:spPr>
          <a:xfrm>
            <a:off x="4517471" y="1418247"/>
            <a:ext cx="1034578" cy="3344356"/>
          </a:xfrm>
          <a:prstGeom prst="roundRect">
            <a:avLst>
              <a:gd name="adj" fmla="val 14141"/>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8" name="Shape_3"/>
          <p:cNvSpPr/>
          <p:nvPr/>
        </p:nvSpPr>
        <p:spPr>
          <a:xfrm>
            <a:off x="4833592" y="2176272"/>
            <a:ext cx="402336" cy="363722"/>
          </a:xfrm>
          <a:prstGeom prst="ellipse">
            <a:avLst/>
          </a:prstGeom>
          <a:solidFill>
            <a:srgbClr val="22C55E"/>
          </a:solidFill>
          <a:ln/>
        </p:spPr>
        <p:txBody>
          <a:bodyPr/>
          <a:lstStyle/>
          <a:p>
            <a:endParaRPr lang="fr-FR"/>
          </a:p>
        </p:txBody>
      </p:sp>
      <p:sp>
        <p:nvSpPr>
          <p:cNvPr id="19" name="Text_3_num"/>
          <p:cNvSpPr/>
          <p:nvPr/>
        </p:nvSpPr>
        <p:spPr>
          <a:xfrm>
            <a:off x="4833592" y="2176272"/>
            <a:ext cx="402336" cy="394612"/>
          </a:xfrm>
          <a:prstGeom prst="rect">
            <a:avLst/>
          </a:prstGeom>
          <a:noFill/>
          <a:ln/>
        </p:spPr>
        <p:txBody>
          <a:bodyPr wrap="square" lIns="0" tIns="0" rIns="0" bIns="0" rtlCol="0" anchor="ctr"/>
          <a:lstStyle/>
          <a:p>
            <a:pPr marL="0" indent="0" algn="ctr">
              <a:buNone/>
            </a:pPr>
            <a:r>
              <a:rPr lang="en-US" sz="1200" b="1">
                <a:solidFill>
                  <a:srgbClr val="0B0E1A"/>
                </a:solidFill>
                <a:latin typeface="Sora"/>
                <a:ea typeface="Sora"/>
                <a:cs typeface="Sora"/>
              </a:rPr>
              <a:t>04</a:t>
            </a:r>
          </a:p>
        </p:txBody>
      </p:sp>
      <p:sp>
        <p:nvSpPr>
          <p:cNvPr id="20" name="Text_3_title"/>
          <p:cNvSpPr/>
          <p:nvPr/>
        </p:nvSpPr>
        <p:spPr>
          <a:xfrm>
            <a:off x="4577596" y="3877419"/>
            <a:ext cx="883013" cy="785916"/>
          </a:xfrm>
          <a:prstGeom prst="rect">
            <a:avLst/>
          </a:prstGeom>
          <a:noFill/>
          <a:ln/>
        </p:spPr>
        <p:txBody>
          <a:bodyPr wrap="square" lIns="0" tIns="0" rIns="0" bIns="0" rtlCol="0" anchor="ctr"/>
          <a:lstStyle/>
          <a:p>
            <a:pPr marL="0" indent="0" algn="ctr">
              <a:buNone/>
            </a:pPr>
            <a:r>
              <a:rPr lang="en-US" sz="1050" b="1">
                <a:solidFill>
                  <a:srgbClr val="FFFFFF"/>
                </a:solidFill>
                <a:latin typeface="Sora"/>
                <a:ea typeface="Sora"/>
                <a:cs typeface="Sora"/>
              </a:rPr>
              <a:t>System Design &amp; UML</a:t>
            </a:r>
          </a:p>
        </p:txBody>
      </p:sp>
      <p:sp>
        <p:nvSpPr>
          <p:cNvPr id="21" name="ANIM::440::card4"/>
          <p:cNvSpPr/>
          <p:nvPr/>
        </p:nvSpPr>
        <p:spPr>
          <a:xfrm>
            <a:off x="5716641" y="1425043"/>
            <a:ext cx="1034578" cy="3337560"/>
          </a:xfrm>
          <a:prstGeom prst="roundRect">
            <a:avLst>
              <a:gd name="adj" fmla="val 14141"/>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22" name="Shape_4"/>
          <p:cNvSpPr/>
          <p:nvPr/>
        </p:nvSpPr>
        <p:spPr>
          <a:xfrm>
            <a:off x="6032762" y="2167622"/>
            <a:ext cx="402336" cy="402336"/>
          </a:xfrm>
          <a:prstGeom prst="ellipse">
            <a:avLst/>
          </a:prstGeom>
          <a:solidFill>
            <a:srgbClr val="3B82F6"/>
          </a:solidFill>
          <a:ln/>
        </p:spPr>
        <p:txBody>
          <a:bodyPr/>
          <a:lstStyle/>
          <a:p>
            <a:endParaRPr lang="fr-FR"/>
          </a:p>
        </p:txBody>
      </p:sp>
      <p:sp>
        <p:nvSpPr>
          <p:cNvPr id="23" name="Text_4_num"/>
          <p:cNvSpPr/>
          <p:nvPr/>
        </p:nvSpPr>
        <p:spPr>
          <a:xfrm>
            <a:off x="6032762" y="2175345"/>
            <a:ext cx="402336" cy="402336"/>
          </a:xfrm>
          <a:prstGeom prst="rect">
            <a:avLst/>
          </a:prstGeom>
          <a:noFill/>
          <a:ln/>
        </p:spPr>
        <p:txBody>
          <a:bodyPr wrap="square" lIns="0" tIns="0" rIns="0" bIns="0" rtlCol="0" anchor="ctr"/>
          <a:lstStyle/>
          <a:p>
            <a:pPr marL="0" indent="0" algn="ctr">
              <a:buNone/>
            </a:pPr>
            <a:r>
              <a:rPr lang="en-US" sz="1200" b="1">
                <a:solidFill>
                  <a:srgbClr val="0B0E1A"/>
                </a:solidFill>
                <a:latin typeface="Sora"/>
                <a:ea typeface="Sora"/>
                <a:cs typeface="Sora"/>
              </a:rPr>
              <a:t>05</a:t>
            </a:r>
          </a:p>
        </p:txBody>
      </p:sp>
      <p:sp>
        <p:nvSpPr>
          <p:cNvPr id="24" name="Text_4_title"/>
          <p:cNvSpPr/>
          <p:nvPr/>
        </p:nvSpPr>
        <p:spPr>
          <a:xfrm>
            <a:off x="5808081" y="3854885"/>
            <a:ext cx="851698" cy="808555"/>
          </a:xfrm>
          <a:prstGeom prst="rect">
            <a:avLst/>
          </a:prstGeom>
          <a:noFill/>
          <a:ln/>
        </p:spPr>
        <p:txBody>
          <a:bodyPr wrap="square" lIns="0" tIns="0" rIns="0" bIns="0" rtlCol="0" anchor="ctr"/>
          <a:lstStyle/>
          <a:p>
            <a:pPr marL="0" indent="0" algn="ctr">
              <a:buNone/>
            </a:pPr>
            <a:r>
              <a:rPr lang="en-US" sz="1050" b="1">
                <a:solidFill>
                  <a:srgbClr val="FFFFFF"/>
                </a:solidFill>
                <a:latin typeface="Sora"/>
                <a:ea typeface="Sora"/>
                <a:cs typeface="Sora"/>
              </a:rPr>
              <a:t>Realization &amp; Sprints</a:t>
            </a:r>
          </a:p>
        </p:txBody>
      </p:sp>
      <p:sp>
        <p:nvSpPr>
          <p:cNvPr id="25" name="ANIM::550::card5"/>
          <p:cNvSpPr/>
          <p:nvPr/>
        </p:nvSpPr>
        <p:spPr>
          <a:xfrm>
            <a:off x="6915811" y="1418247"/>
            <a:ext cx="1034578" cy="3344355"/>
          </a:xfrm>
          <a:prstGeom prst="roundRect">
            <a:avLst>
              <a:gd name="adj" fmla="val 14141"/>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26" name="Shape_5"/>
          <p:cNvSpPr/>
          <p:nvPr/>
        </p:nvSpPr>
        <p:spPr>
          <a:xfrm>
            <a:off x="7231932" y="2176272"/>
            <a:ext cx="402336" cy="402336"/>
          </a:xfrm>
          <a:prstGeom prst="ellipse">
            <a:avLst/>
          </a:prstGeom>
          <a:solidFill>
            <a:srgbClr val="F59E0B"/>
          </a:solidFill>
          <a:ln/>
        </p:spPr>
        <p:txBody>
          <a:bodyPr/>
          <a:lstStyle/>
          <a:p>
            <a:endParaRPr lang="fr-FR"/>
          </a:p>
        </p:txBody>
      </p:sp>
      <p:sp>
        <p:nvSpPr>
          <p:cNvPr id="27" name="Text_5_num"/>
          <p:cNvSpPr/>
          <p:nvPr/>
        </p:nvSpPr>
        <p:spPr>
          <a:xfrm>
            <a:off x="7231932" y="2176272"/>
            <a:ext cx="402336" cy="402336"/>
          </a:xfrm>
          <a:prstGeom prst="rect">
            <a:avLst/>
          </a:prstGeom>
          <a:noFill/>
          <a:ln/>
        </p:spPr>
        <p:txBody>
          <a:bodyPr wrap="square" lIns="0" tIns="0" rIns="0" bIns="0" rtlCol="0" anchor="ctr"/>
          <a:lstStyle/>
          <a:p>
            <a:pPr marL="0" indent="0" algn="ctr">
              <a:buNone/>
            </a:pPr>
            <a:r>
              <a:rPr lang="en-US" sz="1200" b="1">
                <a:solidFill>
                  <a:srgbClr val="0B0E1A"/>
                </a:solidFill>
                <a:latin typeface="Sora"/>
                <a:ea typeface="Sora"/>
                <a:cs typeface="Sora"/>
              </a:rPr>
              <a:t>06</a:t>
            </a:r>
          </a:p>
        </p:txBody>
      </p:sp>
      <p:sp>
        <p:nvSpPr>
          <p:cNvPr id="28" name="Text_5_title"/>
          <p:cNvSpPr/>
          <p:nvPr/>
        </p:nvSpPr>
        <p:spPr>
          <a:xfrm>
            <a:off x="7007251" y="3847056"/>
            <a:ext cx="812555" cy="816384"/>
          </a:xfrm>
          <a:prstGeom prst="rect">
            <a:avLst/>
          </a:prstGeom>
          <a:noFill/>
          <a:ln/>
        </p:spPr>
        <p:txBody>
          <a:bodyPr wrap="square" lIns="0" tIns="0" rIns="0" bIns="0" rtlCol="0" anchor="ctr"/>
          <a:lstStyle/>
          <a:p>
            <a:pPr marL="0" indent="0" algn="ctr">
              <a:buNone/>
            </a:pPr>
            <a:r>
              <a:rPr lang="en-US" sz="1050" b="1">
                <a:solidFill>
                  <a:srgbClr val="FFFFFF"/>
                </a:solidFill>
                <a:latin typeface="Sora"/>
                <a:ea typeface="Sora"/>
                <a:cs typeface="Sora"/>
              </a:rPr>
              <a:t>Testing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00" fill="hold"/>
                                        <p:tgtEl>
                                          <p:spTgt spid="16"/>
                                        </p:tgtEl>
                                        <p:attrNameLst>
                                          <p:attrName>ppt_x</p:attrName>
                                        </p:attrNameLst>
                                      </p:cBhvr>
                                      <p:tavLst>
                                        <p:tav tm="0">
                                          <p:val>
                                            <p:strVal val="#ppt_x"/>
                                          </p:val>
                                        </p:tav>
                                        <p:tav tm="100000">
                                          <p:val>
                                            <p:strVal val="#ppt_x"/>
                                          </p:val>
                                        </p:tav>
                                      </p:tavLst>
                                    </p:anim>
                                    <p:anim calcmode="lin" valueType="num">
                                      <p:cBhvr additive="base">
                                        <p:cTn id="6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500" fill="hold"/>
                                        <p:tgtEl>
                                          <p:spTgt spid="18"/>
                                        </p:tgtEl>
                                        <p:attrNameLst>
                                          <p:attrName>ppt_x</p:attrName>
                                        </p:attrNameLst>
                                      </p:cBhvr>
                                      <p:tavLst>
                                        <p:tav tm="0">
                                          <p:val>
                                            <p:strVal val="#ppt_x"/>
                                          </p:val>
                                        </p:tav>
                                        <p:tav tm="100000">
                                          <p:val>
                                            <p:strVal val="#ppt_x"/>
                                          </p:val>
                                        </p:tav>
                                      </p:tavLst>
                                    </p:anim>
                                    <p:anim calcmode="lin" valueType="num">
                                      <p:cBhvr additive="base">
                                        <p:cTn id="71" dur="500" fill="hold"/>
                                        <p:tgtEl>
                                          <p:spTgt spid="18"/>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 calcmode="lin" valueType="num">
                                      <p:cBhvr additive="base">
                                        <p:cTn id="74" dur="500" fill="hold"/>
                                        <p:tgtEl>
                                          <p:spTgt spid="19"/>
                                        </p:tgtEl>
                                        <p:attrNameLst>
                                          <p:attrName>ppt_x</p:attrName>
                                        </p:attrNameLst>
                                      </p:cBhvr>
                                      <p:tavLst>
                                        <p:tav tm="0">
                                          <p:val>
                                            <p:strVal val="#ppt_x"/>
                                          </p:val>
                                        </p:tav>
                                        <p:tav tm="100000">
                                          <p:val>
                                            <p:strVal val="#ppt_x"/>
                                          </p:val>
                                        </p:tav>
                                      </p:tavLst>
                                    </p:anim>
                                    <p:anim calcmode="lin" valueType="num">
                                      <p:cBhvr additive="base">
                                        <p:cTn id="75" dur="500" fill="hold"/>
                                        <p:tgtEl>
                                          <p:spTgt spid="19"/>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00" fill="hold"/>
                                        <p:tgtEl>
                                          <p:spTgt spid="20"/>
                                        </p:tgtEl>
                                        <p:attrNameLst>
                                          <p:attrName>ppt_x</p:attrName>
                                        </p:attrNameLst>
                                      </p:cBhvr>
                                      <p:tavLst>
                                        <p:tav tm="0">
                                          <p:val>
                                            <p:strVal val="#ppt_x"/>
                                          </p:val>
                                        </p:tav>
                                        <p:tav tm="100000">
                                          <p:val>
                                            <p:strVal val="#ppt_x"/>
                                          </p:val>
                                        </p:tav>
                                      </p:tavLst>
                                    </p:anim>
                                    <p:anim calcmode="lin" valueType="num">
                                      <p:cBhvr additive="base">
                                        <p:cTn id="7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21"/>
                                        </p:tgtEl>
                                        <p:attrNameLst>
                                          <p:attrName>style.visibility</p:attrName>
                                        </p:attrNameLst>
                                      </p:cBhvr>
                                      <p:to>
                                        <p:strVal val="visible"/>
                                      </p:to>
                                    </p:set>
                                    <p:anim calcmode="lin" valueType="num">
                                      <p:cBhvr additive="base">
                                        <p:cTn id="84" dur="500" fill="hold"/>
                                        <p:tgtEl>
                                          <p:spTgt spid="21"/>
                                        </p:tgtEl>
                                        <p:attrNameLst>
                                          <p:attrName>ppt_x</p:attrName>
                                        </p:attrNameLst>
                                      </p:cBhvr>
                                      <p:tavLst>
                                        <p:tav tm="0">
                                          <p:val>
                                            <p:strVal val="#ppt_x"/>
                                          </p:val>
                                        </p:tav>
                                        <p:tav tm="100000">
                                          <p:val>
                                            <p:strVal val="#ppt_x"/>
                                          </p:val>
                                        </p:tav>
                                      </p:tavLst>
                                    </p:anim>
                                    <p:anim calcmode="lin" valueType="num">
                                      <p:cBhvr additive="base">
                                        <p:cTn id="85" dur="500" fill="hold"/>
                                        <p:tgtEl>
                                          <p:spTgt spid="21"/>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500" fill="hold"/>
                                        <p:tgtEl>
                                          <p:spTgt spid="22"/>
                                        </p:tgtEl>
                                        <p:attrNameLst>
                                          <p:attrName>ppt_x</p:attrName>
                                        </p:attrNameLst>
                                      </p:cBhvr>
                                      <p:tavLst>
                                        <p:tav tm="0">
                                          <p:val>
                                            <p:strVal val="#ppt_x"/>
                                          </p:val>
                                        </p:tav>
                                        <p:tav tm="100000">
                                          <p:val>
                                            <p:strVal val="#ppt_x"/>
                                          </p:val>
                                        </p:tav>
                                      </p:tavLst>
                                    </p:anim>
                                    <p:anim calcmode="lin" valueType="num">
                                      <p:cBhvr additive="base">
                                        <p:cTn id="89" dur="500" fill="hold"/>
                                        <p:tgtEl>
                                          <p:spTgt spid="22"/>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 calcmode="lin" valueType="num">
                                      <p:cBhvr additive="base">
                                        <p:cTn id="92" dur="500" fill="hold"/>
                                        <p:tgtEl>
                                          <p:spTgt spid="23"/>
                                        </p:tgtEl>
                                        <p:attrNameLst>
                                          <p:attrName>ppt_x</p:attrName>
                                        </p:attrNameLst>
                                      </p:cBhvr>
                                      <p:tavLst>
                                        <p:tav tm="0">
                                          <p:val>
                                            <p:strVal val="#ppt_x"/>
                                          </p:val>
                                        </p:tav>
                                        <p:tav tm="100000">
                                          <p:val>
                                            <p:strVal val="#ppt_x"/>
                                          </p:val>
                                        </p:tav>
                                      </p:tavLst>
                                    </p:anim>
                                    <p:anim calcmode="lin" valueType="num">
                                      <p:cBhvr additive="base">
                                        <p:cTn id="93" dur="500" fill="hold"/>
                                        <p:tgtEl>
                                          <p:spTgt spid="23"/>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24"/>
                                        </p:tgtEl>
                                        <p:attrNameLst>
                                          <p:attrName>style.visibility</p:attrName>
                                        </p:attrNameLst>
                                      </p:cBhvr>
                                      <p:to>
                                        <p:strVal val="visible"/>
                                      </p:to>
                                    </p:set>
                                    <p:anim calcmode="lin" valueType="num">
                                      <p:cBhvr additive="base">
                                        <p:cTn id="96" dur="500" fill="hold"/>
                                        <p:tgtEl>
                                          <p:spTgt spid="24"/>
                                        </p:tgtEl>
                                        <p:attrNameLst>
                                          <p:attrName>ppt_x</p:attrName>
                                        </p:attrNameLst>
                                      </p:cBhvr>
                                      <p:tavLst>
                                        <p:tav tm="0">
                                          <p:val>
                                            <p:strVal val="#ppt_x"/>
                                          </p:val>
                                        </p:tav>
                                        <p:tav tm="100000">
                                          <p:val>
                                            <p:strVal val="#ppt_x"/>
                                          </p:val>
                                        </p:tav>
                                      </p:tavLst>
                                    </p:anim>
                                    <p:anim calcmode="lin" valueType="num">
                                      <p:cBhvr additive="base">
                                        <p:cTn id="9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25"/>
                                        </p:tgtEl>
                                        <p:attrNameLst>
                                          <p:attrName>style.visibility</p:attrName>
                                        </p:attrNameLst>
                                      </p:cBhvr>
                                      <p:to>
                                        <p:strVal val="visible"/>
                                      </p:to>
                                    </p:set>
                                    <p:anim calcmode="lin" valueType="num">
                                      <p:cBhvr additive="base">
                                        <p:cTn id="102" dur="500" fill="hold"/>
                                        <p:tgtEl>
                                          <p:spTgt spid="25"/>
                                        </p:tgtEl>
                                        <p:attrNameLst>
                                          <p:attrName>ppt_x</p:attrName>
                                        </p:attrNameLst>
                                      </p:cBhvr>
                                      <p:tavLst>
                                        <p:tav tm="0">
                                          <p:val>
                                            <p:strVal val="#ppt_x"/>
                                          </p:val>
                                        </p:tav>
                                        <p:tav tm="100000">
                                          <p:val>
                                            <p:strVal val="#ppt_x"/>
                                          </p:val>
                                        </p:tav>
                                      </p:tavLst>
                                    </p:anim>
                                    <p:anim calcmode="lin" valueType="num">
                                      <p:cBhvr additive="base">
                                        <p:cTn id="103" dur="500" fill="hold"/>
                                        <p:tgtEl>
                                          <p:spTgt spid="25"/>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 calcmode="lin" valueType="num">
                                      <p:cBhvr additive="base">
                                        <p:cTn id="106" dur="500" fill="hold"/>
                                        <p:tgtEl>
                                          <p:spTgt spid="26"/>
                                        </p:tgtEl>
                                        <p:attrNameLst>
                                          <p:attrName>ppt_x</p:attrName>
                                        </p:attrNameLst>
                                      </p:cBhvr>
                                      <p:tavLst>
                                        <p:tav tm="0">
                                          <p:val>
                                            <p:strVal val="#ppt_x"/>
                                          </p:val>
                                        </p:tav>
                                        <p:tav tm="100000">
                                          <p:val>
                                            <p:strVal val="#ppt_x"/>
                                          </p:val>
                                        </p:tav>
                                      </p:tavLst>
                                    </p:anim>
                                    <p:anim calcmode="lin" valueType="num">
                                      <p:cBhvr additive="base">
                                        <p:cTn id="107" dur="500" fill="hold"/>
                                        <p:tgtEl>
                                          <p:spTgt spid="26"/>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 calcmode="lin" valueType="num">
                                      <p:cBhvr additive="base">
                                        <p:cTn id="110" dur="500" fill="hold"/>
                                        <p:tgtEl>
                                          <p:spTgt spid="27"/>
                                        </p:tgtEl>
                                        <p:attrNameLst>
                                          <p:attrName>ppt_x</p:attrName>
                                        </p:attrNameLst>
                                      </p:cBhvr>
                                      <p:tavLst>
                                        <p:tav tm="0">
                                          <p:val>
                                            <p:strVal val="#ppt_x"/>
                                          </p:val>
                                        </p:tav>
                                        <p:tav tm="100000">
                                          <p:val>
                                            <p:strVal val="#ppt_x"/>
                                          </p:val>
                                        </p:tav>
                                      </p:tavLst>
                                    </p:anim>
                                    <p:anim calcmode="lin" valueType="num">
                                      <p:cBhvr additive="base">
                                        <p:cTn id="111" dur="500" fill="hold"/>
                                        <p:tgtEl>
                                          <p:spTgt spid="27"/>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28"/>
                                        </p:tgtEl>
                                        <p:attrNameLst>
                                          <p:attrName>style.visibility</p:attrName>
                                        </p:attrNameLst>
                                      </p:cBhvr>
                                      <p:to>
                                        <p:strVal val="visible"/>
                                      </p:to>
                                    </p:set>
                                    <p:anim calcmode="lin" valueType="num">
                                      <p:cBhvr additive="base">
                                        <p:cTn id="114" dur="500" fill="hold"/>
                                        <p:tgtEl>
                                          <p:spTgt spid="28"/>
                                        </p:tgtEl>
                                        <p:attrNameLst>
                                          <p:attrName>ppt_x</p:attrName>
                                        </p:attrNameLst>
                                      </p:cBhvr>
                                      <p:tavLst>
                                        <p:tav tm="0">
                                          <p:val>
                                            <p:strVal val="#ppt_x"/>
                                          </p:val>
                                        </p:tav>
                                        <p:tav tm="100000">
                                          <p:val>
                                            <p:strVal val="#ppt_x"/>
                                          </p:val>
                                        </p:tav>
                                      </p:tavLst>
                                    </p:anim>
                                    <p:anim calcmode="lin" valueType="num">
                                      <p:cBhvr additive="base">
                                        <p:cTn id="11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A"/>
        </a:solidFill>
        <a:effectLst/>
      </p:bgPr>
    </p:bg>
    <p:spTree>
      <p:nvGrpSpPr>
        <p:cNvPr id="1" name=""/>
        <p:cNvGrpSpPr/>
        <p:nvPr/>
      </p:nvGrpSpPr>
      <p:grpSpPr>
        <a:xfrm>
          <a:off x="0" y="0"/>
          <a:ext cx="0" cy="0"/>
          <a:chOff x="0" y="0"/>
          <a:chExt cx="0" cy="0"/>
        </a:xfrm>
      </p:grpSpPr>
      <p:sp>
        <p:nvSpPr>
          <p:cNvPr id="2" name="GRAD::coralOrange::blob::e"/>
          <p:cNvSpPr/>
          <p:nvPr/>
        </p:nvSpPr>
        <p:spPr>
          <a:xfrm>
            <a:off x="-2286000" y="-1828800"/>
            <a:ext cx="6400800" cy="6400800"/>
          </a:xfrm>
          <a:prstGeom prst="ellipse">
            <a:avLst/>
          </a:prstGeom>
          <a:gradFill rotWithShape="1">
            <a:gsLst>
              <a:gs pos="0">
                <a:srgbClr val="FF6B6B">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GRAD::coralOrange2::blob::f"/>
          <p:cNvSpPr/>
          <p:nvPr/>
        </p:nvSpPr>
        <p:spPr>
          <a:xfrm>
            <a:off x="5486400" y="1828800"/>
            <a:ext cx="5943600" cy="59436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365760" y="457200"/>
            <a:ext cx="5943600" cy="4206240"/>
          </a:xfrm>
          <a:prstGeom prst="rect">
            <a:avLst/>
          </a:prstGeom>
          <a:noFill/>
          <a:ln/>
        </p:spPr>
        <p:txBody>
          <a:bodyPr wrap="square" lIns="0" tIns="0" rIns="0" bIns="0" rtlCol="0" anchor="ctr"/>
          <a:lstStyle/>
          <a:p>
            <a:pPr algn="l"/>
            <a:r>
              <a:rPr lang="en-US" sz="28000" b="1">
                <a:solidFill>
                  <a:srgbClr val="FFFFFF">
                    <a:alpha val="10000"/>
                  </a:srgbClr>
                </a:solidFill>
                <a:latin typeface="Sora"/>
                <a:ea typeface="Sora"/>
                <a:cs typeface="Sora"/>
              </a:rPr>
              <a:t>01</a:t>
            </a:r>
          </a:p>
        </p:txBody>
      </p:sp>
      <p:sp>
        <p:nvSpPr>
          <p:cNvPr id="5" name="Shape 3"/>
          <p:cNvSpPr/>
          <p:nvPr/>
        </p:nvSpPr>
        <p:spPr>
          <a:xfrm>
            <a:off x="4160520" y="1691640"/>
            <a:ext cx="182880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6" name="Text 4"/>
          <p:cNvSpPr/>
          <p:nvPr/>
        </p:nvSpPr>
        <p:spPr>
          <a:xfrm>
            <a:off x="4137660" y="1691640"/>
            <a:ext cx="1874520" cy="365760"/>
          </a:xfrm>
          <a:prstGeom prst="rect">
            <a:avLst/>
          </a:prstGeom>
          <a:noFill/>
          <a:ln/>
        </p:spPr>
        <p:txBody>
          <a:bodyPr wrap="square" lIns="0" tIns="0" rIns="0" bIns="0" rtlCol="0" anchor="ctr"/>
          <a:lstStyle/>
          <a:p>
            <a:r>
              <a:rPr lang="en-US" sz="1000" b="1" spc="150">
                <a:solidFill>
                  <a:srgbClr val="8890A6"/>
                </a:solidFill>
                <a:latin typeface="Inter"/>
                <a:ea typeface="Inter"/>
                <a:cs typeface="Inter"/>
              </a:rPr>
              <a:t>        CHAPTER 01</a:t>
            </a:r>
          </a:p>
        </p:txBody>
      </p:sp>
      <p:sp>
        <p:nvSpPr>
          <p:cNvPr id="7" name="ANIM::200::ttlg"/>
          <p:cNvSpPr/>
          <p:nvPr/>
        </p:nvSpPr>
        <p:spPr>
          <a:xfrm>
            <a:off x="4160520" y="1988820"/>
            <a:ext cx="4572000" cy="155448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Introduction &amp; Context</a:t>
            </a:r>
            <a:endParaRPr lang="en-US" sz="2600"/>
          </a:p>
        </p:txBody>
      </p:sp>
      <p:sp>
        <p:nvSpPr>
          <p:cNvPr id="8" name="ANIM::450::subh"/>
          <p:cNvSpPr/>
          <p:nvPr/>
        </p:nvSpPr>
        <p:spPr>
          <a:xfrm>
            <a:off x="4160520" y="3703320"/>
            <a:ext cx="4206240" cy="36576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Company overview, objectives and the problems we want to solve</a:t>
            </a:r>
            <a:endParaRPr lang="en-US" sz="1300"/>
          </a:p>
        </p:txBody>
      </p:sp>
    </p:spTree>
  </p:cSld>
  <p:clrMapOvr>
    <a:masterClrMapping/>
  </p:clrMapOvr>
  <mc:AlternateContent xmlns:mc="http://schemas.openxmlformats.org/markup-compatibility/2006" xmlns:p14="http://schemas.microsoft.com/office/powerpoint/2010/main">
    <mc:Choice Requires="p14">
      <p:transition spd="slow" p14:dur="1200">
        <p:extLst>
          <p:ext uri="{EAA6730D-07C4-43C0-AC2F-2B797B595A98}">
            <p159:prstTrans xmlns="" xmlns:p159="http://schemas.microsoft.com/office/powerpoint/2015/09/main" prst="morph"/>
          </p:ext>
        </p:extLst>
      </p:transition>
    </mc:Choice>
    <mc:Fallback xmlns="">
      <p:transition spd="slow">
        <p:extLst>
          <p:ext uri="{EAA6730D-07C4-43C0-AC2F-2B797B595A98}">
            <p159:prstTrans xmlns:p159="http://schemas.microsoft.com/office/powerpoint/2015/09/main" xmlns:p14="http://schemas.microsoft.com/office/powerpoint/2010/main" xmlns="" prst="morph"/>
          </p:ext>
        </p:extLs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0-#ppt_h/2"/>
                                          </p:val>
                                        </p:tav>
                                        <p:tav tm="100000">
                                          <p:val>
                                            <p:strVal val="#ppt_y"/>
                                          </p:val>
                                        </p:tav>
                                      </p:tavLst>
                                    </p:anim>
                                  </p:childTnLst>
                                </p:cTn>
                              </p:par>
                              <p:par>
                                <p:cTn id="13" presetID="22" presetClass="entr" presetSubtype="8" fill="hold" grpId="1"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left)">
                                      <p:cBhvr>
                                        <p:cTn id="15" dur="1500"/>
                                        <p:tgtEl>
                                          <p:spTgt spid="7">
                                            <p:txEl>
                                              <p:pRg st="0" end="0"/>
                                            </p:txEl>
                                          </p:spTgt>
                                        </p:tgtEl>
                                      </p:cBhvr>
                                    </p:animEffect>
                                  </p:childTnLst>
                                </p:cTn>
                              </p:par>
                              <p:par>
                                <p:cTn id="16" presetID="22" presetClass="entr" presetSubtype="8" fill="hold" grpId="1" nodeType="withEffect">
                                  <p:stCondLst>
                                    <p:cond delay="0"/>
                                  </p:stCondLst>
                                  <p:childTnLst>
                                    <p:set>
                                      <p:cBhvr>
                                        <p:cTn id="17" dur="1" fill="hold">
                                          <p:stCondLst>
                                            <p:cond delay="0"/>
                                          </p:stCondLst>
                                        </p:cTn>
                                        <p:tgtEl>
                                          <p:spTgt spid="7">
                                            <p:bg/>
                                          </p:spTgt>
                                        </p:tgtEl>
                                        <p:attrNameLst>
                                          <p:attrName>style.visibility</p:attrName>
                                        </p:attrNameLst>
                                      </p:cBhvr>
                                      <p:to>
                                        <p:strVal val="visible"/>
                                      </p:to>
                                    </p:set>
                                    <p:animEffect transition="in" filter="wipe(left)">
                                      <p:cBhvr>
                                        <p:cTn id="18" dur="1500"/>
                                        <p:tgtEl>
                                          <p:spTgt spid="7">
                                            <p:bg/>
                                          </p:spTgt>
                                        </p:tgtEl>
                                      </p:cBhvr>
                                    </p:animEffect>
                                  </p:childTnLst>
                                </p:cTn>
                              </p:par>
                              <p:par>
                                <p:cTn id="19" presetID="22" presetClass="entr" presetSubtype="8" fill="hold" grpId="1"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1500"/>
                                        <p:tgtEl>
                                          <p:spTgt spid="8"/>
                                        </p:tgtEl>
                                      </p:cBhvr>
                                    </p:animEffect>
                                  </p:childTnLst>
                                </p:cTn>
                              </p:par>
                              <p:par>
                                <p:cTn id="22" presetID="16" presetClass="entr" presetSubtype="37"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outVertical)">
                                      <p:cBhvr>
                                        <p:cTn id="24"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p:bldP spid="7" grpId="1" uiExpand="1" build="allAtOnce" animBg="1"/>
      <p:bldP spid="8" grpId="0"/>
      <p:bldP spid="8"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A"/>
        </a:solidFill>
        <a:effectLst/>
      </p:bgPr>
    </p:bg>
    <p:spTree>
      <p:nvGrpSpPr>
        <p:cNvPr id="1" name=""/>
        <p:cNvGrpSpPr/>
        <p:nvPr/>
      </p:nvGrpSpPr>
      <p:grpSpPr>
        <a:xfrm>
          <a:off x="0" y="0"/>
          <a:ext cx="0" cy="0"/>
          <a:chOff x="0" y="0"/>
          <a:chExt cx="0" cy="0"/>
        </a:xfrm>
      </p:grpSpPr>
      <p:sp>
        <p:nvSpPr>
          <p:cNvPr id="2" name="GRAD::coralOrange2::blob::i"/>
          <p:cNvSpPr/>
          <p:nvPr/>
        </p:nvSpPr>
        <p:spPr>
          <a:xfrm>
            <a:off x="-1828800" y="2743200"/>
            <a:ext cx="5486400" cy="54864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ANIM::0::hj"/>
          <p:cNvSpPr/>
          <p:nvPr/>
        </p:nvSpPr>
        <p:spPr>
          <a:xfrm>
            <a:off x="502920" y="502920"/>
            <a:ext cx="4114800" cy="146304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Host Company: HMI Stars</a:t>
            </a:r>
            <a:endParaRPr lang="en-US" sz="2600"/>
          </a:p>
        </p:txBody>
      </p:sp>
      <p:sp>
        <p:nvSpPr>
          <p:cNvPr id="4" name="Text 2"/>
          <p:cNvSpPr/>
          <p:nvPr/>
        </p:nvSpPr>
        <p:spPr>
          <a:xfrm>
            <a:off x="594360" y="1726713"/>
            <a:ext cx="3657600" cy="914400"/>
          </a:xfrm>
          <a:prstGeom prst="rect">
            <a:avLst/>
          </a:prstGeom>
          <a:noFill/>
          <a:ln/>
        </p:spPr>
        <p:txBody>
          <a:bodyPr wrap="square" lIns="0" tIns="0" rIns="0" bIns="0" rtlCol="0" anchor="ctr"/>
          <a:lstStyle/>
          <a:p>
            <a:r>
              <a:rPr lang="en-US" sz="1300">
                <a:solidFill>
                  <a:srgbClr val="8890A6"/>
                </a:solidFill>
                <a:latin typeface="Inter"/>
                <a:ea typeface="Inter"/>
                <a:cs typeface="Inter"/>
              </a:rPr>
              <a:t>A French consulting enterprise that helps small businesses with paperwork and payroll.</a:t>
            </a:r>
            <a:endParaRPr lang="en-US" sz="1300"/>
          </a:p>
        </p:txBody>
      </p:sp>
      <p:pic>
        <p:nvPicPr>
          <p:cNvPr id="5" name="Image 0" descr="preencoded.png"/>
          <p:cNvPicPr>
            <a:picLocks noChangeAspect="1"/>
          </p:cNvPicPr>
          <p:nvPr/>
        </p:nvPicPr>
        <p:blipFill>
          <a:blip r:embed="rId3"/>
          <a:stretch>
            <a:fillRect/>
          </a:stretch>
        </p:blipFill>
        <p:spPr>
          <a:xfrm>
            <a:off x="1118440" y="2843784"/>
            <a:ext cx="2183979" cy="1470414"/>
          </a:xfrm>
          <a:prstGeom prst="rect">
            <a:avLst/>
          </a:prstGeom>
        </p:spPr>
      </p:pic>
      <p:sp>
        <p:nvSpPr>
          <p:cNvPr id="6" name="ANIM::250::cardk"/>
          <p:cNvSpPr/>
          <p:nvPr/>
        </p:nvSpPr>
        <p:spPr>
          <a:xfrm>
            <a:off x="4846320" y="502920"/>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7" name="Shape 4"/>
          <p:cNvSpPr/>
          <p:nvPr/>
        </p:nvSpPr>
        <p:spPr>
          <a:xfrm>
            <a:off x="5047488" y="722376"/>
            <a:ext cx="438912" cy="438912"/>
          </a:xfrm>
          <a:prstGeom prst="ellipse">
            <a:avLst/>
          </a:prstGeom>
          <a:solidFill>
            <a:srgbClr val="FF6B6B">
              <a:alpha val="85000"/>
            </a:srgbClr>
          </a:solidFill>
          <a:ln/>
        </p:spPr>
        <p:txBody>
          <a:bodyPr/>
          <a:lstStyle/>
          <a:p>
            <a:endParaRPr lang="fr-FR"/>
          </a:p>
        </p:txBody>
      </p:sp>
      <p:sp>
        <p:nvSpPr>
          <p:cNvPr id="8" name="Text 5"/>
          <p:cNvSpPr/>
          <p:nvPr/>
        </p:nvSpPr>
        <p:spPr>
          <a:xfrm>
            <a:off x="5047488" y="722376"/>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9" name="Text 6"/>
          <p:cNvSpPr/>
          <p:nvPr/>
        </p:nvSpPr>
        <p:spPr>
          <a:xfrm>
            <a:off x="5623560" y="621792"/>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Company Profile</a:t>
            </a:r>
            <a:endParaRPr lang="en-US" sz="1300"/>
          </a:p>
        </p:txBody>
      </p:sp>
      <p:sp>
        <p:nvSpPr>
          <p:cNvPr id="10" name="Text 7"/>
          <p:cNvSpPr/>
          <p:nvPr/>
        </p:nvSpPr>
        <p:spPr>
          <a:xfrm>
            <a:off x="5623560" y="932688"/>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Based in Paris, helping client companies manage their administrative paperwork.</a:t>
            </a:r>
            <a:endParaRPr lang="en-US" sz="950"/>
          </a:p>
        </p:txBody>
      </p:sp>
      <p:sp>
        <p:nvSpPr>
          <p:cNvPr id="11" name="ANIM::410::cardl"/>
          <p:cNvSpPr/>
          <p:nvPr/>
        </p:nvSpPr>
        <p:spPr>
          <a:xfrm>
            <a:off x="5440680" y="1481328"/>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2" name="Shape 9"/>
          <p:cNvSpPr/>
          <p:nvPr/>
        </p:nvSpPr>
        <p:spPr>
          <a:xfrm>
            <a:off x="5641848" y="1700784"/>
            <a:ext cx="438912" cy="438912"/>
          </a:xfrm>
          <a:prstGeom prst="ellipse">
            <a:avLst/>
          </a:prstGeom>
          <a:solidFill>
            <a:srgbClr val="F59E0B">
              <a:alpha val="85000"/>
            </a:srgbClr>
          </a:solidFill>
          <a:ln/>
        </p:spPr>
        <p:txBody>
          <a:bodyPr/>
          <a:lstStyle/>
          <a:p>
            <a:endParaRPr lang="fr-FR"/>
          </a:p>
        </p:txBody>
      </p:sp>
      <p:sp>
        <p:nvSpPr>
          <p:cNvPr id="13" name="Text 10"/>
          <p:cNvSpPr/>
          <p:nvPr/>
        </p:nvSpPr>
        <p:spPr>
          <a:xfrm>
            <a:off x="5641848" y="1700784"/>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4" name="Text 11"/>
          <p:cNvSpPr/>
          <p:nvPr/>
        </p:nvSpPr>
        <p:spPr>
          <a:xfrm>
            <a:off x="6217920" y="1600200"/>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Target Clients</a:t>
            </a:r>
            <a:endParaRPr lang="en-US" sz="1300"/>
          </a:p>
        </p:txBody>
      </p:sp>
      <p:sp>
        <p:nvSpPr>
          <p:cNvPr id="15" name="Text 12"/>
          <p:cNvSpPr/>
          <p:nvPr/>
        </p:nvSpPr>
        <p:spPr>
          <a:xfrm>
            <a:off x="6217920" y="1911096"/>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Small and medium businesses (SMEs) registered and operating in France.</a:t>
            </a:r>
            <a:endParaRPr lang="en-US" sz="950"/>
          </a:p>
        </p:txBody>
      </p:sp>
      <p:sp>
        <p:nvSpPr>
          <p:cNvPr id="16" name="ANIM::570::cardm"/>
          <p:cNvSpPr/>
          <p:nvPr/>
        </p:nvSpPr>
        <p:spPr>
          <a:xfrm>
            <a:off x="4846320" y="2459736"/>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Shape 14"/>
          <p:cNvSpPr/>
          <p:nvPr/>
        </p:nvSpPr>
        <p:spPr>
          <a:xfrm>
            <a:off x="5047488" y="2679192"/>
            <a:ext cx="438912" cy="438912"/>
          </a:xfrm>
          <a:prstGeom prst="ellipse">
            <a:avLst/>
          </a:prstGeom>
          <a:solidFill>
            <a:srgbClr val="EC4899">
              <a:alpha val="85000"/>
            </a:srgbClr>
          </a:solidFill>
          <a:ln/>
        </p:spPr>
        <p:txBody>
          <a:bodyPr/>
          <a:lstStyle/>
          <a:p>
            <a:endParaRPr lang="fr-FR"/>
          </a:p>
        </p:txBody>
      </p:sp>
      <p:sp>
        <p:nvSpPr>
          <p:cNvPr id="18" name="Text 15"/>
          <p:cNvSpPr/>
          <p:nvPr/>
        </p:nvSpPr>
        <p:spPr>
          <a:xfrm>
            <a:off x="5047488" y="2679192"/>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9" name="Text 16"/>
          <p:cNvSpPr/>
          <p:nvPr/>
        </p:nvSpPr>
        <p:spPr>
          <a:xfrm>
            <a:off x="5623560" y="2578608"/>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Main Operations</a:t>
            </a:r>
            <a:endParaRPr lang="en-US" sz="1300"/>
          </a:p>
        </p:txBody>
      </p:sp>
      <p:sp>
        <p:nvSpPr>
          <p:cNvPr id="20" name="Text 17"/>
          <p:cNvSpPr/>
          <p:nvPr/>
        </p:nvSpPr>
        <p:spPr>
          <a:xfrm>
            <a:off x="5623560" y="2889504"/>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Handling tax filings, work contract updates, and monthly payroll processing.</a:t>
            </a:r>
            <a:endParaRPr lang="en-US" sz="950"/>
          </a:p>
        </p:txBody>
      </p:sp>
      <p:sp>
        <p:nvSpPr>
          <p:cNvPr id="21" name="ANIM::730::cardn"/>
          <p:cNvSpPr/>
          <p:nvPr/>
        </p:nvSpPr>
        <p:spPr>
          <a:xfrm>
            <a:off x="5440680" y="3445518"/>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22" name="Shape 19"/>
          <p:cNvSpPr/>
          <p:nvPr/>
        </p:nvSpPr>
        <p:spPr>
          <a:xfrm>
            <a:off x="5641848" y="3657600"/>
            <a:ext cx="438912" cy="438912"/>
          </a:xfrm>
          <a:prstGeom prst="ellipse">
            <a:avLst/>
          </a:prstGeom>
          <a:solidFill>
            <a:srgbClr val="8B5CF6">
              <a:alpha val="85000"/>
            </a:srgbClr>
          </a:solidFill>
          <a:ln/>
        </p:spPr>
        <p:txBody>
          <a:bodyPr/>
          <a:lstStyle/>
          <a:p>
            <a:endParaRPr lang="fr-FR"/>
          </a:p>
        </p:txBody>
      </p:sp>
      <p:sp>
        <p:nvSpPr>
          <p:cNvPr id="23" name="Text 20"/>
          <p:cNvSpPr/>
          <p:nvPr/>
        </p:nvSpPr>
        <p:spPr>
          <a:xfrm>
            <a:off x="5641848" y="3657600"/>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24" name="Text 21"/>
          <p:cNvSpPr/>
          <p:nvPr/>
        </p:nvSpPr>
        <p:spPr>
          <a:xfrm>
            <a:off x="6217920" y="3557016"/>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Collaborative Team</a:t>
            </a:r>
            <a:endParaRPr lang="en-US" sz="1300"/>
          </a:p>
        </p:txBody>
      </p:sp>
      <p:sp>
        <p:nvSpPr>
          <p:cNvPr id="25" name="Text 22"/>
          <p:cNvSpPr/>
          <p:nvPr/>
        </p:nvSpPr>
        <p:spPr>
          <a:xfrm>
            <a:off x="6217920" y="3867912"/>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Company managers work closely with HMI Stars consultants to submit records.</a:t>
            </a:r>
            <a:endParaRPr lang="en-US" sz="95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500"/>
                                        <p:tgtEl>
                                          <p:spTgt spid="4"/>
                                        </p:tgtEl>
                                      </p:cBhvr>
                                    </p:animEffect>
                                  </p:childTnLst>
                                </p:cTn>
                              </p:par>
                              <p:par>
                                <p:cTn id="8" presetID="22" presetClass="entr" presetSubtype="8" fill="hold" grpId="1"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500"/>
                                        <p:tgtEl>
                                          <p:spTgt spid="3"/>
                                        </p:tgtEl>
                                      </p:cBhvr>
                                    </p:animEffect>
                                  </p:childTnLst>
                                </p:cTn>
                              </p:par>
                              <p:par>
                                <p:cTn id="11" presetID="2" presetClass="entr" presetSubtype="3"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500" fill="hold"/>
                                        <p:tgtEl>
                                          <p:spTgt spid="2"/>
                                        </p:tgtEl>
                                        <p:attrNameLst>
                                          <p:attrName>ppt_x</p:attrName>
                                        </p:attrNameLst>
                                      </p:cBhvr>
                                      <p:tavLst>
                                        <p:tav tm="0">
                                          <p:val>
                                            <p:strVal val="1+#ppt_w/2"/>
                                          </p:val>
                                        </p:tav>
                                        <p:tav tm="100000">
                                          <p:val>
                                            <p:strVal val="#ppt_x"/>
                                          </p:val>
                                        </p:tav>
                                      </p:tavLst>
                                    </p:anim>
                                    <p:anim calcmode="lin" valueType="num">
                                      <p:cBhvr additive="base">
                                        <p:cTn id="14" dur="1500" fill="hold"/>
                                        <p:tgtEl>
                                          <p:spTgt spid="2"/>
                                        </p:tgtEl>
                                        <p:attrNameLst>
                                          <p:attrName>ppt_y</p:attrName>
                                        </p:attrNameLst>
                                      </p:cBhvr>
                                      <p:tavLst>
                                        <p:tav tm="0">
                                          <p:val>
                                            <p:strVal val="0-#ppt_h/2"/>
                                          </p:val>
                                        </p:tav>
                                        <p:tav tm="100000">
                                          <p:val>
                                            <p:strVal val="#ppt_y"/>
                                          </p:val>
                                        </p:tav>
                                      </p:tavLst>
                                    </p:anim>
                                  </p:childTnLst>
                                </p:cTn>
                              </p:par>
                              <p:par>
                                <p:cTn id="15" presetID="6" presetClass="entr" presetSubtype="32"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out)">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1"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750"/>
                                        <p:tgtEl>
                                          <p:spTgt spid="6"/>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arn(inVertical)">
                                      <p:cBhvr>
                                        <p:cTn id="25" dur="750"/>
                                        <p:tgtEl>
                                          <p:spTgt spid="7"/>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750"/>
                                        <p:tgtEl>
                                          <p:spTgt spid="8"/>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arn(inVertical)">
                                      <p:cBhvr>
                                        <p:cTn id="31" dur="750"/>
                                        <p:tgtEl>
                                          <p:spTgt spid="9"/>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arn(inVertical)">
                                      <p:cBhvr>
                                        <p:cTn id="34" dur="75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1"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arn(inVertical)">
                                      <p:cBhvr>
                                        <p:cTn id="39" dur="750"/>
                                        <p:tgtEl>
                                          <p:spTgt spid="11"/>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arn(inVertical)">
                                      <p:cBhvr>
                                        <p:cTn id="42" dur="750"/>
                                        <p:tgtEl>
                                          <p:spTgt spid="12"/>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barn(inVertical)">
                                      <p:cBhvr>
                                        <p:cTn id="45" dur="750"/>
                                        <p:tgtEl>
                                          <p:spTgt spid="13"/>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barn(inVertical)">
                                      <p:cBhvr>
                                        <p:cTn id="48" dur="750"/>
                                        <p:tgtEl>
                                          <p:spTgt spid="14"/>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barn(inVertical)">
                                      <p:cBhvr>
                                        <p:cTn id="51" dur="75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1"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arn(inVertical)">
                                      <p:cBhvr>
                                        <p:cTn id="56" dur="750"/>
                                        <p:tgtEl>
                                          <p:spTgt spid="16"/>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barn(inVertical)">
                                      <p:cBhvr>
                                        <p:cTn id="59" dur="750"/>
                                        <p:tgtEl>
                                          <p:spTgt spid="17"/>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barn(inVertical)">
                                      <p:cBhvr>
                                        <p:cTn id="62" dur="750"/>
                                        <p:tgtEl>
                                          <p:spTgt spid="18"/>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barn(inVertical)">
                                      <p:cBhvr>
                                        <p:cTn id="65" dur="750"/>
                                        <p:tgtEl>
                                          <p:spTgt spid="19"/>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barn(inVertical)">
                                      <p:cBhvr>
                                        <p:cTn id="68" dur="75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1" nodeType="click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barn(inVertical)">
                                      <p:cBhvr>
                                        <p:cTn id="73" dur="750"/>
                                        <p:tgtEl>
                                          <p:spTgt spid="21"/>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barn(inVertical)">
                                      <p:cBhvr>
                                        <p:cTn id="76" dur="750"/>
                                        <p:tgtEl>
                                          <p:spTgt spid="22"/>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barn(inVertical)">
                                      <p:cBhvr>
                                        <p:cTn id="79" dur="750"/>
                                        <p:tgtEl>
                                          <p:spTgt spid="23"/>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barn(inVertical)">
                                      <p:cBhvr>
                                        <p:cTn id="82" dur="750"/>
                                        <p:tgtEl>
                                          <p:spTgt spid="24"/>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barn(inVertical)">
                                      <p:cBhvr>
                                        <p:cTn id="85" dur="7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3" grpId="1" animBg="1"/>
      <p:bldP spid="4" grpId="0" animBg="1"/>
      <p:bldP spid="6" grpId="0"/>
      <p:bldP spid="6" grpId="1" animBg="1"/>
      <p:bldP spid="7" grpId="0" animBg="1"/>
      <p:bldP spid="8" grpId="0" animBg="1"/>
      <p:bldP spid="9" grpId="0" animBg="1"/>
      <p:bldP spid="10" grpId="0" animBg="1"/>
      <p:bldP spid="11" grpId="0"/>
      <p:bldP spid="11" grpId="1" animBg="1"/>
      <p:bldP spid="12" grpId="0" animBg="1"/>
      <p:bldP spid="13" grpId="0" animBg="1"/>
      <p:bldP spid="14" grpId="0" animBg="1"/>
      <p:bldP spid="15" grpId="0" animBg="1"/>
      <p:bldP spid="16" grpId="0"/>
      <p:bldP spid="16" grpId="1" animBg="1"/>
      <p:bldP spid="17" grpId="0" animBg="1"/>
      <p:bldP spid="18" grpId="0" animBg="1"/>
      <p:bldP spid="19" grpId="0" animBg="1"/>
      <p:bldP spid="20" grpId="0" animBg="1"/>
      <p:bldP spid="21" grpId="0"/>
      <p:bldP spid="21" grpId="1"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0E1A"/>
        </a:solidFill>
        <a:effectLst/>
      </p:bgPr>
    </p:bg>
    <p:spTree>
      <p:nvGrpSpPr>
        <p:cNvPr id="1" name=""/>
        <p:cNvGrpSpPr/>
        <p:nvPr/>
      </p:nvGrpSpPr>
      <p:grpSpPr>
        <a:xfrm>
          <a:off x="0" y="0"/>
          <a:ext cx="0" cy="0"/>
          <a:chOff x="0" y="0"/>
          <a:chExt cx="0" cy="0"/>
        </a:xfrm>
      </p:grpSpPr>
      <p:sp>
        <p:nvSpPr>
          <p:cNvPr id="2" name="GRAD::coralOrange2::blob::i"/>
          <p:cNvSpPr/>
          <p:nvPr/>
        </p:nvSpPr>
        <p:spPr>
          <a:xfrm>
            <a:off x="-1783079" y="2400300"/>
            <a:ext cx="5486400" cy="54864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594360" y="1892808"/>
            <a:ext cx="3657600" cy="91440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The main operational problems we found in the company's daily manual work.</a:t>
            </a:r>
            <a:endParaRPr lang="en-US" sz="1300"/>
          </a:p>
        </p:txBody>
      </p:sp>
      <p:pic>
        <p:nvPicPr>
          <p:cNvPr id="5" name="Image 0" descr="preencoded.png"/>
          <p:cNvPicPr>
            <a:picLocks noChangeAspect="1"/>
          </p:cNvPicPr>
          <p:nvPr/>
        </p:nvPicPr>
        <p:blipFill>
          <a:blip r:embed="rId3"/>
          <a:stretch>
            <a:fillRect/>
          </a:stretch>
        </p:blipFill>
        <p:spPr>
          <a:xfrm>
            <a:off x="1348740" y="3044952"/>
            <a:ext cx="1737360" cy="1188720"/>
          </a:xfrm>
          <a:prstGeom prst="rect">
            <a:avLst/>
          </a:prstGeom>
        </p:spPr>
      </p:pic>
      <p:sp>
        <p:nvSpPr>
          <p:cNvPr id="6" name="ANIM::250::cardk"/>
          <p:cNvSpPr/>
          <p:nvPr/>
        </p:nvSpPr>
        <p:spPr>
          <a:xfrm>
            <a:off x="4846320" y="502920"/>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7" name="Shape 4"/>
          <p:cNvSpPr/>
          <p:nvPr/>
        </p:nvSpPr>
        <p:spPr>
          <a:xfrm>
            <a:off x="5047488" y="722376"/>
            <a:ext cx="438912" cy="438912"/>
          </a:xfrm>
          <a:prstGeom prst="ellipse">
            <a:avLst/>
          </a:prstGeom>
          <a:solidFill>
            <a:srgbClr val="FF6B6B">
              <a:alpha val="85000"/>
            </a:srgbClr>
          </a:solidFill>
          <a:ln/>
        </p:spPr>
        <p:txBody>
          <a:bodyPr/>
          <a:lstStyle/>
          <a:p>
            <a:endParaRPr lang="fr-FR"/>
          </a:p>
        </p:txBody>
      </p:sp>
      <p:sp>
        <p:nvSpPr>
          <p:cNvPr id="8" name="Text 5"/>
          <p:cNvSpPr/>
          <p:nvPr/>
        </p:nvSpPr>
        <p:spPr>
          <a:xfrm>
            <a:off x="5047488" y="722376"/>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9" name="Text 6"/>
          <p:cNvSpPr/>
          <p:nvPr/>
        </p:nvSpPr>
        <p:spPr>
          <a:xfrm>
            <a:off x="5623560" y="621792"/>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Lost Documents</a:t>
            </a:r>
            <a:endParaRPr lang="en-US" sz="1300"/>
          </a:p>
        </p:txBody>
      </p:sp>
      <p:sp>
        <p:nvSpPr>
          <p:cNvPr id="10" name="Text 7"/>
          <p:cNvSpPr/>
          <p:nvPr/>
        </p:nvSpPr>
        <p:spPr>
          <a:xfrm>
            <a:off x="5623560" y="932688"/>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Important files (like tax papers or IDs) frequently get lost in long email threads.</a:t>
            </a:r>
            <a:endParaRPr lang="en-US" sz="950"/>
          </a:p>
        </p:txBody>
      </p:sp>
      <p:sp>
        <p:nvSpPr>
          <p:cNvPr id="11" name="ANIM::410::cardl"/>
          <p:cNvSpPr/>
          <p:nvPr/>
        </p:nvSpPr>
        <p:spPr>
          <a:xfrm>
            <a:off x="5440680" y="1481328"/>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2" name="Shape 9"/>
          <p:cNvSpPr/>
          <p:nvPr/>
        </p:nvSpPr>
        <p:spPr>
          <a:xfrm>
            <a:off x="5641848" y="1700784"/>
            <a:ext cx="438912" cy="438912"/>
          </a:xfrm>
          <a:prstGeom prst="ellipse">
            <a:avLst/>
          </a:prstGeom>
          <a:solidFill>
            <a:srgbClr val="F59E0B">
              <a:alpha val="85000"/>
            </a:srgbClr>
          </a:solidFill>
          <a:ln/>
        </p:spPr>
        <p:txBody>
          <a:bodyPr/>
          <a:lstStyle/>
          <a:p>
            <a:endParaRPr lang="fr-FR"/>
          </a:p>
        </p:txBody>
      </p:sp>
      <p:sp>
        <p:nvSpPr>
          <p:cNvPr id="13" name="Text 10"/>
          <p:cNvSpPr/>
          <p:nvPr/>
        </p:nvSpPr>
        <p:spPr>
          <a:xfrm>
            <a:off x="5641848" y="1700784"/>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4" name="Text 11"/>
          <p:cNvSpPr/>
          <p:nvPr/>
        </p:nvSpPr>
        <p:spPr>
          <a:xfrm>
            <a:off x="6217920" y="1600200"/>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Paper Attendance</a:t>
            </a:r>
            <a:endParaRPr lang="en-US" sz="1300"/>
          </a:p>
        </p:txBody>
      </p:sp>
      <p:sp>
        <p:nvSpPr>
          <p:cNvPr id="15" name="Text 12"/>
          <p:cNvSpPr/>
          <p:nvPr/>
        </p:nvSpPr>
        <p:spPr>
          <a:xfrm>
            <a:off x="6217920" y="1911096"/>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Managers log attendance on paper sheets, making it easy to lose and hard to trace.</a:t>
            </a:r>
            <a:endParaRPr lang="en-US" sz="950"/>
          </a:p>
        </p:txBody>
      </p:sp>
      <p:sp>
        <p:nvSpPr>
          <p:cNvPr id="16" name="ANIM::570::cardm"/>
          <p:cNvSpPr/>
          <p:nvPr/>
        </p:nvSpPr>
        <p:spPr>
          <a:xfrm>
            <a:off x="4846320" y="2459736"/>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Shape 14"/>
          <p:cNvSpPr/>
          <p:nvPr/>
        </p:nvSpPr>
        <p:spPr>
          <a:xfrm>
            <a:off x="5047488" y="2679192"/>
            <a:ext cx="438912" cy="438912"/>
          </a:xfrm>
          <a:prstGeom prst="ellipse">
            <a:avLst/>
          </a:prstGeom>
          <a:solidFill>
            <a:srgbClr val="EC4899">
              <a:alpha val="85000"/>
            </a:srgbClr>
          </a:solidFill>
          <a:ln/>
        </p:spPr>
        <p:txBody>
          <a:bodyPr/>
          <a:lstStyle/>
          <a:p>
            <a:endParaRPr lang="fr-FR"/>
          </a:p>
        </p:txBody>
      </p:sp>
      <p:sp>
        <p:nvSpPr>
          <p:cNvPr id="18" name="Text 15"/>
          <p:cNvSpPr/>
          <p:nvPr/>
        </p:nvSpPr>
        <p:spPr>
          <a:xfrm>
            <a:off x="5047488" y="2679192"/>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9" name="Text 16"/>
          <p:cNvSpPr/>
          <p:nvPr/>
        </p:nvSpPr>
        <p:spPr>
          <a:xfrm>
            <a:off x="5623560" y="2578608"/>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Slow Notifications</a:t>
            </a:r>
            <a:endParaRPr lang="en-US" sz="1300"/>
          </a:p>
        </p:txBody>
      </p:sp>
      <p:sp>
        <p:nvSpPr>
          <p:cNvPr id="20" name="Text 17"/>
          <p:cNvSpPr/>
          <p:nvPr/>
        </p:nvSpPr>
        <p:spPr>
          <a:xfrm>
            <a:off x="5623560" y="2889504"/>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Sending formal warning letters or requests takes 3 to 5 days using regular mail.</a:t>
            </a:r>
            <a:endParaRPr lang="en-US" sz="950"/>
          </a:p>
        </p:txBody>
      </p:sp>
      <p:sp>
        <p:nvSpPr>
          <p:cNvPr id="21" name="ANIM::730::cardn"/>
          <p:cNvSpPr/>
          <p:nvPr/>
        </p:nvSpPr>
        <p:spPr>
          <a:xfrm>
            <a:off x="5440680" y="3438144"/>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22" name="Shape 19"/>
          <p:cNvSpPr/>
          <p:nvPr/>
        </p:nvSpPr>
        <p:spPr>
          <a:xfrm>
            <a:off x="5641848" y="3657600"/>
            <a:ext cx="438912" cy="438912"/>
          </a:xfrm>
          <a:prstGeom prst="ellipse">
            <a:avLst/>
          </a:prstGeom>
          <a:solidFill>
            <a:srgbClr val="8B5CF6">
              <a:alpha val="85000"/>
            </a:srgbClr>
          </a:solidFill>
          <a:ln/>
        </p:spPr>
        <p:txBody>
          <a:bodyPr/>
          <a:lstStyle/>
          <a:p>
            <a:endParaRPr lang="fr-FR"/>
          </a:p>
        </p:txBody>
      </p:sp>
      <p:sp>
        <p:nvSpPr>
          <p:cNvPr id="23" name="Text 20"/>
          <p:cNvSpPr/>
          <p:nvPr/>
        </p:nvSpPr>
        <p:spPr>
          <a:xfrm>
            <a:off x="5641848" y="3657600"/>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24" name="Text 21"/>
          <p:cNvSpPr/>
          <p:nvPr/>
        </p:nvSpPr>
        <p:spPr>
          <a:xfrm>
            <a:off x="6217920" y="3557016"/>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Messy Communication</a:t>
            </a:r>
            <a:endParaRPr lang="en-US" sz="1300"/>
          </a:p>
        </p:txBody>
      </p:sp>
      <p:sp>
        <p:nvSpPr>
          <p:cNvPr id="25" name="Text 22"/>
          <p:cNvSpPr/>
          <p:nvPr/>
        </p:nvSpPr>
        <p:spPr>
          <a:xfrm>
            <a:off x="6217920" y="3867912"/>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Conversations are scattered across WhatsApp, phone calls, and emails with no central tool.</a:t>
            </a:r>
            <a:endParaRPr lang="en-US" sz="950"/>
          </a:p>
        </p:txBody>
      </p:sp>
      <p:sp>
        <p:nvSpPr>
          <p:cNvPr id="27" name="TextBox 26">
            <a:extLst>
              <a:ext uri="{FF2B5EF4-FFF2-40B4-BE49-F238E27FC236}">
                <a16:creationId xmlns:a16="http://schemas.microsoft.com/office/drawing/2014/main" id="{EB8A5740-00E6-EE05-D216-61DE9D2808B9}"/>
              </a:ext>
            </a:extLst>
          </p:cNvPr>
          <p:cNvSpPr txBox="1"/>
          <p:nvPr/>
        </p:nvSpPr>
        <p:spPr>
          <a:xfrm>
            <a:off x="374904" y="775228"/>
            <a:ext cx="5486400" cy="954107"/>
          </a:xfrm>
          <a:prstGeom prst="rect">
            <a:avLst/>
          </a:prstGeom>
          <a:noFill/>
        </p:spPr>
        <p:txBody>
          <a:bodyPr wrap="square">
            <a:spAutoFit/>
          </a:bodyPr>
          <a:lstStyle/>
          <a:p>
            <a:pPr marL="0" indent="0" algn="l">
              <a:buNone/>
            </a:pPr>
            <a:r>
              <a:rPr lang="en-US" sz="2800" b="1">
                <a:solidFill>
                  <a:srgbClr val="FFFFFF"/>
                </a:solidFill>
                <a:latin typeface="Sora"/>
                <a:ea typeface="Sora"/>
                <a:cs typeface="Sora"/>
              </a:rPr>
              <a:t>Problem Statement </a:t>
            </a:r>
          </a:p>
          <a:p>
            <a:pPr marL="0" indent="0" algn="l">
              <a:buNone/>
            </a:pPr>
            <a:r>
              <a:rPr lang="en-US" sz="2800" b="1">
                <a:solidFill>
                  <a:srgbClr val="FFFFFF"/>
                </a:solidFill>
                <a:latin typeface="Sora"/>
                <a:ea typeface="Sora"/>
                <a:cs typeface="Sora"/>
              </a:rPr>
              <a:t>     &amp; Objectives</a:t>
            </a:r>
            <a:endParaRPr lang="en-US" sz="2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1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1500"/>
                                        <p:tgtEl>
                                          <p:spTgt spid="4"/>
                                        </p:tgtEl>
                                      </p:cBhvr>
                                    </p:animEffect>
                                  </p:childTnLst>
                                </p:cTn>
                              </p:par>
                              <p:par>
                                <p:cTn id="11" presetID="2" presetClass="entr" presetSubtype="3"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500" fill="hold"/>
                                        <p:tgtEl>
                                          <p:spTgt spid="2"/>
                                        </p:tgtEl>
                                        <p:attrNameLst>
                                          <p:attrName>ppt_x</p:attrName>
                                        </p:attrNameLst>
                                      </p:cBhvr>
                                      <p:tavLst>
                                        <p:tav tm="0">
                                          <p:val>
                                            <p:strVal val="1+#ppt_w/2"/>
                                          </p:val>
                                        </p:tav>
                                        <p:tav tm="100000">
                                          <p:val>
                                            <p:strVal val="#ppt_x"/>
                                          </p:val>
                                        </p:tav>
                                      </p:tavLst>
                                    </p:anim>
                                    <p:anim calcmode="lin" valueType="num">
                                      <p:cBhvr additive="base">
                                        <p:cTn id="14" dur="1500" fill="hold"/>
                                        <p:tgtEl>
                                          <p:spTgt spid="2"/>
                                        </p:tgtEl>
                                        <p:attrNameLst>
                                          <p:attrName>ppt_y</p:attrName>
                                        </p:attrNameLst>
                                      </p:cBhvr>
                                      <p:tavLst>
                                        <p:tav tm="0">
                                          <p:val>
                                            <p:strVal val="0-#ppt_h/2"/>
                                          </p:val>
                                        </p:tav>
                                        <p:tav tm="100000">
                                          <p:val>
                                            <p:strVal val="#ppt_y"/>
                                          </p:val>
                                        </p:tav>
                                      </p:tavLst>
                                    </p:anim>
                                  </p:childTnLst>
                                </p:cTn>
                              </p:par>
                              <p:par>
                                <p:cTn id="15" presetID="6" presetClass="entr" presetSubtype="32"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out)">
                                      <p:cBhvr>
                                        <p:cTn id="17" dur="1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1"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right)">
                                      <p:cBhvr>
                                        <p:cTn id="22" dur="500"/>
                                        <p:tgtEl>
                                          <p:spTgt spid="6"/>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right)">
                                      <p:cBhvr>
                                        <p:cTn id="25" dur="500"/>
                                        <p:tgtEl>
                                          <p:spTgt spid="7"/>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right)">
                                      <p:cBhvr>
                                        <p:cTn id="28" dur="500"/>
                                        <p:tgtEl>
                                          <p:spTgt spid="8"/>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right)">
                                      <p:cBhvr>
                                        <p:cTn id="31" dur="500"/>
                                        <p:tgtEl>
                                          <p:spTgt spid="9"/>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right)">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1"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right)">
                                      <p:cBhvr>
                                        <p:cTn id="39" dur="500"/>
                                        <p:tgtEl>
                                          <p:spTgt spid="11"/>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right)">
                                      <p:cBhvr>
                                        <p:cTn id="42" dur="500"/>
                                        <p:tgtEl>
                                          <p:spTgt spid="12"/>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right)">
                                      <p:cBhvr>
                                        <p:cTn id="45" dur="500"/>
                                        <p:tgtEl>
                                          <p:spTgt spid="13"/>
                                        </p:tgtEl>
                                      </p:cBhvr>
                                    </p:animEffect>
                                  </p:childTnLst>
                                </p:cTn>
                              </p:par>
                              <p:par>
                                <p:cTn id="46" presetID="22" presetClass="entr" presetSubtype="2"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right)">
                                      <p:cBhvr>
                                        <p:cTn id="48" dur="500"/>
                                        <p:tgtEl>
                                          <p:spTgt spid="14"/>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right)">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grpId="1"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right)">
                                      <p:cBhvr>
                                        <p:cTn id="56" dur="750"/>
                                        <p:tgtEl>
                                          <p:spTgt spid="16"/>
                                        </p:tgtEl>
                                      </p:cBhvr>
                                    </p:animEffect>
                                  </p:childTnLst>
                                </p:cTn>
                              </p:par>
                              <p:par>
                                <p:cTn id="57" presetID="22" presetClass="entr" presetSubtype="2"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right)">
                                      <p:cBhvr>
                                        <p:cTn id="59" dur="750"/>
                                        <p:tgtEl>
                                          <p:spTgt spid="17"/>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right)">
                                      <p:cBhvr>
                                        <p:cTn id="62" dur="750"/>
                                        <p:tgtEl>
                                          <p:spTgt spid="18"/>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right)">
                                      <p:cBhvr>
                                        <p:cTn id="65" dur="750"/>
                                        <p:tgtEl>
                                          <p:spTgt spid="19"/>
                                        </p:tgtEl>
                                      </p:cBhvr>
                                    </p:animEffect>
                                  </p:childTnLst>
                                </p:cTn>
                              </p:par>
                              <p:par>
                                <p:cTn id="66" presetID="22" presetClass="entr" presetSubtype="2"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right)">
                                      <p:cBhvr>
                                        <p:cTn id="68" dur="75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2" fill="hold" grpId="1" nodeType="click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wipe(right)">
                                      <p:cBhvr>
                                        <p:cTn id="73" dur="750"/>
                                        <p:tgtEl>
                                          <p:spTgt spid="21"/>
                                        </p:tgtEl>
                                      </p:cBhvr>
                                    </p:animEffect>
                                  </p:childTnLst>
                                </p:cTn>
                              </p:par>
                              <p:par>
                                <p:cTn id="74" presetID="22" presetClass="entr" presetSubtype="2"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wipe(right)">
                                      <p:cBhvr>
                                        <p:cTn id="76" dur="750"/>
                                        <p:tgtEl>
                                          <p:spTgt spid="22"/>
                                        </p:tgtEl>
                                      </p:cBhvr>
                                    </p:animEffect>
                                  </p:childTnLst>
                                </p:cTn>
                              </p:par>
                              <p:par>
                                <p:cTn id="77" presetID="22" presetClass="entr" presetSubtype="2"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wipe(right)">
                                      <p:cBhvr>
                                        <p:cTn id="79" dur="750"/>
                                        <p:tgtEl>
                                          <p:spTgt spid="23"/>
                                        </p:tgtEl>
                                      </p:cBhvr>
                                    </p:animEffect>
                                  </p:childTnLst>
                                </p:cTn>
                              </p:par>
                              <p:par>
                                <p:cTn id="80" presetID="22" presetClass="entr" presetSubtype="2"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right)">
                                      <p:cBhvr>
                                        <p:cTn id="82" dur="750"/>
                                        <p:tgtEl>
                                          <p:spTgt spid="24"/>
                                        </p:tgtEl>
                                      </p:cBhvr>
                                    </p:animEffect>
                                  </p:childTnLst>
                                </p:cTn>
                              </p:par>
                              <p:par>
                                <p:cTn id="83" presetID="22" presetClass="entr" presetSubtype="2"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wipe(right)">
                                      <p:cBhvr>
                                        <p:cTn id="85" dur="7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p:bldP spid="6" grpId="1" animBg="1"/>
      <p:bldP spid="7" grpId="0" animBg="1"/>
      <p:bldP spid="8" grpId="0" animBg="1"/>
      <p:bldP spid="9" grpId="0" animBg="1"/>
      <p:bldP spid="10" grpId="0" animBg="1"/>
      <p:bldP spid="11" grpId="0"/>
      <p:bldP spid="11" grpId="1" animBg="1"/>
      <p:bldP spid="12" grpId="0" animBg="1"/>
      <p:bldP spid="13" grpId="0" animBg="1"/>
      <p:bldP spid="14" grpId="0" animBg="1"/>
      <p:bldP spid="15" grpId="0" animBg="1"/>
      <p:bldP spid="16" grpId="0"/>
      <p:bldP spid="16" grpId="1" animBg="1"/>
      <p:bldP spid="17" grpId="0" animBg="1"/>
      <p:bldP spid="18" grpId="0" animBg="1"/>
      <p:bldP spid="19" grpId="0" animBg="1"/>
      <p:bldP spid="20" grpId="0" animBg="1"/>
      <p:bldP spid="21" grpId="0"/>
      <p:bldP spid="21" grpId="1" animBg="1"/>
      <p:bldP spid="22" grpId="0" animBg="1"/>
      <p:bldP spid="23" grpId="0" animBg="1"/>
      <p:bldP spid="24" grpId="0" animBg="1"/>
      <p:bldP spid="25" grpId="0" animBg="1"/>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A"/>
        </a:solidFill>
        <a:effectLst/>
      </p:bgPr>
    </p:bg>
    <p:spTree>
      <p:nvGrpSpPr>
        <p:cNvPr id="1" name=""/>
        <p:cNvGrpSpPr/>
        <p:nvPr/>
      </p:nvGrpSpPr>
      <p:grpSpPr>
        <a:xfrm>
          <a:off x="0" y="0"/>
          <a:ext cx="0" cy="0"/>
          <a:chOff x="0" y="0"/>
          <a:chExt cx="0" cy="0"/>
        </a:xfrm>
      </p:grpSpPr>
      <p:sp>
        <p:nvSpPr>
          <p:cNvPr id="2" name="GRAD::blueViolet3::blob::s"/>
          <p:cNvSpPr/>
          <p:nvPr/>
        </p:nvSpPr>
        <p:spPr>
          <a:xfrm>
            <a:off x="6858000" y="3200400"/>
            <a:ext cx="5029200" cy="5029200"/>
          </a:xfrm>
          <a:prstGeom prst="ellipse">
            <a:avLst/>
          </a:prstGeom>
          <a:gradFill rotWithShape="1">
            <a:gsLst>
              <a:gs pos="0">
                <a:srgbClr val="4F7CFF">
                  <a:alpha val="42000"/>
                </a:srgbClr>
              </a:gs>
              <a:gs pos="55000">
                <a:srgbClr val="8B5CF6">
                  <a:alpha val="16000"/>
                </a:srgbClr>
              </a:gs>
              <a:gs pos="100000">
                <a:srgbClr val="8B5CF6">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521208" y="987552"/>
            <a:ext cx="6400800" cy="274320"/>
          </a:xfrm>
          <a:prstGeom prst="rect">
            <a:avLst/>
          </a:prstGeom>
          <a:noFill/>
          <a:ln/>
        </p:spPr>
        <p:txBody>
          <a:bodyPr wrap="square" lIns="0" tIns="0" rIns="0" bIns="0" rtlCol="0" anchor="ctr"/>
          <a:lstStyle/>
          <a:p>
            <a:pPr marL="0" indent="0" algn="l">
              <a:buNone/>
            </a:pPr>
            <a:r>
              <a:rPr lang="en-US" sz="1200">
                <a:solidFill>
                  <a:srgbClr val="C7CCDA"/>
                </a:solidFill>
                <a:latin typeface="Inter" pitchFamily="34" charset="0"/>
                <a:ea typeface="Inter" pitchFamily="34" charset="-122"/>
                <a:cs typeface="Inter" pitchFamily="34" charset="-120"/>
              </a:rPr>
              <a:t>Built as a Flutter monorepo on a single Supabase backend.</a:t>
            </a:r>
            <a:endParaRPr lang="en-US" sz="1200"/>
          </a:p>
        </p:txBody>
      </p:sp>
      <p:sp>
        <p:nvSpPr>
          <p:cNvPr id="5" name="GRAD::blueViolet::panel::u"/>
          <p:cNvSpPr/>
          <p:nvPr/>
        </p:nvSpPr>
        <p:spPr>
          <a:xfrm>
            <a:off x="530352" y="1411577"/>
            <a:ext cx="2606040" cy="3063240"/>
          </a:xfrm>
          <a:prstGeom prst="roundRect">
            <a:avLst>
              <a:gd name="adj" fmla="val 6316"/>
            </a:avLst>
          </a:prstGeom>
          <a:gradFill rotWithShape="1">
            <a:gsLst>
              <a:gs pos="0">
                <a:srgbClr val="4F7CFF"/>
              </a:gs>
              <a:gs pos="100000">
                <a:srgbClr val="8B5CF6"/>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6" name="Shape 4"/>
          <p:cNvSpPr/>
          <p:nvPr/>
        </p:nvSpPr>
        <p:spPr>
          <a:xfrm>
            <a:off x="731520" y="1722586"/>
            <a:ext cx="640080" cy="640080"/>
          </a:xfrm>
          <a:prstGeom prst="roundRect">
            <a:avLst>
              <a:gd name="adj" fmla="val 22857"/>
            </a:avLst>
          </a:prstGeom>
          <a:solidFill>
            <a:srgbClr val="FFFFFF">
              <a:alpha val="20000"/>
            </a:srgbClr>
          </a:solidFill>
          <a:ln/>
        </p:spPr>
        <p:txBody>
          <a:bodyPr/>
          <a:lstStyle/>
          <a:p>
            <a:endParaRPr lang="fr-FR"/>
          </a:p>
        </p:txBody>
      </p:sp>
      <p:sp>
        <p:nvSpPr>
          <p:cNvPr id="7" name="Text 5"/>
          <p:cNvSpPr/>
          <p:nvPr/>
        </p:nvSpPr>
        <p:spPr>
          <a:xfrm>
            <a:off x="731520" y="1719072"/>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8" name="Text 6"/>
          <p:cNvSpPr/>
          <p:nvPr/>
        </p:nvSpPr>
        <p:spPr>
          <a:xfrm>
            <a:off x="731520" y="2510126"/>
            <a:ext cx="2194560" cy="457200"/>
          </a:xfrm>
          <a:prstGeom prst="rect">
            <a:avLst/>
          </a:prstGeom>
          <a:noFill/>
          <a:ln/>
        </p:spPr>
        <p:txBody>
          <a:bodyPr wrap="square" lIns="0" tIns="0" rIns="0" bIns="0" rtlCol="0" anchor="ctr"/>
          <a:lstStyle/>
          <a:p>
            <a:pPr marL="0" indent="0" algn="l">
              <a:buNone/>
            </a:pPr>
            <a:r>
              <a:rPr lang="en-US" sz="1650" b="1">
                <a:solidFill>
                  <a:srgbClr val="FFFFFF"/>
                </a:solidFill>
                <a:latin typeface="Sora" pitchFamily="34" charset="0"/>
                <a:ea typeface="Sora" pitchFamily="34" charset="-122"/>
                <a:cs typeface="Sora" pitchFamily="34" charset="-120"/>
              </a:rPr>
              <a:t>Mobile App</a:t>
            </a:r>
            <a:endParaRPr lang="en-US" sz="1650"/>
          </a:p>
        </p:txBody>
      </p:sp>
      <p:sp>
        <p:nvSpPr>
          <p:cNvPr id="9" name="Text 7"/>
          <p:cNvSpPr/>
          <p:nvPr/>
        </p:nvSpPr>
        <p:spPr>
          <a:xfrm>
            <a:off x="736092" y="3005353"/>
            <a:ext cx="2194560" cy="914400"/>
          </a:xfrm>
          <a:prstGeom prst="rect">
            <a:avLst/>
          </a:prstGeom>
          <a:noFill/>
          <a:ln/>
        </p:spPr>
        <p:txBody>
          <a:bodyPr wrap="square" lIns="0" tIns="0" rIns="0" bIns="0" rtlCol="0" anchor="ctr"/>
          <a:lstStyle/>
          <a:p>
            <a:pPr marL="0" indent="0" algn="l">
              <a:buNone/>
            </a:pPr>
            <a:r>
              <a:rPr lang="en-US" sz="1050">
                <a:solidFill>
                  <a:srgbClr val="F0F2F8"/>
                </a:solidFill>
                <a:latin typeface="Inter" pitchFamily="34" charset="0"/>
                <a:ea typeface="Inter" pitchFamily="34" charset="-122"/>
                <a:cs typeface="Inter" pitchFamily="34" charset="-120"/>
              </a:rPr>
              <a:t>Flutter cross-platform for client managers — Android &amp; iOS</a:t>
            </a:r>
            <a:endParaRPr lang="en-US" sz="1050"/>
          </a:p>
        </p:txBody>
      </p:sp>
      <p:sp>
        <p:nvSpPr>
          <p:cNvPr id="10" name="GRAD::cyanEmerald::panel::v"/>
          <p:cNvSpPr/>
          <p:nvPr/>
        </p:nvSpPr>
        <p:spPr>
          <a:xfrm>
            <a:off x="3364992" y="1417320"/>
            <a:ext cx="2606040" cy="3063240"/>
          </a:xfrm>
          <a:prstGeom prst="roundRect">
            <a:avLst>
              <a:gd name="adj" fmla="val 6316"/>
            </a:avLst>
          </a:prstGeom>
          <a:gradFill rotWithShape="1">
            <a:gsLst>
              <a:gs pos="0">
                <a:srgbClr val="22D3EE"/>
              </a:gs>
              <a:gs pos="100000">
                <a:srgbClr val="10B981"/>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11" name="Shape 9"/>
          <p:cNvSpPr/>
          <p:nvPr/>
        </p:nvSpPr>
        <p:spPr>
          <a:xfrm>
            <a:off x="3593592" y="1691640"/>
            <a:ext cx="640080" cy="640080"/>
          </a:xfrm>
          <a:prstGeom prst="roundRect">
            <a:avLst>
              <a:gd name="adj" fmla="val 22857"/>
            </a:avLst>
          </a:prstGeom>
          <a:solidFill>
            <a:srgbClr val="FFFFFF">
              <a:alpha val="20000"/>
            </a:srgbClr>
          </a:solidFill>
          <a:ln/>
        </p:spPr>
        <p:txBody>
          <a:bodyPr/>
          <a:lstStyle/>
          <a:p>
            <a:endParaRPr lang="fr-FR"/>
          </a:p>
        </p:txBody>
      </p:sp>
      <p:sp>
        <p:nvSpPr>
          <p:cNvPr id="12" name="Text 10"/>
          <p:cNvSpPr/>
          <p:nvPr/>
        </p:nvSpPr>
        <p:spPr>
          <a:xfrm>
            <a:off x="3593592" y="1691640"/>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13" name="Text 11"/>
          <p:cNvSpPr/>
          <p:nvPr/>
        </p:nvSpPr>
        <p:spPr>
          <a:xfrm>
            <a:off x="3593592" y="2514600"/>
            <a:ext cx="2194560" cy="457200"/>
          </a:xfrm>
          <a:prstGeom prst="rect">
            <a:avLst/>
          </a:prstGeom>
          <a:noFill/>
          <a:ln/>
        </p:spPr>
        <p:txBody>
          <a:bodyPr wrap="square" lIns="0" tIns="0" rIns="0" bIns="0" rtlCol="0" anchor="ctr"/>
          <a:lstStyle/>
          <a:p>
            <a:pPr marL="0" indent="0" algn="l">
              <a:buNone/>
            </a:pPr>
            <a:r>
              <a:rPr lang="en-US" sz="1650" b="1">
                <a:solidFill>
                  <a:srgbClr val="FFFFFF"/>
                </a:solidFill>
                <a:latin typeface="Sora" pitchFamily="34" charset="0"/>
                <a:ea typeface="Sora" pitchFamily="34" charset="-122"/>
                <a:cs typeface="Sora" pitchFamily="34" charset="-120"/>
              </a:rPr>
              <a:t>Web Platform</a:t>
            </a:r>
            <a:endParaRPr lang="en-US" sz="1650"/>
          </a:p>
        </p:txBody>
      </p:sp>
      <p:sp>
        <p:nvSpPr>
          <p:cNvPr id="14" name="Text 12"/>
          <p:cNvSpPr/>
          <p:nvPr/>
        </p:nvSpPr>
        <p:spPr>
          <a:xfrm>
            <a:off x="3593592" y="2990088"/>
            <a:ext cx="2194560" cy="914400"/>
          </a:xfrm>
          <a:prstGeom prst="rect">
            <a:avLst/>
          </a:prstGeom>
          <a:noFill/>
          <a:ln/>
        </p:spPr>
        <p:txBody>
          <a:bodyPr wrap="square" lIns="0" tIns="0" rIns="0" bIns="0" rtlCol="0" anchor="ctr"/>
          <a:lstStyle/>
          <a:p>
            <a:pPr marL="0" indent="0" algn="l">
              <a:buNone/>
            </a:pPr>
            <a:r>
              <a:rPr lang="en-US" sz="1050">
                <a:solidFill>
                  <a:srgbClr val="F0F2F8"/>
                </a:solidFill>
                <a:latin typeface="Inter" pitchFamily="34" charset="0"/>
                <a:ea typeface="Inter" pitchFamily="34" charset="-122"/>
                <a:cs typeface="Inter" pitchFamily="34" charset="-120"/>
              </a:rPr>
              <a:t>For  HMI Stars admins and staff</a:t>
            </a:r>
            <a:endParaRPr lang="en-US" sz="1050"/>
          </a:p>
        </p:txBody>
      </p:sp>
      <p:sp>
        <p:nvSpPr>
          <p:cNvPr id="15" name="GRAD::coralOrange::panel::w"/>
          <p:cNvSpPr/>
          <p:nvPr/>
        </p:nvSpPr>
        <p:spPr>
          <a:xfrm>
            <a:off x="6199632" y="1411577"/>
            <a:ext cx="2606040" cy="3063240"/>
          </a:xfrm>
          <a:prstGeom prst="roundRect">
            <a:avLst>
              <a:gd name="adj" fmla="val 6316"/>
            </a:avLst>
          </a:prstGeom>
          <a:gradFill rotWithShape="1">
            <a:gsLst>
              <a:gs pos="0">
                <a:srgbClr val="FF6B6B"/>
              </a:gs>
              <a:gs pos="100000">
                <a:srgbClr val="F59E0B"/>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16" name="Shape 14"/>
          <p:cNvSpPr/>
          <p:nvPr/>
        </p:nvSpPr>
        <p:spPr>
          <a:xfrm>
            <a:off x="6455664" y="1719072"/>
            <a:ext cx="640080" cy="640080"/>
          </a:xfrm>
          <a:prstGeom prst="roundRect">
            <a:avLst>
              <a:gd name="adj" fmla="val 22857"/>
            </a:avLst>
          </a:prstGeom>
          <a:solidFill>
            <a:srgbClr val="FFFFFF">
              <a:alpha val="20000"/>
            </a:srgbClr>
          </a:solidFill>
          <a:ln/>
        </p:spPr>
        <p:txBody>
          <a:bodyPr/>
          <a:lstStyle/>
          <a:p>
            <a:endParaRPr lang="fr-FR"/>
          </a:p>
        </p:txBody>
      </p:sp>
      <p:sp>
        <p:nvSpPr>
          <p:cNvPr id="17" name="Text 15"/>
          <p:cNvSpPr/>
          <p:nvPr/>
        </p:nvSpPr>
        <p:spPr>
          <a:xfrm>
            <a:off x="6455664" y="1691640"/>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18" name="Text 16"/>
          <p:cNvSpPr/>
          <p:nvPr/>
        </p:nvSpPr>
        <p:spPr>
          <a:xfrm>
            <a:off x="6446520" y="2519981"/>
            <a:ext cx="2194560" cy="457200"/>
          </a:xfrm>
          <a:prstGeom prst="rect">
            <a:avLst/>
          </a:prstGeom>
          <a:noFill/>
          <a:ln/>
        </p:spPr>
        <p:txBody>
          <a:bodyPr wrap="square" lIns="0" tIns="0" rIns="0" bIns="0" rtlCol="0" anchor="ctr"/>
          <a:lstStyle/>
          <a:p>
            <a:pPr marL="0" indent="0" algn="l">
              <a:buNone/>
            </a:pPr>
            <a:r>
              <a:rPr lang="en-US" sz="1650" b="1">
                <a:solidFill>
                  <a:srgbClr val="FFFFFF"/>
                </a:solidFill>
                <a:latin typeface="Sora" pitchFamily="34" charset="0"/>
                <a:ea typeface="Sora" pitchFamily="34" charset="-122"/>
                <a:cs typeface="Sora" pitchFamily="34" charset="-120"/>
              </a:rPr>
              <a:t>Real-Time Backend</a:t>
            </a:r>
            <a:endParaRPr lang="en-US" sz="1650"/>
          </a:p>
        </p:txBody>
      </p:sp>
      <p:sp>
        <p:nvSpPr>
          <p:cNvPr id="19" name="Text 17"/>
          <p:cNvSpPr/>
          <p:nvPr/>
        </p:nvSpPr>
        <p:spPr>
          <a:xfrm>
            <a:off x="6455664" y="2990088"/>
            <a:ext cx="2194560" cy="914400"/>
          </a:xfrm>
          <a:prstGeom prst="rect">
            <a:avLst/>
          </a:prstGeom>
          <a:noFill/>
          <a:ln/>
        </p:spPr>
        <p:txBody>
          <a:bodyPr wrap="square" lIns="0" tIns="0" rIns="0" bIns="0" rtlCol="0" anchor="ctr"/>
          <a:lstStyle/>
          <a:p>
            <a:pPr marL="0" indent="0" algn="l">
              <a:buNone/>
            </a:pPr>
            <a:r>
              <a:rPr lang="en-US" sz="1050">
                <a:solidFill>
                  <a:srgbClr val="F0F2F8"/>
                </a:solidFill>
                <a:latin typeface="Inter" pitchFamily="34" charset="0"/>
                <a:ea typeface="Inter" pitchFamily="34" charset="-122"/>
                <a:cs typeface="Inter" pitchFamily="34" charset="-120"/>
              </a:rPr>
              <a:t>Supabase + PostgreSQL RLS + WebSocket sync</a:t>
            </a:r>
            <a:endParaRPr lang="en-US" sz="1050"/>
          </a:p>
        </p:txBody>
      </p:sp>
      <p:sp>
        <p:nvSpPr>
          <p:cNvPr id="20" name="Text 18"/>
          <p:cNvSpPr/>
          <p:nvPr/>
        </p:nvSpPr>
        <p:spPr>
          <a:xfrm>
            <a:off x="502920" y="4741217"/>
            <a:ext cx="8229600" cy="274320"/>
          </a:xfrm>
          <a:prstGeom prst="rect">
            <a:avLst/>
          </a:prstGeom>
          <a:noFill/>
          <a:ln/>
        </p:spPr>
        <p:txBody>
          <a:bodyPr wrap="square" lIns="0" tIns="0" rIns="0" bIns="0" rtlCol="0" anchor="ctr"/>
          <a:lstStyle/>
          <a:p>
            <a:pPr marL="0" indent="0" algn="ctr">
              <a:buNone/>
            </a:pPr>
            <a:r>
              <a:rPr lang="en-US" sz="950" i="1">
                <a:solidFill>
                  <a:srgbClr val="8890A6"/>
                </a:solidFill>
                <a:latin typeface="Inter" pitchFamily="34" charset="0"/>
                <a:ea typeface="Inter" pitchFamily="34" charset="-122"/>
                <a:cs typeface="Inter" pitchFamily="34" charset="-120"/>
              </a:rPr>
              <a:t>Flutter &gt; React Native — one codebase for Android, iOS &amp; Web   ·   Supabase &gt; Firebase — native Row Level Security</a:t>
            </a:r>
            <a:endParaRPr lang="en-US" sz="950"/>
          </a:p>
        </p:txBody>
      </p:sp>
      <p:sp>
        <p:nvSpPr>
          <p:cNvPr id="22" name="TextBox 21">
            <a:extLst>
              <a:ext uri="{FF2B5EF4-FFF2-40B4-BE49-F238E27FC236}">
                <a16:creationId xmlns:a16="http://schemas.microsoft.com/office/drawing/2014/main" id="{6EF40FB5-8E63-6F3F-811C-A370B47C701B}"/>
              </a:ext>
            </a:extLst>
          </p:cNvPr>
          <p:cNvSpPr txBox="1"/>
          <p:nvPr/>
        </p:nvSpPr>
        <p:spPr>
          <a:xfrm>
            <a:off x="300743" y="441918"/>
            <a:ext cx="9689643" cy="523220"/>
          </a:xfrm>
          <a:prstGeom prst="rect">
            <a:avLst/>
          </a:prstGeom>
          <a:noFill/>
        </p:spPr>
        <p:txBody>
          <a:bodyPr wrap="square">
            <a:spAutoFit/>
          </a:bodyPr>
          <a:lstStyle/>
          <a:p>
            <a:pPr marL="0" indent="0" algn="l">
              <a:buNone/>
            </a:pPr>
            <a:r>
              <a:rPr lang="en-US" sz="2800" b="1">
                <a:solidFill>
                  <a:srgbClr val="FFFFFF"/>
                </a:solidFill>
                <a:latin typeface="Sora" pitchFamily="34" charset="0"/>
                <a:ea typeface="Sora" pitchFamily="34" charset="-122"/>
                <a:cs typeface="Sora" pitchFamily="34" charset="-120"/>
              </a:rPr>
              <a:t>The proposed solution : A unified ecosystem</a:t>
            </a:r>
            <a:endParaRPr lang="en-US" sz="2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ppt_x"/>
                                          </p:val>
                                        </p:tav>
                                        <p:tav tm="100000">
                                          <p:val>
                                            <p:strVal val="#ppt_x"/>
                                          </p:val>
                                        </p:tav>
                                      </p:tavLst>
                                    </p:anim>
                                    <p:anim calcmode="lin" valueType="num">
                                      <p:cBhvr additive="base">
                                        <p:cTn id="12" dur="10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000" fill="hold"/>
                                        <p:tgtEl>
                                          <p:spTgt spid="7"/>
                                        </p:tgtEl>
                                        <p:attrNameLst>
                                          <p:attrName>ppt_x</p:attrName>
                                        </p:attrNameLst>
                                      </p:cBhvr>
                                      <p:tavLst>
                                        <p:tav tm="0">
                                          <p:val>
                                            <p:strVal val="#ppt_x"/>
                                          </p:val>
                                        </p:tav>
                                        <p:tav tm="100000">
                                          <p:val>
                                            <p:strVal val="#ppt_x"/>
                                          </p:val>
                                        </p:tav>
                                      </p:tavLst>
                                    </p:anim>
                                    <p:anim calcmode="lin" valueType="num">
                                      <p:cBhvr additive="base">
                                        <p:cTn id="16" dur="10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1000" fill="hold"/>
                                        <p:tgtEl>
                                          <p:spTgt spid="10"/>
                                        </p:tgtEl>
                                        <p:attrNameLst>
                                          <p:attrName>ppt_x</p:attrName>
                                        </p:attrNameLst>
                                      </p:cBhvr>
                                      <p:tavLst>
                                        <p:tav tm="0">
                                          <p:val>
                                            <p:strVal val="#ppt_x"/>
                                          </p:val>
                                        </p:tav>
                                        <p:tav tm="100000">
                                          <p:val>
                                            <p:strVal val="#ppt_x"/>
                                          </p:val>
                                        </p:tav>
                                      </p:tavLst>
                                    </p:anim>
                                    <p:anim calcmode="lin" valueType="num">
                                      <p:cBhvr additive="base">
                                        <p:cTn id="30" dur="10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1000" fill="hold"/>
                                        <p:tgtEl>
                                          <p:spTgt spid="11"/>
                                        </p:tgtEl>
                                        <p:attrNameLst>
                                          <p:attrName>ppt_x</p:attrName>
                                        </p:attrNameLst>
                                      </p:cBhvr>
                                      <p:tavLst>
                                        <p:tav tm="0">
                                          <p:val>
                                            <p:strVal val="#ppt_x"/>
                                          </p:val>
                                        </p:tav>
                                        <p:tav tm="100000">
                                          <p:val>
                                            <p:strVal val="#ppt_x"/>
                                          </p:val>
                                        </p:tav>
                                      </p:tavLst>
                                    </p:anim>
                                    <p:anim calcmode="lin" valueType="num">
                                      <p:cBhvr additive="base">
                                        <p:cTn id="34" dur="1000" fill="hold"/>
                                        <p:tgtEl>
                                          <p:spTgt spid="1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1000" fill="hold"/>
                                        <p:tgtEl>
                                          <p:spTgt spid="12"/>
                                        </p:tgtEl>
                                        <p:attrNameLst>
                                          <p:attrName>ppt_x</p:attrName>
                                        </p:attrNameLst>
                                      </p:cBhvr>
                                      <p:tavLst>
                                        <p:tav tm="0">
                                          <p:val>
                                            <p:strVal val="#ppt_x"/>
                                          </p:val>
                                        </p:tav>
                                        <p:tav tm="100000">
                                          <p:val>
                                            <p:strVal val="#ppt_x"/>
                                          </p:val>
                                        </p:tav>
                                      </p:tavLst>
                                    </p:anim>
                                    <p:anim calcmode="lin" valueType="num">
                                      <p:cBhvr additive="base">
                                        <p:cTn id="38" dur="1000" fill="hold"/>
                                        <p:tgtEl>
                                          <p:spTgt spid="1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1000" fill="hold"/>
                                        <p:tgtEl>
                                          <p:spTgt spid="13"/>
                                        </p:tgtEl>
                                        <p:attrNameLst>
                                          <p:attrName>ppt_x</p:attrName>
                                        </p:attrNameLst>
                                      </p:cBhvr>
                                      <p:tavLst>
                                        <p:tav tm="0">
                                          <p:val>
                                            <p:strVal val="#ppt_x"/>
                                          </p:val>
                                        </p:tav>
                                        <p:tav tm="100000">
                                          <p:val>
                                            <p:strVal val="#ppt_x"/>
                                          </p:val>
                                        </p:tav>
                                      </p:tavLst>
                                    </p:anim>
                                    <p:anim calcmode="lin" valueType="num">
                                      <p:cBhvr additive="base">
                                        <p:cTn id="42" dur="1000" fill="hold"/>
                                        <p:tgtEl>
                                          <p:spTgt spid="1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1000" fill="hold"/>
                                        <p:tgtEl>
                                          <p:spTgt spid="14"/>
                                        </p:tgtEl>
                                        <p:attrNameLst>
                                          <p:attrName>ppt_x</p:attrName>
                                        </p:attrNameLst>
                                      </p:cBhvr>
                                      <p:tavLst>
                                        <p:tav tm="0">
                                          <p:val>
                                            <p:strVal val="#ppt_x"/>
                                          </p:val>
                                        </p:tav>
                                        <p:tav tm="100000">
                                          <p:val>
                                            <p:strVal val="#ppt_x"/>
                                          </p:val>
                                        </p:tav>
                                      </p:tavLst>
                                    </p:anim>
                                    <p:anim calcmode="lin" valueType="num">
                                      <p:cBhvr additive="base">
                                        <p:cTn id="46" dur="1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1000" fill="hold"/>
                                        <p:tgtEl>
                                          <p:spTgt spid="15"/>
                                        </p:tgtEl>
                                        <p:attrNameLst>
                                          <p:attrName>ppt_x</p:attrName>
                                        </p:attrNameLst>
                                      </p:cBhvr>
                                      <p:tavLst>
                                        <p:tav tm="0">
                                          <p:val>
                                            <p:strVal val="#ppt_x"/>
                                          </p:val>
                                        </p:tav>
                                        <p:tav tm="100000">
                                          <p:val>
                                            <p:strVal val="#ppt_x"/>
                                          </p:val>
                                        </p:tav>
                                      </p:tavLst>
                                    </p:anim>
                                    <p:anim calcmode="lin" valueType="num">
                                      <p:cBhvr additive="base">
                                        <p:cTn id="52" dur="10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1000" fill="hold"/>
                                        <p:tgtEl>
                                          <p:spTgt spid="16"/>
                                        </p:tgtEl>
                                        <p:attrNameLst>
                                          <p:attrName>ppt_x</p:attrName>
                                        </p:attrNameLst>
                                      </p:cBhvr>
                                      <p:tavLst>
                                        <p:tav tm="0">
                                          <p:val>
                                            <p:strVal val="#ppt_x"/>
                                          </p:val>
                                        </p:tav>
                                        <p:tav tm="100000">
                                          <p:val>
                                            <p:strVal val="#ppt_x"/>
                                          </p:val>
                                        </p:tav>
                                      </p:tavLst>
                                    </p:anim>
                                    <p:anim calcmode="lin" valueType="num">
                                      <p:cBhvr additive="base">
                                        <p:cTn id="56" dur="10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1000" fill="hold"/>
                                        <p:tgtEl>
                                          <p:spTgt spid="17"/>
                                        </p:tgtEl>
                                        <p:attrNameLst>
                                          <p:attrName>ppt_x</p:attrName>
                                        </p:attrNameLst>
                                      </p:cBhvr>
                                      <p:tavLst>
                                        <p:tav tm="0">
                                          <p:val>
                                            <p:strVal val="#ppt_x"/>
                                          </p:val>
                                        </p:tav>
                                        <p:tav tm="100000">
                                          <p:val>
                                            <p:strVal val="#ppt_x"/>
                                          </p:val>
                                        </p:tav>
                                      </p:tavLst>
                                    </p:anim>
                                    <p:anim calcmode="lin" valueType="num">
                                      <p:cBhvr additive="base">
                                        <p:cTn id="60" dur="10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1000" fill="hold"/>
                                        <p:tgtEl>
                                          <p:spTgt spid="18"/>
                                        </p:tgtEl>
                                        <p:attrNameLst>
                                          <p:attrName>ppt_x</p:attrName>
                                        </p:attrNameLst>
                                      </p:cBhvr>
                                      <p:tavLst>
                                        <p:tav tm="0">
                                          <p:val>
                                            <p:strVal val="#ppt_x"/>
                                          </p:val>
                                        </p:tav>
                                        <p:tav tm="100000">
                                          <p:val>
                                            <p:strVal val="#ppt_x"/>
                                          </p:val>
                                        </p:tav>
                                      </p:tavLst>
                                    </p:anim>
                                    <p:anim calcmode="lin" valueType="num">
                                      <p:cBhvr additive="base">
                                        <p:cTn id="64" dur="10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1000" fill="hold"/>
                                        <p:tgtEl>
                                          <p:spTgt spid="19"/>
                                        </p:tgtEl>
                                        <p:attrNameLst>
                                          <p:attrName>ppt_x</p:attrName>
                                        </p:attrNameLst>
                                      </p:cBhvr>
                                      <p:tavLst>
                                        <p:tav tm="0">
                                          <p:val>
                                            <p:strVal val="#ppt_x"/>
                                          </p:val>
                                        </p:tav>
                                        <p:tav tm="100000">
                                          <p:val>
                                            <p:strVal val="#ppt_x"/>
                                          </p:val>
                                        </p:tav>
                                      </p:tavLst>
                                    </p:anim>
                                    <p:anim calcmode="lin" valueType="num">
                                      <p:cBhvr additive="base">
                                        <p:cTn id="68" dur="10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0B0E1A"/>
        </a:solidFill>
        <a:effectLst/>
      </p:bgPr>
    </p:bg>
    <p:spTree>
      <p:nvGrpSpPr>
        <p:cNvPr id="1" name=""/>
        <p:cNvGrpSpPr/>
        <p:nvPr/>
      </p:nvGrpSpPr>
      <p:grpSpPr>
        <a:xfrm>
          <a:off x="0" y="0"/>
          <a:ext cx="0" cy="0"/>
          <a:chOff x="0" y="0"/>
          <a:chExt cx="0" cy="0"/>
        </a:xfrm>
      </p:grpSpPr>
      <p:sp>
        <p:nvSpPr>
          <p:cNvPr id="2" name="GRAD::coralOrange::blob::e"/>
          <p:cNvSpPr/>
          <p:nvPr/>
        </p:nvSpPr>
        <p:spPr>
          <a:xfrm>
            <a:off x="-2286000" y="-1828800"/>
            <a:ext cx="6400800" cy="6400800"/>
          </a:xfrm>
          <a:prstGeom prst="ellipse">
            <a:avLst/>
          </a:prstGeom>
          <a:gradFill rotWithShape="1">
            <a:gsLst>
              <a:gs pos="0">
                <a:srgbClr val="FF6B6B">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GRAD::coralOrange2::blob::f"/>
          <p:cNvSpPr/>
          <p:nvPr/>
        </p:nvSpPr>
        <p:spPr>
          <a:xfrm>
            <a:off x="5486400" y="1828800"/>
            <a:ext cx="5943600" cy="59436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365760" y="457200"/>
            <a:ext cx="5943600" cy="4206240"/>
          </a:xfrm>
          <a:prstGeom prst="rect">
            <a:avLst/>
          </a:prstGeom>
          <a:noFill/>
          <a:ln/>
        </p:spPr>
        <p:txBody>
          <a:bodyPr wrap="square" lIns="0" tIns="0" rIns="0" bIns="0" rtlCol="0" anchor="ctr"/>
          <a:lstStyle/>
          <a:p>
            <a:pPr algn="l"/>
            <a:r>
              <a:rPr lang="en-US" sz="28000" b="1">
                <a:solidFill>
                  <a:srgbClr val="FFFFFF">
                    <a:alpha val="10000"/>
                  </a:srgbClr>
                </a:solidFill>
                <a:latin typeface="Sora"/>
                <a:ea typeface="Sora"/>
                <a:cs typeface="Sora"/>
              </a:rPr>
              <a:t>02</a:t>
            </a:r>
          </a:p>
        </p:txBody>
      </p:sp>
      <p:sp>
        <p:nvSpPr>
          <p:cNvPr id="5" name="Shape 3"/>
          <p:cNvSpPr/>
          <p:nvPr/>
        </p:nvSpPr>
        <p:spPr>
          <a:xfrm>
            <a:off x="4160520" y="1691640"/>
            <a:ext cx="182880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6" name="Text 4"/>
          <p:cNvSpPr/>
          <p:nvPr/>
        </p:nvSpPr>
        <p:spPr>
          <a:xfrm>
            <a:off x="4160520" y="1691640"/>
            <a:ext cx="1828800" cy="365760"/>
          </a:xfrm>
          <a:prstGeom prst="rect">
            <a:avLst/>
          </a:prstGeom>
          <a:noFill/>
          <a:ln/>
        </p:spPr>
        <p:txBody>
          <a:bodyPr wrap="square" lIns="0" tIns="0" rIns="0" bIns="0" rtlCol="0" anchor="ctr"/>
          <a:lstStyle/>
          <a:p>
            <a:pPr algn="l"/>
            <a:r>
              <a:rPr lang="en-US" sz="1000" b="1" spc="150">
                <a:solidFill>
                  <a:srgbClr val="8890A6"/>
                </a:solidFill>
                <a:latin typeface="Inter"/>
                <a:ea typeface="Inter"/>
                <a:cs typeface="Inter"/>
              </a:rPr>
              <a:t>         CHAPTER 02</a:t>
            </a:r>
          </a:p>
        </p:txBody>
      </p:sp>
      <p:sp>
        <p:nvSpPr>
          <p:cNvPr id="7" name="ANIM::200::ttlg"/>
          <p:cNvSpPr/>
          <p:nvPr/>
        </p:nvSpPr>
        <p:spPr>
          <a:xfrm>
            <a:off x="4114800" y="2148840"/>
            <a:ext cx="4572000" cy="155448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Requirements Analysis</a:t>
            </a:r>
            <a:endParaRPr lang="en-US" sz="2600"/>
          </a:p>
        </p:txBody>
      </p:sp>
      <p:sp>
        <p:nvSpPr>
          <p:cNvPr id="8" name="ANIM::450::subh"/>
          <p:cNvSpPr/>
          <p:nvPr/>
        </p:nvSpPr>
        <p:spPr>
          <a:xfrm>
            <a:off x="4160520" y="3703320"/>
            <a:ext cx="4206240" cy="36576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Identifying system users and detailing their functional needs</a:t>
            </a:r>
            <a:endParaRPr lang="en-US" sz="1300"/>
          </a:p>
        </p:txBody>
      </p:sp>
    </p:spTree>
  </p:cSld>
  <p:clrMapOvr>
    <a:masterClrMapping/>
  </p:clrMapOvr>
  <mc:AlternateContent xmlns:mc="http://schemas.openxmlformats.org/markup-compatibility/2006" xmlns:p14="http://schemas.microsoft.com/office/powerpoint/2010/main">
    <mc:Choice Requires="p14">
      <p:transition spd="slow" p14:dur="1200">
        <p:extLst>
          <p:ext uri="{EAA6730D-07C4-43C0-AC2F-2B797B595A98}">
            <p159:prstTrans xmlns="" xmlns:p159="http://schemas.microsoft.com/office/powerpoint/2015/09/main" prst="morph"/>
          </p:ext>
        </p:extLst>
      </p:transition>
    </mc:Choice>
    <mc:Fallback xmlns="">
      <p:transition spd="slow">
        <p:extLst>
          <p:ext uri="{EAA6730D-07C4-43C0-AC2F-2B797B595A98}">
            <p159:prstTrans xmlns:p159="http://schemas.microsoft.com/office/powerpoint/2015/09/main" xmlns:p14="http://schemas.microsoft.com/office/powerpoint/2010/main" xmlns="" prst="morph"/>
          </p:ext>
        </p:extLst>
      </p:transition>
    </mc:Fallback>
  </mc:AlternateContent>
  <p:timing>
    <p:tnLst>
      <p:par>
        <p:cTn id="1" dur="indefinite" restart="never" nodeType="tmRoot">
          <p:childTnLst>
            <p:seq concurrent="1" nextAc="seek">
              <p:cTn id="2" dur="indefinite" nodeType="mainSeq">
                <p:childTnLst>
                  <p:par>
                    <p:cTn id="3" presetID="10" presetClass="entr" presetSubtype="0" fill="hold" nodeType="afterEffect">
                      <p:stCondLst>
                        <p:cond delay="0"/>
                      </p:stCondLst>
                      <p:childTnLst>
                        <p:set>
                          <p:cBhvr>
                            <p:cTn id="4" presetID="22" presetClass="entr" presetSubtype="8" fill="hold">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wipe(left)">
                                  <p:cBhvr>
                                    <p:cTn id="6" dur="2000"/>
                                    <p:tgtEl>
                                      <p:spTgt spid="7"/>
                                    </p:tgtEl>
                                  </p:cBhvr>
                                </p:animEffect>
                                <p:par>
                                  <p:cTn id="7" presetID="22" presetClass="entr" presetSubtype="8"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ipe(left)">
                                        <p:cBhvr>
                                          <p:cTn id="9" dur="2000"/>
                                          <p:tgtEl>
                                            <p:spTgt spid="8"/>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333"/>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67"/>
                                          <p:tgtEl>
                                            <p:spTgt spid="6"/>
                                          </p:tgtEl>
                                        </p:cBhvr>
                                      </p:animEffect>
                                    </p:childTnLst>
                                  </p:cTn>
                                </p:par>
                                <p:par>
                                  <p:cTn id="16" presetID="2" presetClass="entr" presetSubtype="6"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333" fill="hold"/>
                                          <p:tgtEl>
                                            <p:spTgt spid="2"/>
                                          </p:tgtEl>
                                          <p:attrNameLst>
                                            <p:attrName>ppt_x</p:attrName>
                                          </p:attrNameLst>
                                        </p:cBhvr>
                                        <p:tavLst>
                                          <p:tav tm="0">
                                            <p:val>
                                              <p:strVal val="1+#ppt_w/2"/>
                                            </p:val>
                                          </p:tav>
                                          <p:tav tm="100000">
                                            <p:val>
                                              <p:strVal val="#ppt_x"/>
                                            </p:val>
                                          </p:tav>
                                        </p:tavLst>
                                      </p:anim>
                                      <p:anim calcmode="lin" valueType="num">
                                        <p:cBhvr additive="base">
                                          <p:cTn id="19" dur="1333"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9"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1333" fill="hold"/>
                                          <p:tgtEl>
                                            <p:spTgt spid="3"/>
                                          </p:tgtEl>
                                          <p:attrNameLst>
                                            <p:attrName>ppt_x</p:attrName>
                                          </p:attrNameLst>
                                        </p:cBhvr>
                                        <p:tavLst>
                                          <p:tav tm="0">
                                            <p:val>
                                              <p:strVal val="0-#ppt_w/2"/>
                                            </p:val>
                                          </p:tav>
                                          <p:tav tm="100000">
                                            <p:val>
                                              <p:strVal val="#ppt_x"/>
                                            </p:val>
                                          </p:tav>
                                        </p:tavLst>
                                      </p:anim>
                                      <p:anim calcmode="lin" valueType="num">
                                        <p:cBhvr additive="base">
                                          <p:cTn id="23" dur="1333" fill="hold"/>
                                          <p:tgtEl>
                                            <p:spTgt spid="3"/>
                                          </p:tgtEl>
                                          <p:attrNameLst>
                                            <p:attrName>ppt_y</p:attrName>
                                          </p:attrNameLst>
                                        </p:cBhvr>
                                        <p:tavLst>
                                          <p:tav tm="0">
                                            <p:val>
                                              <p:strVal val="0-#ppt_h/2"/>
                                            </p:val>
                                          </p:tav>
                                          <p:tav tm="100000">
                                            <p:val>
                                              <p:strVal val="#ppt_y"/>
                                            </p:val>
                                          </p:tav>
                                        </p:tavLst>
                                      </p:anim>
                                    </p:childTnLst>
                                  </p:cTn>
                                </p:par>
                              </p:childTnLst>
                            </p:cTn>
                            <p:tgtEl>
                              <p:spTgt spid="7"/>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B0E1A"/>
        </a:solidFill>
        <a:effectLst/>
      </p:bgPr>
    </p:bg>
    <p:spTree>
      <p:nvGrpSpPr>
        <p:cNvPr id="1" name=""/>
        <p:cNvGrpSpPr/>
        <p:nvPr/>
      </p:nvGrpSpPr>
      <p:grpSpPr>
        <a:xfrm>
          <a:off x="0" y="0"/>
          <a:ext cx="0" cy="0"/>
          <a:chOff x="0" y="0"/>
          <a:chExt cx="0" cy="0"/>
        </a:xfrm>
      </p:grpSpPr>
      <p:sp>
        <p:nvSpPr>
          <p:cNvPr id="2" name="GRAD::coralOrange2::blob::i"/>
          <p:cNvSpPr/>
          <p:nvPr/>
        </p:nvSpPr>
        <p:spPr>
          <a:xfrm>
            <a:off x="-1828800" y="2743200"/>
            <a:ext cx="5486400" cy="54864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521208" y="1965960"/>
            <a:ext cx="3657600" cy="91440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Defining who uses the application and what parts of the system they can access.</a:t>
            </a:r>
            <a:endParaRPr lang="en-US" sz="1300"/>
          </a:p>
        </p:txBody>
      </p:sp>
      <p:pic>
        <p:nvPicPr>
          <p:cNvPr id="5" name="Image 0" descr="preencoded.png"/>
          <p:cNvPicPr>
            <a:picLocks noChangeAspect="1"/>
          </p:cNvPicPr>
          <p:nvPr/>
        </p:nvPicPr>
        <p:blipFill>
          <a:blip r:embed="rId3"/>
          <a:stretch>
            <a:fillRect/>
          </a:stretch>
        </p:blipFill>
        <p:spPr>
          <a:xfrm>
            <a:off x="1435608" y="3063240"/>
            <a:ext cx="1737360" cy="1188720"/>
          </a:xfrm>
          <a:prstGeom prst="rect">
            <a:avLst/>
          </a:prstGeom>
        </p:spPr>
      </p:pic>
      <p:sp>
        <p:nvSpPr>
          <p:cNvPr id="6" name="ANIM::250::cardk"/>
          <p:cNvSpPr/>
          <p:nvPr/>
        </p:nvSpPr>
        <p:spPr>
          <a:xfrm>
            <a:off x="4846320" y="502920"/>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7" name="Shape 4"/>
          <p:cNvSpPr/>
          <p:nvPr/>
        </p:nvSpPr>
        <p:spPr>
          <a:xfrm>
            <a:off x="5047488" y="722376"/>
            <a:ext cx="438912" cy="438912"/>
          </a:xfrm>
          <a:prstGeom prst="ellipse">
            <a:avLst/>
          </a:prstGeom>
          <a:solidFill>
            <a:srgbClr val="FF6B6B">
              <a:alpha val="85000"/>
            </a:srgbClr>
          </a:solidFill>
          <a:ln/>
        </p:spPr>
        <p:txBody>
          <a:bodyPr/>
          <a:lstStyle/>
          <a:p>
            <a:endParaRPr lang="fr-FR"/>
          </a:p>
        </p:txBody>
      </p:sp>
      <p:sp>
        <p:nvSpPr>
          <p:cNvPr id="8" name="Text 5"/>
          <p:cNvSpPr/>
          <p:nvPr/>
        </p:nvSpPr>
        <p:spPr>
          <a:xfrm>
            <a:off x="5047488" y="722376"/>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9" name="Text 6"/>
          <p:cNvSpPr/>
          <p:nvPr/>
        </p:nvSpPr>
        <p:spPr>
          <a:xfrm>
            <a:off x="5623560" y="621792"/>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Client Manager</a:t>
            </a:r>
            <a:endParaRPr lang="en-US" sz="1300"/>
          </a:p>
        </p:txBody>
      </p:sp>
      <p:sp>
        <p:nvSpPr>
          <p:cNvPr id="10" name="Text 7"/>
          <p:cNvSpPr/>
          <p:nvPr/>
        </p:nvSpPr>
        <p:spPr>
          <a:xfrm>
            <a:off x="5623560" y="932688"/>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Managers of client companies who handle their workers list and submit attendance.</a:t>
            </a:r>
            <a:endParaRPr lang="en-US" sz="950"/>
          </a:p>
        </p:txBody>
      </p:sp>
      <p:sp>
        <p:nvSpPr>
          <p:cNvPr id="11" name="ANIM::410::cardl"/>
          <p:cNvSpPr/>
          <p:nvPr/>
        </p:nvSpPr>
        <p:spPr>
          <a:xfrm>
            <a:off x="5367922" y="1481328"/>
            <a:ext cx="3456038"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2" name="Shape 9"/>
          <p:cNvSpPr/>
          <p:nvPr/>
        </p:nvSpPr>
        <p:spPr>
          <a:xfrm>
            <a:off x="5632409" y="1700784"/>
            <a:ext cx="448351" cy="438912"/>
          </a:xfrm>
          <a:prstGeom prst="ellipse">
            <a:avLst/>
          </a:prstGeom>
          <a:solidFill>
            <a:srgbClr val="F59E0B">
              <a:alpha val="85000"/>
            </a:srgbClr>
          </a:solidFill>
          <a:ln/>
        </p:spPr>
        <p:txBody>
          <a:bodyPr/>
          <a:lstStyle/>
          <a:p>
            <a:endParaRPr lang="fr-FR"/>
          </a:p>
        </p:txBody>
      </p:sp>
      <p:sp>
        <p:nvSpPr>
          <p:cNvPr id="13" name="Text 10"/>
          <p:cNvSpPr/>
          <p:nvPr/>
        </p:nvSpPr>
        <p:spPr>
          <a:xfrm>
            <a:off x="5632409" y="1700784"/>
            <a:ext cx="448351"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4" name="Text 11"/>
          <p:cNvSpPr/>
          <p:nvPr/>
        </p:nvSpPr>
        <p:spPr>
          <a:xfrm>
            <a:off x="6164826" y="1600200"/>
            <a:ext cx="2521974"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HMI Stars Consultant</a:t>
            </a:r>
            <a:endParaRPr lang="en-US" sz="1300"/>
          </a:p>
        </p:txBody>
      </p:sp>
      <p:sp>
        <p:nvSpPr>
          <p:cNvPr id="15" name="Text 12"/>
          <p:cNvSpPr/>
          <p:nvPr/>
        </p:nvSpPr>
        <p:spPr>
          <a:xfrm>
            <a:off x="6164826" y="1911096"/>
            <a:ext cx="2521974"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Office advisors who verify records, check documents, and send warnings.</a:t>
            </a:r>
            <a:endParaRPr lang="en-US" sz="950"/>
          </a:p>
        </p:txBody>
      </p:sp>
      <p:sp>
        <p:nvSpPr>
          <p:cNvPr id="16" name="ANIM::570::cardm"/>
          <p:cNvSpPr/>
          <p:nvPr/>
        </p:nvSpPr>
        <p:spPr>
          <a:xfrm>
            <a:off x="4846320" y="2459736"/>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Shape 14"/>
          <p:cNvSpPr/>
          <p:nvPr/>
        </p:nvSpPr>
        <p:spPr>
          <a:xfrm>
            <a:off x="5047488" y="2679192"/>
            <a:ext cx="438912" cy="438912"/>
          </a:xfrm>
          <a:prstGeom prst="ellipse">
            <a:avLst/>
          </a:prstGeom>
          <a:solidFill>
            <a:srgbClr val="EC4899">
              <a:alpha val="85000"/>
            </a:srgbClr>
          </a:solidFill>
          <a:ln/>
        </p:spPr>
        <p:txBody>
          <a:bodyPr/>
          <a:lstStyle/>
          <a:p>
            <a:endParaRPr lang="fr-FR"/>
          </a:p>
        </p:txBody>
      </p:sp>
      <p:sp>
        <p:nvSpPr>
          <p:cNvPr id="18" name="Text 15"/>
          <p:cNvSpPr/>
          <p:nvPr/>
        </p:nvSpPr>
        <p:spPr>
          <a:xfrm>
            <a:off x="5047488" y="2679192"/>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9" name="Text 16"/>
          <p:cNvSpPr/>
          <p:nvPr/>
        </p:nvSpPr>
        <p:spPr>
          <a:xfrm>
            <a:off x="5623560" y="2578608"/>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Mobile App Scope</a:t>
            </a:r>
            <a:endParaRPr lang="en-US" sz="1300"/>
          </a:p>
        </p:txBody>
      </p:sp>
      <p:sp>
        <p:nvSpPr>
          <p:cNvPr id="20" name="Text 17"/>
          <p:cNvSpPr/>
          <p:nvPr/>
        </p:nvSpPr>
        <p:spPr>
          <a:xfrm>
            <a:off x="5623560" y="2889504"/>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Designed for managers to log attendance, scan files offline, and chat with support.</a:t>
            </a:r>
            <a:endParaRPr lang="en-US" sz="950"/>
          </a:p>
        </p:txBody>
      </p:sp>
      <p:sp>
        <p:nvSpPr>
          <p:cNvPr id="21" name="ANIM::730::cardn"/>
          <p:cNvSpPr/>
          <p:nvPr/>
        </p:nvSpPr>
        <p:spPr>
          <a:xfrm>
            <a:off x="5440680" y="3438144"/>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22" name="Shape 19"/>
          <p:cNvSpPr/>
          <p:nvPr/>
        </p:nvSpPr>
        <p:spPr>
          <a:xfrm>
            <a:off x="5641848" y="3657600"/>
            <a:ext cx="438912" cy="438912"/>
          </a:xfrm>
          <a:prstGeom prst="ellipse">
            <a:avLst/>
          </a:prstGeom>
          <a:solidFill>
            <a:srgbClr val="8B5CF6">
              <a:alpha val="85000"/>
            </a:srgbClr>
          </a:solidFill>
          <a:ln/>
        </p:spPr>
        <p:txBody>
          <a:bodyPr/>
          <a:lstStyle/>
          <a:p>
            <a:endParaRPr lang="fr-FR"/>
          </a:p>
        </p:txBody>
      </p:sp>
      <p:sp>
        <p:nvSpPr>
          <p:cNvPr id="23" name="Text 20"/>
          <p:cNvSpPr/>
          <p:nvPr/>
        </p:nvSpPr>
        <p:spPr>
          <a:xfrm>
            <a:off x="5641848" y="3657600"/>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24" name="Text 21"/>
          <p:cNvSpPr/>
          <p:nvPr/>
        </p:nvSpPr>
        <p:spPr>
          <a:xfrm>
            <a:off x="6217920" y="3557016"/>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Web Platform Scope</a:t>
            </a:r>
            <a:endParaRPr lang="en-US" sz="1300"/>
          </a:p>
        </p:txBody>
      </p:sp>
      <p:sp>
        <p:nvSpPr>
          <p:cNvPr id="25" name="Text 22"/>
          <p:cNvSpPr/>
          <p:nvPr/>
        </p:nvSpPr>
        <p:spPr>
          <a:xfrm>
            <a:off x="6217920" y="3867912"/>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Designed for consultants to register companies, view logs, and export Excel files.</a:t>
            </a:r>
            <a:endParaRPr lang="en-US" sz="950"/>
          </a:p>
        </p:txBody>
      </p:sp>
      <p:sp>
        <p:nvSpPr>
          <p:cNvPr id="27" name="TextBox 26">
            <a:extLst>
              <a:ext uri="{FF2B5EF4-FFF2-40B4-BE49-F238E27FC236}">
                <a16:creationId xmlns:a16="http://schemas.microsoft.com/office/drawing/2014/main" id="{C740BDD1-B599-FC02-F348-3159298F5801}"/>
              </a:ext>
            </a:extLst>
          </p:cNvPr>
          <p:cNvSpPr txBox="1"/>
          <p:nvPr/>
        </p:nvSpPr>
        <p:spPr>
          <a:xfrm>
            <a:off x="521208" y="1073414"/>
            <a:ext cx="5486400" cy="523220"/>
          </a:xfrm>
          <a:prstGeom prst="rect">
            <a:avLst/>
          </a:prstGeom>
          <a:noFill/>
        </p:spPr>
        <p:txBody>
          <a:bodyPr wrap="square">
            <a:spAutoFit/>
          </a:bodyPr>
          <a:lstStyle/>
          <a:p>
            <a:pPr marL="0" indent="0" algn="l">
              <a:buNone/>
            </a:pPr>
            <a:r>
              <a:rPr lang="en-US" sz="2800" b="1">
                <a:solidFill>
                  <a:srgbClr val="FFFFFF"/>
                </a:solidFill>
                <a:latin typeface="Sora"/>
                <a:ea typeface="Sora"/>
                <a:cs typeface="Sora"/>
              </a:rPr>
              <a:t>System Actors &amp; Scope</a:t>
            </a:r>
            <a:endParaRPr lang="en-US" sz="28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10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1500"/>
                                        <p:tgtEl>
                                          <p:spTgt spid="4"/>
                                        </p:tgtEl>
                                      </p:cBhvr>
                                    </p:animEffect>
                                  </p:childTnLst>
                                </p:cTn>
                              </p:par>
                              <p:par>
                                <p:cTn id="11" presetID="21" presetClass="entr" presetSubtype="8"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8)">
                                      <p:cBhvr>
                                        <p:cTn id="13" dur="1500"/>
                                        <p:tgtEl>
                                          <p:spTgt spid="5"/>
                                        </p:tgtEl>
                                      </p:cBhvr>
                                    </p:animEffect>
                                  </p:childTnLst>
                                </p:cTn>
                              </p:par>
                              <p:par>
                                <p:cTn id="14" presetID="2" presetClass="entr" presetSubtype="3"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1500" fill="hold"/>
                                        <p:tgtEl>
                                          <p:spTgt spid="2"/>
                                        </p:tgtEl>
                                        <p:attrNameLst>
                                          <p:attrName>ppt_x</p:attrName>
                                        </p:attrNameLst>
                                      </p:cBhvr>
                                      <p:tavLst>
                                        <p:tav tm="0">
                                          <p:val>
                                            <p:strVal val="1+#ppt_w/2"/>
                                          </p:val>
                                        </p:tav>
                                        <p:tav tm="100000">
                                          <p:val>
                                            <p:strVal val="#ppt_x"/>
                                          </p:val>
                                        </p:tav>
                                      </p:tavLst>
                                    </p:anim>
                                    <p:anim calcmode="lin" valueType="num">
                                      <p:cBhvr additive="base">
                                        <p:cTn id="17" dur="1500" fill="hold"/>
                                        <p:tgtEl>
                                          <p:spTgt spid="2"/>
                                        </p:tgtEl>
                                        <p:attrNameLst>
                                          <p:attrName>ppt_y</p:attrName>
                                        </p:attrNameLst>
                                      </p:cBhvr>
                                      <p:tavLst>
                                        <p:tav tm="0">
                                          <p:val>
                                            <p:strVal val="0-#ppt_h/2"/>
                                          </p:val>
                                        </p:tav>
                                        <p:tav tm="100000">
                                          <p:val>
                                            <p:strVal val="#ppt_y"/>
                                          </p:val>
                                        </p:tav>
                                      </p:tavLst>
                                    </p:anim>
                                  </p:childTnLst>
                                </p:cTn>
                              </p:par>
                              <p:par>
                                <p:cTn id="18" presetID="22" presetClass="entr" presetSubtype="2" fill="hold" grpId="1"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right)">
                                      <p:cBhvr>
                                        <p:cTn id="20" dur="1000"/>
                                        <p:tgtEl>
                                          <p:spTgt spid="6"/>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right)">
                                      <p:cBhvr>
                                        <p:cTn id="23" dur="1000"/>
                                        <p:tgtEl>
                                          <p:spTgt spid="7"/>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right)">
                                      <p:cBhvr>
                                        <p:cTn id="26" dur="1000"/>
                                        <p:tgtEl>
                                          <p:spTgt spid="8"/>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right)">
                                      <p:cBhvr>
                                        <p:cTn id="29" dur="1000"/>
                                        <p:tgtEl>
                                          <p:spTgt spid="9"/>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right)">
                                      <p:cBhvr>
                                        <p:cTn id="32" dur="1000"/>
                                        <p:tgtEl>
                                          <p:spTgt spid="10"/>
                                        </p:tgtEl>
                                      </p:cBhvr>
                                    </p:animEffect>
                                  </p:childTnLst>
                                </p:cTn>
                              </p:par>
                            </p:childTnLst>
                          </p:cTn>
                        </p:par>
                        <p:par>
                          <p:cTn id="33" fill="hold">
                            <p:stCondLst>
                              <p:cond delay="1500"/>
                            </p:stCondLst>
                            <p:childTnLst>
                              <p:par>
                                <p:cTn id="34" presetID="22" presetClass="entr" presetSubtype="2" fill="hold" grpId="1"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1000"/>
                                        <p:tgtEl>
                                          <p:spTgt spid="11"/>
                                        </p:tgtEl>
                                      </p:cBhvr>
                                    </p:animEffect>
                                  </p:childTnLst>
                                </p:cTn>
                              </p:par>
                            </p:childTnLst>
                          </p:cTn>
                        </p:par>
                        <p:par>
                          <p:cTn id="37" fill="hold">
                            <p:stCondLst>
                              <p:cond delay="2500"/>
                            </p:stCondLst>
                            <p:childTnLst>
                              <p:par>
                                <p:cTn id="38" presetID="22" presetClass="entr" presetSubtype="2"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right)">
                                      <p:cBhvr>
                                        <p:cTn id="40" dur="1000"/>
                                        <p:tgtEl>
                                          <p:spTgt spid="12"/>
                                        </p:tgtEl>
                                      </p:cBhvr>
                                    </p:animEffect>
                                  </p:childTnLst>
                                </p:cTn>
                              </p:par>
                            </p:childTnLst>
                          </p:cTn>
                        </p:par>
                        <p:par>
                          <p:cTn id="41" fill="hold">
                            <p:stCondLst>
                              <p:cond delay="3500"/>
                            </p:stCondLst>
                            <p:childTnLst>
                              <p:par>
                                <p:cTn id="42" presetID="22" presetClass="entr" presetSubtype="2"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right)">
                                      <p:cBhvr>
                                        <p:cTn id="44" dur="1000"/>
                                        <p:tgtEl>
                                          <p:spTgt spid="13"/>
                                        </p:tgtEl>
                                      </p:cBhvr>
                                    </p:animEffect>
                                  </p:childTnLst>
                                </p:cTn>
                              </p:par>
                            </p:childTnLst>
                          </p:cTn>
                        </p:par>
                        <p:par>
                          <p:cTn id="45" fill="hold">
                            <p:stCondLst>
                              <p:cond delay="4500"/>
                            </p:stCondLst>
                            <p:childTnLst>
                              <p:par>
                                <p:cTn id="46" presetID="22" presetClass="entr" presetSubtype="2"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right)">
                                      <p:cBhvr>
                                        <p:cTn id="48" dur="1000"/>
                                        <p:tgtEl>
                                          <p:spTgt spid="14"/>
                                        </p:tgtEl>
                                      </p:cBhvr>
                                    </p:animEffect>
                                  </p:childTnLst>
                                </p:cTn>
                              </p:par>
                            </p:childTnLst>
                          </p:cTn>
                        </p:par>
                        <p:par>
                          <p:cTn id="49" fill="hold">
                            <p:stCondLst>
                              <p:cond delay="5500"/>
                            </p:stCondLst>
                            <p:childTnLst>
                              <p:par>
                                <p:cTn id="50" presetID="22" presetClass="entr" presetSubtype="2"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right)">
                                      <p:cBhvr>
                                        <p:cTn id="52" dur="1000"/>
                                        <p:tgtEl>
                                          <p:spTgt spid="15"/>
                                        </p:tgtEl>
                                      </p:cBhvr>
                                    </p:animEffect>
                                  </p:childTnLst>
                                </p:cTn>
                              </p:par>
                            </p:childTnLst>
                          </p:cTn>
                        </p:par>
                        <p:par>
                          <p:cTn id="53" fill="hold">
                            <p:stCondLst>
                              <p:cond delay="6500"/>
                            </p:stCondLst>
                            <p:childTnLst>
                              <p:par>
                                <p:cTn id="54" presetID="22" presetClass="entr" presetSubtype="2" fill="hold" grpId="1"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right)">
                                      <p:cBhvr>
                                        <p:cTn id="56" dur="1000"/>
                                        <p:tgtEl>
                                          <p:spTgt spid="16"/>
                                        </p:tgtEl>
                                      </p:cBhvr>
                                    </p:animEffect>
                                  </p:childTnLst>
                                </p:cTn>
                              </p:par>
                            </p:childTnLst>
                          </p:cTn>
                        </p:par>
                        <p:par>
                          <p:cTn id="57" fill="hold">
                            <p:stCondLst>
                              <p:cond delay="7500"/>
                            </p:stCondLst>
                            <p:childTnLst>
                              <p:par>
                                <p:cTn id="58" presetID="22" presetClass="entr" presetSubtype="2" fill="hold" grpId="0" nodeType="after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right)">
                                      <p:cBhvr>
                                        <p:cTn id="60" dur="1000"/>
                                        <p:tgtEl>
                                          <p:spTgt spid="17"/>
                                        </p:tgtEl>
                                      </p:cBhvr>
                                    </p:animEffect>
                                  </p:childTnLst>
                                </p:cTn>
                              </p:par>
                            </p:childTnLst>
                          </p:cTn>
                        </p:par>
                        <p:par>
                          <p:cTn id="61" fill="hold">
                            <p:stCondLst>
                              <p:cond delay="8500"/>
                            </p:stCondLst>
                            <p:childTnLst>
                              <p:par>
                                <p:cTn id="62" presetID="22" presetClass="entr" presetSubtype="2"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right)">
                                      <p:cBhvr>
                                        <p:cTn id="64" dur="1000"/>
                                        <p:tgtEl>
                                          <p:spTgt spid="18"/>
                                        </p:tgtEl>
                                      </p:cBhvr>
                                    </p:animEffect>
                                  </p:childTnLst>
                                </p:cTn>
                              </p:par>
                            </p:childTnLst>
                          </p:cTn>
                        </p:par>
                        <p:par>
                          <p:cTn id="65" fill="hold">
                            <p:stCondLst>
                              <p:cond delay="9500"/>
                            </p:stCondLst>
                            <p:childTnLst>
                              <p:par>
                                <p:cTn id="66" presetID="22" presetClass="entr" presetSubtype="2"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right)">
                                      <p:cBhvr>
                                        <p:cTn id="68" dur="1000"/>
                                        <p:tgtEl>
                                          <p:spTgt spid="19"/>
                                        </p:tgtEl>
                                      </p:cBhvr>
                                    </p:animEffect>
                                  </p:childTnLst>
                                </p:cTn>
                              </p:par>
                            </p:childTnLst>
                          </p:cTn>
                        </p:par>
                        <p:par>
                          <p:cTn id="69" fill="hold">
                            <p:stCondLst>
                              <p:cond delay="10500"/>
                            </p:stCondLst>
                            <p:childTnLst>
                              <p:par>
                                <p:cTn id="70" presetID="22" presetClass="entr" presetSubtype="2" fill="hold" grpId="0" nodeType="after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wipe(right)">
                                      <p:cBhvr>
                                        <p:cTn id="72" dur="1000"/>
                                        <p:tgtEl>
                                          <p:spTgt spid="20"/>
                                        </p:tgtEl>
                                      </p:cBhvr>
                                    </p:animEffect>
                                  </p:childTnLst>
                                </p:cTn>
                              </p:par>
                            </p:childTnLst>
                          </p:cTn>
                        </p:par>
                        <p:par>
                          <p:cTn id="73" fill="hold">
                            <p:stCondLst>
                              <p:cond delay="11500"/>
                            </p:stCondLst>
                            <p:childTnLst>
                              <p:par>
                                <p:cTn id="74" presetID="22" presetClass="entr" presetSubtype="2" fill="hold" grpId="1"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wipe(right)">
                                      <p:cBhvr>
                                        <p:cTn id="76" dur="1000"/>
                                        <p:tgtEl>
                                          <p:spTgt spid="21"/>
                                        </p:tgtEl>
                                      </p:cBhvr>
                                    </p:animEffect>
                                  </p:childTnLst>
                                </p:cTn>
                              </p:par>
                            </p:childTnLst>
                          </p:cTn>
                        </p:par>
                        <p:par>
                          <p:cTn id="77" fill="hold">
                            <p:stCondLst>
                              <p:cond delay="12500"/>
                            </p:stCondLst>
                            <p:childTnLst>
                              <p:par>
                                <p:cTn id="78" presetID="22" presetClass="entr" presetSubtype="2" fill="hold" grpId="0"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wipe(right)">
                                      <p:cBhvr>
                                        <p:cTn id="80" dur="1000"/>
                                        <p:tgtEl>
                                          <p:spTgt spid="22"/>
                                        </p:tgtEl>
                                      </p:cBhvr>
                                    </p:animEffect>
                                  </p:childTnLst>
                                </p:cTn>
                              </p:par>
                            </p:childTnLst>
                          </p:cTn>
                        </p:par>
                        <p:par>
                          <p:cTn id="81" fill="hold">
                            <p:stCondLst>
                              <p:cond delay="13500"/>
                            </p:stCondLst>
                            <p:childTnLst>
                              <p:par>
                                <p:cTn id="82" presetID="22" presetClass="entr" presetSubtype="2" fill="hold" grpId="0" nodeType="after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wipe(right)">
                                      <p:cBhvr>
                                        <p:cTn id="84" dur="1000"/>
                                        <p:tgtEl>
                                          <p:spTgt spid="23"/>
                                        </p:tgtEl>
                                      </p:cBhvr>
                                    </p:animEffect>
                                  </p:childTnLst>
                                </p:cTn>
                              </p:par>
                            </p:childTnLst>
                          </p:cTn>
                        </p:par>
                        <p:par>
                          <p:cTn id="85" fill="hold">
                            <p:stCondLst>
                              <p:cond delay="14500"/>
                            </p:stCondLst>
                            <p:childTnLst>
                              <p:par>
                                <p:cTn id="86" presetID="22" presetClass="entr" presetSubtype="2"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right)">
                                      <p:cBhvr>
                                        <p:cTn id="88" dur="1000"/>
                                        <p:tgtEl>
                                          <p:spTgt spid="24"/>
                                        </p:tgtEl>
                                      </p:cBhvr>
                                    </p:animEffect>
                                  </p:childTnLst>
                                </p:cTn>
                              </p:par>
                            </p:childTnLst>
                          </p:cTn>
                        </p:par>
                        <p:par>
                          <p:cTn id="89" fill="hold">
                            <p:stCondLst>
                              <p:cond delay="15500"/>
                            </p:stCondLst>
                            <p:childTnLst>
                              <p:par>
                                <p:cTn id="90" presetID="22" presetClass="entr" presetSubtype="2" fill="hold" grpId="0" nodeType="after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wipe(right)">
                                      <p:cBhvr>
                                        <p:cTn id="9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p:bldP spid="6" grpId="1" animBg="1"/>
      <p:bldP spid="7" grpId="0" animBg="1"/>
      <p:bldP spid="8" grpId="0" animBg="1"/>
      <p:bldP spid="9" grpId="0" animBg="1"/>
      <p:bldP spid="10" grpId="0" animBg="1"/>
      <p:bldP spid="11" grpId="0"/>
      <p:bldP spid="11" grpId="1" animBg="1"/>
      <p:bldP spid="12" grpId="0" animBg="1"/>
      <p:bldP spid="13" grpId="0" animBg="1"/>
      <p:bldP spid="14" grpId="0" animBg="1"/>
      <p:bldP spid="15" grpId="0" animBg="1"/>
      <p:bldP spid="16" grpId="0"/>
      <p:bldP spid="16" grpId="1" animBg="1"/>
      <p:bldP spid="17" grpId="0" animBg="1"/>
      <p:bldP spid="18" grpId="0" animBg="1"/>
      <p:bldP spid="19" grpId="0" animBg="1"/>
      <p:bldP spid="20" grpId="0" animBg="1"/>
      <p:bldP spid="21" grpId="0"/>
      <p:bldP spid="21" grpId="1" animBg="1"/>
      <p:bldP spid="22" grpId="0" animBg="1"/>
      <p:bldP spid="23" grpId="0" animBg="1"/>
      <p:bldP spid="24" grpId="0" animBg="1"/>
      <p:bldP spid="25" grpId="0" animBg="1"/>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B0E1A"/>
        </a:solidFill>
        <a:effectLst/>
      </p:bgPr>
    </p:bg>
    <p:spTree>
      <p:nvGrpSpPr>
        <p:cNvPr id="1" name=""/>
        <p:cNvGrpSpPr/>
        <p:nvPr/>
      </p:nvGrpSpPr>
      <p:grpSpPr>
        <a:xfrm>
          <a:off x="0" y="0"/>
          <a:ext cx="0" cy="0"/>
          <a:chOff x="0" y="0"/>
          <a:chExt cx="0" cy="0"/>
        </a:xfrm>
      </p:grpSpPr>
      <p:sp>
        <p:nvSpPr>
          <p:cNvPr id="2" name="GRAD::blueViolet3::blob::s"/>
          <p:cNvSpPr/>
          <p:nvPr/>
        </p:nvSpPr>
        <p:spPr>
          <a:xfrm>
            <a:off x="6858000" y="3200400"/>
            <a:ext cx="5029200" cy="5029200"/>
          </a:xfrm>
          <a:prstGeom prst="ellipse">
            <a:avLst/>
          </a:prstGeom>
          <a:gradFill rotWithShape="1">
            <a:gsLst>
              <a:gs pos="0">
                <a:srgbClr val="4F7CFF">
                  <a:alpha val="42000"/>
                </a:srgbClr>
              </a:gs>
              <a:gs pos="55000">
                <a:srgbClr val="8B5CF6">
                  <a:alpha val="16000"/>
                </a:srgbClr>
              </a:gs>
              <a:gs pos="100000">
                <a:srgbClr val="8B5CF6">
                  <a:alpha val="0"/>
                </a:srgbClr>
              </a:gs>
            </a:gsLst>
            <a:path path="circle">
              <a:fillToRect l="50000" t="50000" r="50000" b="50000"/>
            </a:path>
          </a:gradFill>
          <a:ln/>
          <a:effectLst>
            <a:softEdge rad="380000"/>
          </a:effectLst>
        </p:spPr>
        <p:txBody>
          <a:bodyPr/>
          <a:lstStyle/>
          <a:p>
            <a:endParaRPr lang="fr-FR"/>
          </a:p>
        </p:txBody>
      </p:sp>
      <p:sp>
        <p:nvSpPr>
          <p:cNvPr id="3" name="ANIM::0::ht"/>
          <p:cNvSpPr/>
          <p:nvPr/>
        </p:nvSpPr>
        <p:spPr>
          <a:xfrm>
            <a:off x="502920" y="457200"/>
            <a:ext cx="6400800" cy="54864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Functional Requirements</a:t>
            </a:r>
            <a:endParaRPr lang="en-US" sz="2600"/>
          </a:p>
        </p:txBody>
      </p:sp>
      <p:sp>
        <p:nvSpPr>
          <p:cNvPr id="4" name="Text 2"/>
          <p:cNvSpPr/>
          <p:nvPr/>
        </p:nvSpPr>
        <p:spPr>
          <a:xfrm>
            <a:off x="521208" y="987552"/>
            <a:ext cx="6400800" cy="27432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Detailed features of the mobile application, web portal, and backend server database.</a:t>
            </a:r>
            <a:endParaRPr lang="en-US" sz="1300"/>
          </a:p>
        </p:txBody>
      </p:sp>
      <p:sp>
        <p:nvSpPr>
          <p:cNvPr id="5" name="GRAD::blueViolet::panel::u"/>
          <p:cNvSpPr/>
          <p:nvPr/>
        </p:nvSpPr>
        <p:spPr>
          <a:xfrm>
            <a:off x="530352" y="1417410"/>
            <a:ext cx="2606040" cy="3063240"/>
          </a:xfrm>
          <a:prstGeom prst="roundRect">
            <a:avLst>
              <a:gd name="adj" fmla="val 6316"/>
            </a:avLst>
          </a:prstGeom>
          <a:gradFill rotWithShape="1">
            <a:gsLst>
              <a:gs pos="0">
                <a:srgbClr val="4F7CFF"/>
              </a:gs>
              <a:gs pos="100000">
                <a:srgbClr val="8B5CF6"/>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6" name="Shape 4"/>
          <p:cNvSpPr/>
          <p:nvPr/>
        </p:nvSpPr>
        <p:spPr>
          <a:xfrm>
            <a:off x="731520" y="1614006"/>
            <a:ext cx="640080" cy="640080"/>
          </a:xfrm>
          <a:prstGeom prst="roundRect">
            <a:avLst>
              <a:gd name="adj" fmla="val 22857"/>
            </a:avLst>
          </a:prstGeom>
          <a:solidFill>
            <a:srgbClr val="FFFFFF">
              <a:alpha val="20000"/>
            </a:srgbClr>
          </a:solidFill>
          <a:ln/>
        </p:spPr>
        <p:txBody>
          <a:bodyPr/>
          <a:lstStyle/>
          <a:p>
            <a:endParaRPr lang="fr-FR"/>
          </a:p>
        </p:txBody>
      </p:sp>
      <p:sp>
        <p:nvSpPr>
          <p:cNvPr id="7" name="Text 5"/>
          <p:cNvSpPr/>
          <p:nvPr/>
        </p:nvSpPr>
        <p:spPr>
          <a:xfrm>
            <a:off x="731520" y="1600200"/>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8" name="Text 6"/>
          <p:cNvSpPr/>
          <p:nvPr/>
        </p:nvSpPr>
        <p:spPr>
          <a:xfrm>
            <a:off x="736092" y="2240280"/>
            <a:ext cx="2194560" cy="457200"/>
          </a:xfrm>
          <a:prstGeom prst="rect">
            <a:avLst/>
          </a:prstGeom>
          <a:noFill/>
          <a:ln/>
        </p:spPr>
        <p:txBody>
          <a:bodyPr wrap="square" lIns="0" tIns="0" rIns="0" bIns="0" rtlCol="0" anchor="ctr"/>
          <a:lstStyle/>
          <a:p>
            <a:pPr marL="0" indent="0" algn="l">
              <a:buNone/>
            </a:pPr>
            <a:r>
              <a:rPr lang="en-US" sz="1600" b="1">
                <a:solidFill>
                  <a:srgbClr val="FFFFFF"/>
                </a:solidFill>
                <a:latin typeface="Sora"/>
                <a:ea typeface="Sora"/>
                <a:cs typeface="Sora"/>
              </a:rPr>
              <a:t>Mobile App Features</a:t>
            </a:r>
            <a:endParaRPr lang="en-US" sz="1600"/>
          </a:p>
        </p:txBody>
      </p:sp>
      <p:sp>
        <p:nvSpPr>
          <p:cNvPr id="9" name="Text 7"/>
          <p:cNvSpPr/>
          <p:nvPr/>
        </p:nvSpPr>
        <p:spPr>
          <a:xfrm>
            <a:off x="736092" y="2512800"/>
            <a:ext cx="2194560" cy="1464750"/>
          </a:xfrm>
          <a:prstGeom prst="rect">
            <a:avLst/>
          </a:prstGeom>
          <a:noFill/>
          <a:ln/>
        </p:spPr>
        <p:txBody>
          <a:bodyPr wrap="square" lIns="0" tIns="0" rIns="0" bIns="0" rtlCol="0" anchor="ctr"/>
          <a:lstStyle/>
          <a:p>
            <a:pPr marL="228600" indent="-228600">
              <a:buSzPct val="100000"/>
              <a:buChar char="•"/>
            </a:pPr>
            <a:r>
              <a:rPr lang="en-US" sz="1050">
                <a:solidFill>
                  <a:schemeClr val="bg1">
                    <a:lumMod val="95000"/>
                  </a:schemeClr>
                </a:solidFill>
                <a:latin typeface="Inter"/>
                <a:ea typeface="Inter"/>
                <a:cs typeface="Inter"/>
              </a:rPr>
              <a:t>OTP login and user account settings.</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Interactive calendars for attendance.</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Scanning documents using the phone camera.</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Creating and sending warning templates.</a:t>
            </a:r>
            <a:endParaRPr lang="en-US" sz="1050">
              <a:solidFill>
                <a:schemeClr val="bg1">
                  <a:lumMod val="95000"/>
                </a:schemeClr>
              </a:solidFill>
            </a:endParaRPr>
          </a:p>
        </p:txBody>
      </p:sp>
      <p:sp>
        <p:nvSpPr>
          <p:cNvPr id="10" name="GRAD::cyanEmerald::panel::v"/>
          <p:cNvSpPr/>
          <p:nvPr/>
        </p:nvSpPr>
        <p:spPr>
          <a:xfrm>
            <a:off x="3364992" y="1417320"/>
            <a:ext cx="2606040" cy="3049524"/>
          </a:xfrm>
          <a:prstGeom prst="roundRect">
            <a:avLst>
              <a:gd name="adj" fmla="val 6316"/>
            </a:avLst>
          </a:prstGeom>
          <a:gradFill rotWithShape="1">
            <a:gsLst>
              <a:gs pos="0">
                <a:srgbClr val="22D3EE"/>
              </a:gs>
              <a:gs pos="100000">
                <a:srgbClr val="10B981"/>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11" name="Shape 9"/>
          <p:cNvSpPr/>
          <p:nvPr/>
        </p:nvSpPr>
        <p:spPr>
          <a:xfrm>
            <a:off x="3593592" y="1612926"/>
            <a:ext cx="640080" cy="640080"/>
          </a:xfrm>
          <a:prstGeom prst="roundRect">
            <a:avLst>
              <a:gd name="adj" fmla="val 22857"/>
            </a:avLst>
          </a:prstGeom>
          <a:solidFill>
            <a:srgbClr val="FFFFFF">
              <a:alpha val="20000"/>
            </a:srgbClr>
          </a:solidFill>
          <a:ln/>
        </p:spPr>
        <p:txBody>
          <a:bodyPr/>
          <a:lstStyle/>
          <a:p>
            <a:endParaRPr lang="fr-FR"/>
          </a:p>
        </p:txBody>
      </p:sp>
      <p:sp>
        <p:nvSpPr>
          <p:cNvPr id="12" name="Text 10"/>
          <p:cNvSpPr/>
          <p:nvPr/>
        </p:nvSpPr>
        <p:spPr>
          <a:xfrm>
            <a:off x="3593592" y="1600200"/>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13" name="Text 11"/>
          <p:cNvSpPr/>
          <p:nvPr/>
        </p:nvSpPr>
        <p:spPr>
          <a:xfrm>
            <a:off x="3577590" y="2216475"/>
            <a:ext cx="2194560" cy="457200"/>
          </a:xfrm>
          <a:prstGeom prst="rect">
            <a:avLst/>
          </a:prstGeom>
          <a:noFill/>
          <a:ln/>
        </p:spPr>
        <p:txBody>
          <a:bodyPr wrap="square" lIns="0" tIns="0" rIns="0" bIns="0" rtlCol="0" anchor="ctr"/>
          <a:lstStyle/>
          <a:p>
            <a:pPr marL="0" indent="0" algn="l">
              <a:buNone/>
            </a:pPr>
            <a:r>
              <a:rPr lang="en-US" sz="1600" b="1">
                <a:solidFill>
                  <a:srgbClr val="FFFFFF"/>
                </a:solidFill>
                <a:latin typeface="Sora"/>
                <a:ea typeface="Sora"/>
                <a:cs typeface="Sora"/>
              </a:rPr>
              <a:t>Web Portal Features</a:t>
            </a:r>
            <a:endParaRPr lang="en-US" sz="1600"/>
          </a:p>
        </p:txBody>
      </p:sp>
      <p:sp>
        <p:nvSpPr>
          <p:cNvPr id="14" name="Text 12"/>
          <p:cNvSpPr/>
          <p:nvPr/>
        </p:nvSpPr>
        <p:spPr>
          <a:xfrm>
            <a:off x="3570732" y="2395728"/>
            <a:ext cx="2194560" cy="1703322"/>
          </a:xfrm>
          <a:prstGeom prst="rect">
            <a:avLst/>
          </a:prstGeom>
          <a:noFill/>
          <a:ln/>
        </p:spPr>
        <p:txBody>
          <a:bodyPr wrap="square" lIns="0" tIns="0" rIns="0" bIns="0" rtlCol="0" anchor="ctr"/>
          <a:lstStyle/>
          <a:p>
            <a:pPr marL="228600" indent="-228600">
              <a:buSzPct val="100000"/>
              <a:buChar char="•"/>
            </a:pPr>
            <a:r>
              <a:rPr lang="en-US" sz="1050">
                <a:solidFill>
                  <a:schemeClr val="bg1">
                    <a:lumMod val="95000"/>
                  </a:schemeClr>
                </a:solidFill>
                <a:latin typeface="Inter"/>
                <a:ea typeface="Inter"/>
                <a:cs typeface="Inter"/>
              </a:rPr>
              <a:t>Central page to manage client companies.</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Searchable list of all employees.</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Exporting attendance logs to Excel sheets.</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Viewing PDF files directly on the screen.</a:t>
            </a:r>
            <a:endParaRPr lang="en-US" sz="1050">
              <a:solidFill>
                <a:schemeClr val="bg1">
                  <a:lumMod val="95000"/>
                </a:schemeClr>
              </a:solidFill>
            </a:endParaRPr>
          </a:p>
        </p:txBody>
      </p:sp>
      <p:sp>
        <p:nvSpPr>
          <p:cNvPr id="15" name="GRAD::coralOrange::panel::w"/>
          <p:cNvSpPr/>
          <p:nvPr/>
        </p:nvSpPr>
        <p:spPr>
          <a:xfrm>
            <a:off x="6240780" y="1415808"/>
            <a:ext cx="2606040" cy="3049524"/>
          </a:xfrm>
          <a:prstGeom prst="roundRect">
            <a:avLst>
              <a:gd name="adj" fmla="val 6316"/>
            </a:avLst>
          </a:prstGeom>
          <a:gradFill rotWithShape="1">
            <a:gsLst>
              <a:gs pos="0">
                <a:srgbClr val="FF6B6B"/>
              </a:gs>
              <a:gs pos="100000">
                <a:srgbClr val="F59E0B"/>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16" name="Shape 14"/>
          <p:cNvSpPr/>
          <p:nvPr/>
        </p:nvSpPr>
        <p:spPr>
          <a:xfrm>
            <a:off x="6455664" y="1614006"/>
            <a:ext cx="640080" cy="640080"/>
          </a:xfrm>
          <a:prstGeom prst="roundRect">
            <a:avLst>
              <a:gd name="adj" fmla="val 22857"/>
            </a:avLst>
          </a:prstGeom>
          <a:solidFill>
            <a:srgbClr val="FFFFFF">
              <a:alpha val="20000"/>
            </a:srgbClr>
          </a:solidFill>
          <a:ln/>
        </p:spPr>
        <p:txBody>
          <a:bodyPr/>
          <a:lstStyle/>
          <a:p>
            <a:endParaRPr lang="fr-FR"/>
          </a:p>
        </p:txBody>
      </p:sp>
      <p:sp>
        <p:nvSpPr>
          <p:cNvPr id="17" name="Text 15"/>
          <p:cNvSpPr/>
          <p:nvPr/>
        </p:nvSpPr>
        <p:spPr>
          <a:xfrm>
            <a:off x="6455664" y="1610496"/>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18" name="Text 16"/>
          <p:cNvSpPr/>
          <p:nvPr/>
        </p:nvSpPr>
        <p:spPr>
          <a:xfrm>
            <a:off x="6446520" y="2200275"/>
            <a:ext cx="2194560" cy="457200"/>
          </a:xfrm>
          <a:prstGeom prst="rect">
            <a:avLst/>
          </a:prstGeom>
          <a:noFill/>
          <a:ln/>
        </p:spPr>
        <p:txBody>
          <a:bodyPr wrap="square" lIns="0" tIns="0" rIns="0" bIns="0" rtlCol="0" anchor="ctr"/>
          <a:lstStyle/>
          <a:p>
            <a:pPr marL="0" indent="0" algn="l">
              <a:buNone/>
            </a:pPr>
            <a:r>
              <a:rPr lang="en-US" sz="1600" b="1">
                <a:solidFill>
                  <a:srgbClr val="FFFFFF"/>
                </a:solidFill>
                <a:latin typeface="Sora"/>
                <a:ea typeface="Sora"/>
                <a:cs typeface="Sora"/>
              </a:rPr>
              <a:t>Database Features</a:t>
            </a:r>
            <a:endParaRPr lang="en-US" sz="1600"/>
          </a:p>
        </p:txBody>
      </p:sp>
      <p:sp>
        <p:nvSpPr>
          <p:cNvPr id="19" name="Text 17"/>
          <p:cNvSpPr/>
          <p:nvPr/>
        </p:nvSpPr>
        <p:spPr>
          <a:xfrm>
            <a:off x="6446520" y="2439414"/>
            <a:ext cx="2194560" cy="1835658"/>
          </a:xfrm>
          <a:prstGeom prst="rect">
            <a:avLst/>
          </a:prstGeom>
          <a:noFill/>
          <a:ln/>
        </p:spPr>
        <p:txBody>
          <a:bodyPr wrap="square" lIns="0" tIns="0" rIns="0" bIns="0" rtlCol="0" anchor="ctr"/>
          <a:lstStyle/>
          <a:p>
            <a:pPr marL="228600" indent="-228600">
              <a:buSzPct val="100000"/>
              <a:buChar char="•"/>
            </a:pPr>
            <a:r>
              <a:rPr lang="en-US" sz="1050">
                <a:solidFill>
                  <a:schemeClr val="bg1">
                    <a:lumMod val="95000"/>
                  </a:schemeClr>
                </a:solidFill>
                <a:latin typeface="Inter"/>
                <a:ea typeface="Inter"/>
                <a:cs typeface="Inter"/>
              </a:rPr>
              <a:t>Verifying OTP codes for secure sessions.</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Linking tables together (companies, workers).</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Row Level Security (RLS) to keep data safe and </a:t>
            </a:r>
            <a:r>
              <a:rPr lang="en-US" sz="1050" err="1">
                <a:solidFill>
                  <a:schemeClr val="bg1">
                    <a:lumMod val="95000"/>
                  </a:schemeClr>
                </a:solidFill>
                <a:latin typeface="Inter"/>
                <a:ea typeface="Inter"/>
                <a:cs typeface="Inter"/>
              </a:rPr>
              <a:t>seperated</a:t>
            </a:r>
            <a:r>
              <a:rPr lang="en-US" sz="1050">
                <a:solidFill>
                  <a:schemeClr val="bg1">
                    <a:lumMod val="95000"/>
                  </a:schemeClr>
                </a:solidFill>
                <a:latin typeface="Inter"/>
                <a:ea typeface="Inter"/>
                <a:cs typeface="Inter"/>
              </a:rPr>
              <a:t>.</a:t>
            </a:r>
            <a:endParaRPr lang="en-US" sz="1050">
              <a:solidFill>
                <a:schemeClr val="bg1">
                  <a:lumMod val="95000"/>
                </a:schemeClr>
              </a:solidFill>
            </a:endParaRPr>
          </a:p>
          <a:p>
            <a:pPr marL="228600" indent="-228600">
              <a:buSzPct val="100000"/>
              <a:buChar char="•"/>
            </a:pPr>
            <a:r>
              <a:rPr lang="en-US" sz="1050">
                <a:solidFill>
                  <a:schemeClr val="bg1">
                    <a:lumMod val="95000"/>
                  </a:schemeClr>
                </a:solidFill>
                <a:latin typeface="Inter"/>
                <a:ea typeface="Inter"/>
                <a:cs typeface="Inter"/>
              </a:rPr>
              <a:t>WebSocket triggers for instant chat updates.</a:t>
            </a:r>
            <a:endParaRPr lang="en-US" sz="1050">
              <a:solidFill>
                <a:schemeClr val="bg1">
                  <a:lumMod val="95000"/>
                </a:schemeClr>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0-#ppt_w/2"/>
                                          </p:val>
                                        </p:tav>
                                        <p:tav tm="100000">
                                          <p:val>
                                            <p:strVal val="#ppt_x"/>
                                          </p:val>
                                        </p:tav>
                                      </p:tavLst>
                                    </p:anim>
                                    <p:anim calcmode="lin" valueType="num">
                                      <p:cBhvr additive="base">
                                        <p:cTn id="8" dur="1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500" fill="hold"/>
                                        <p:tgtEl>
                                          <p:spTgt spid="5"/>
                                        </p:tgtEl>
                                        <p:attrNameLst>
                                          <p:attrName>ppt_x</p:attrName>
                                        </p:attrNameLst>
                                      </p:cBhvr>
                                      <p:tavLst>
                                        <p:tav tm="0">
                                          <p:val>
                                            <p:strVal val="#ppt_x"/>
                                          </p:val>
                                        </p:tav>
                                        <p:tav tm="100000">
                                          <p:val>
                                            <p:strVal val="#ppt_x"/>
                                          </p:val>
                                        </p:tav>
                                      </p:tavLst>
                                    </p:anim>
                                    <p:anim calcmode="lin" valueType="num">
                                      <p:cBhvr additive="base">
                                        <p:cTn id="12" dur="1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500" fill="hold"/>
                                        <p:tgtEl>
                                          <p:spTgt spid="6"/>
                                        </p:tgtEl>
                                        <p:attrNameLst>
                                          <p:attrName>ppt_x</p:attrName>
                                        </p:attrNameLst>
                                      </p:cBhvr>
                                      <p:tavLst>
                                        <p:tav tm="0">
                                          <p:val>
                                            <p:strVal val="#ppt_x"/>
                                          </p:val>
                                        </p:tav>
                                        <p:tav tm="100000">
                                          <p:val>
                                            <p:strVal val="#ppt_x"/>
                                          </p:val>
                                        </p:tav>
                                      </p:tavLst>
                                    </p:anim>
                                    <p:anim calcmode="lin" valueType="num">
                                      <p:cBhvr additive="base">
                                        <p:cTn id="16" dur="1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500" fill="hold"/>
                                        <p:tgtEl>
                                          <p:spTgt spid="7"/>
                                        </p:tgtEl>
                                        <p:attrNameLst>
                                          <p:attrName>ppt_x</p:attrName>
                                        </p:attrNameLst>
                                      </p:cBhvr>
                                      <p:tavLst>
                                        <p:tav tm="0">
                                          <p:val>
                                            <p:strVal val="#ppt_x"/>
                                          </p:val>
                                        </p:tav>
                                        <p:tav tm="100000">
                                          <p:val>
                                            <p:strVal val="#ppt_x"/>
                                          </p:val>
                                        </p:tav>
                                      </p:tavLst>
                                    </p:anim>
                                    <p:anim calcmode="lin" valueType="num">
                                      <p:cBhvr additive="base">
                                        <p:cTn id="20" dur="1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500" fill="hold"/>
                                        <p:tgtEl>
                                          <p:spTgt spid="8"/>
                                        </p:tgtEl>
                                        <p:attrNameLst>
                                          <p:attrName>ppt_x</p:attrName>
                                        </p:attrNameLst>
                                      </p:cBhvr>
                                      <p:tavLst>
                                        <p:tav tm="0">
                                          <p:val>
                                            <p:strVal val="#ppt_x"/>
                                          </p:val>
                                        </p:tav>
                                        <p:tav tm="100000">
                                          <p:val>
                                            <p:strVal val="#ppt_x"/>
                                          </p:val>
                                        </p:tav>
                                      </p:tavLst>
                                    </p:anim>
                                    <p:anim calcmode="lin" valueType="num">
                                      <p:cBhvr additive="base">
                                        <p:cTn id="24" dur="1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1500" fill="hold"/>
                                        <p:tgtEl>
                                          <p:spTgt spid="9"/>
                                        </p:tgtEl>
                                        <p:attrNameLst>
                                          <p:attrName>ppt_x</p:attrName>
                                        </p:attrNameLst>
                                      </p:cBhvr>
                                      <p:tavLst>
                                        <p:tav tm="0">
                                          <p:val>
                                            <p:strVal val="#ppt_x"/>
                                          </p:val>
                                        </p:tav>
                                        <p:tav tm="100000">
                                          <p:val>
                                            <p:strVal val="#ppt_x"/>
                                          </p:val>
                                        </p:tav>
                                      </p:tavLst>
                                    </p:anim>
                                    <p:anim calcmode="lin" valueType="num">
                                      <p:cBhvr additive="base">
                                        <p:cTn id="28" dur="1500" fill="hold"/>
                                        <p:tgtEl>
                                          <p:spTgt spid="9"/>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 presetClass="entr" presetSubtype="4"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1500" fill="hold"/>
                                        <p:tgtEl>
                                          <p:spTgt spid="10"/>
                                        </p:tgtEl>
                                        <p:attrNameLst>
                                          <p:attrName>ppt_x</p:attrName>
                                        </p:attrNameLst>
                                      </p:cBhvr>
                                      <p:tavLst>
                                        <p:tav tm="0">
                                          <p:val>
                                            <p:strVal val="#ppt_x"/>
                                          </p:val>
                                        </p:tav>
                                        <p:tav tm="100000">
                                          <p:val>
                                            <p:strVal val="#ppt_x"/>
                                          </p:val>
                                        </p:tav>
                                      </p:tavLst>
                                    </p:anim>
                                    <p:anim calcmode="lin" valueType="num">
                                      <p:cBhvr additive="base">
                                        <p:cTn id="33" dur="1500" fill="hold"/>
                                        <p:tgtEl>
                                          <p:spTgt spid="10"/>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1500" fill="hold"/>
                                        <p:tgtEl>
                                          <p:spTgt spid="11"/>
                                        </p:tgtEl>
                                        <p:attrNameLst>
                                          <p:attrName>ppt_x</p:attrName>
                                        </p:attrNameLst>
                                      </p:cBhvr>
                                      <p:tavLst>
                                        <p:tav tm="0">
                                          <p:val>
                                            <p:strVal val="#ppt_x"/>
                                          </p:val>
                                        </p:tav>
                                        <p:tav tm="100000">
                                          <p:val>
                                            <p:strVal val="#ppt_x"/>
                                          </p:val>
                                        </p:tav>
                                      </p:tavLst>
                                    </p:anim>
                                    <p:anim calcmode="lin" valueType="num">
                                      <p:cBhvr additive="base">
                                        <p:cTn id="38" dur="1500" fill="hold"/>
                                        <p:tgtEl>
                                          <p:spTgt spid="11"/>
                                        </p:tgtEl>
                                        <p:attrNameLst>
                                          <p:attrName>ppt_y</p:attrName>
                                        </p:attrNameLst>
                                      </p:cBhvr>
                                      <p:tavLst>
                                        <p:tav tm="0">
                                          <p:val>
                                            <p:strVal val="1+#ppt_h/2"/>
                                          </p:val>
                                        </p:tav>
                                        <p:tav tm="100000">
                                          <p:val>
                                            <p:strVal val="#ppt_y"/>
                                          </p:val>
                                        </p:tav>
                                      </p:tavLst>
                                    </p:anim>
                                  </p:childTnLst>
                                </p:cTn>
                              </p:par>
                            </p:childTnLst>
                          </p:cTn>
                        </p:par>
                        <p:par>
                          <p:cTn id="39" fill="hold">
                            <p:stCondLst>
                              <p:cond delay="4500"/>
                            </p:stCondLst>
                            <p:childTnLst>
                              <p:par>
                                <p:cTn id="40" presetID="2" presetClass="entr" presetSubtype="4"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1500" fill="hold"/>
                                        <p:tgtEl>
                                          <p:spTgt spid="12"/>
                                        </p:tgtEl>
                                        <p:attrNameLst>
                                          <p:attrName>ppt_x</p:attrName>
                                        </p:attrNameLst>
                                      </p:cBhvr>
                                      <p:tavLst>
                                        <p:tav tm="0">
                                          <p:val>
                                            <p:strVal val="#ppt_x"/>
                                          </p:val>
                                        </p:tav>
                                        <p:tav tm="100000">
                                          <p:val>
                                            <p:strVal val="#ppt_x"/>
                                          </p:val>
                                        </p:tav>
                                      </p:tavLst>
                                    </p:anim>
                                    <p:anim calcmode="lin" valueType="num">
                                      <p:cBhvr additive="base">
                                        <p:cTn id="43" dur="1500" fill="hold"/>
                                        <p:tgtEl>
                                          <p:spTgt spid="12"/>
                                        </p:tgtEl>
                                        <p:attrNameLst>
                                          <p:attrName>ppt_y</p:attrName>
                                        </p:attrNameLst>
                                      </p:cBhvr>
                                      <p:tavLst>
                                        <p:tav tm="0">
                                          <p:val>
                                            <p:strVal val="1+#ppt_h/2"/>
                                          </p:val>
                                        </p:tav>
                                        <p:tav tm="100000">
                                          <p:val>
                                            <p:strVal val="#ppt_y"/>
                                          </p:val>
                                        </p:tav>
                                      </p:tavLst>
                                    </p:anim>
                                  </p:childTnLst>
                                </p:cTn>
                              </p:par>
                            </p:childTnLst>
                          </p:cTn>
                        </p:par>
                        <p:par>
                          <p:cTn id="44" fill="hold">
                            <p:stCondLst>
                              <p:cond delay="6000"/>
                            </p:stCondLst>
                            <p:childTnLst>
                              <p:par>
                                <p:cTn id="45" presetID="2" presetClass="entr" presetSubtype="4"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1500" fill="hold"/>
                                        <p:tgtEl>
                                          <p:spTgt spid="13"/>
                                        </p:tgtEl>
                                        <p:attrNameLst>
                                          <p:attrName>ppt_x</p:attrName>
                                        </p:attrNameLst>
                                      </p:cBhvr>
                                      <p:tavLst>
                                        <p:tav tm="0">
                                          <p:val>
                                            <p:strVal val="#ppt_x"/>
                                          </p:val>
                                        </p:tav>
                                        <p:tav tm="100000">
                                          <p:val>
                                            <p:strVal val="#ppt_x"/>
                                          </p:val>
                                        </p:tav>
                                      </p:tavLst>
                                    </p:anim>
                                    <p:anim calcmode="lin" valueType="num">
                                      <p:cBhvr additive="base">
                                        <p:cTn id="48" dur="1500" fill="hold"/>
                                        <p:tgtEl>
                                          <p:spTgt spid="13"/>
                                        </p:tgtEl>
                                        <p:attrNameLst>
                                          <p:attrName>ppt_y</p:attrName>
                                        </p:attrNameLst>
                                      </p:cBhvr>
                                      <p:tavLst>
                                        <p:tav tm="0">
                                          <p:val>
                                            <p:strVal val="1+#ppt_h/2"/>
                                          </p:val>
                                        </p:tav>
                                        <p:tav tm="100000">
                                          <p:val>
                                            <p:strVal val="#ppt_y"/>
                                          </p:val>
                                        </p:tav>
                                      </p:tavLst>
                                    </p:anim>
                                  </p:childTnLst>
                                </p:cTn>
                              </p:par>
                            </p:childTnLst>
                          </p:cTn>
                        </p:par>
                        <p:par>
                          <p:cTn id="49" fill="hold">
                            <p:stCondLst>
                              <p:cond delay="7500"/>
                            </p:stCondLst>
                            <p:childTnLst>
                              <p:par>
                                <p:cTn id="50" presetID="2" presetClass="entr" presetSubtype="4"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1500" fill="hold"/>
                                        <p:tgtEl>
                                          <p:spTgt spid="14"/>
                                        </p:tgtEl>
                                        <p:attrNameLst>
                                          <p:attrName>ppt_x</p:attrName>
                                        </p:attrNameLst>
                                      </p:cBhvr>
                                      <p:tavLst>
                                        <p:tav tm="0">
                                          <p:val>
                                            <p:strVal val="#ppt_x"/>
                                          </p:val>
                                        </p:tav>
                                        <p:tav tm="100000">
                                          <p:val>
                                            <p:strVal val="#ppt_x"/>
                                          </p:val>
                                        </p:tav>
                                      </p:tavLst>
                                    </p:anim>
                                    <p:anim calcmode="lin" valueType="num">
                                      <p:cBhvr additive="base">
                                        <p:cTn id="53" dur="1500" fill="hold"/>
                                        <p:tgtEl>
                                          <p:spTgt spid="14"/>
                                        </p:tgtEl>
                                        <p:attrNameLst>
                                          <p:attrName>ppt_y</p:attrName>
                                        </p:attrNameLst>
                                      </p:cBhvr>
                                      <p:tavLst>
                                        <p:tav tm="0">
                                          <p:val>
                                            <p:strVal val="1+#ppt_h/2"/>
                                          </p:val>
                                        </p:tav>
                                        <p:tav tm="100000">
                                          <p:val>
                                            <p:strVal val="#ppt_y"/>
                                          </p:val>
                                        </p:tav>
                                      </p:tavLst>
                                    </p:anim>
                                  </p:childTnLst>
                                </p:cTn>
                              </p:par>
                            </p:childTnLst>
                          </p:cTn>
                        </p:par>
                        <p:par>
                          <p:cTn id="54" fill="hold">
                            <p:stCondLst>
                              <p:cond delay="9000"/>
                            </p:stCondLst>
                            <p:childTnLst>
                              <p:par>
                                <p:cTn id="55" presetID="2" presetClass="entr" presetSubtype="4"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1500" fill="hold"/>
                                        <p:tgtEl>
                                          <p:spTgt spid="15"/>
                                        </p:tgtEl>
                                        <p:attrNameLst>
                                          <p:attrName>ppt_x</p:attrName>
                                        </p:attrNameLst>
                                      </p:cBhvr>
                                      <p:tavLst>
                                        <p:tav tm="0">
                                          <p:val>
                                            <p:strVal val="#ppt_x"/>
                                          </p:val>
                                        </p:tav>
                                        <p:tav tm="100000">
                                          <p:val>
                                            <p:strVal val="#ppt_x"/>
                                          </p:val>
                                        </p:tav>
                                      </p:tavLst>
                                    </p:anim>
                                    <p:anim calcmode="lin" valueType="num">
                                      <p:cBhvr additive="base">
                                        <p:cTn id="58" dur="1500" fill="hold"/>
                                        <p:tgtEl>
                                          <p:spTgt spid="15"/>
                                        </p:tgtEl>
                                        <p:attrNameLst>
                                          <p:attrName>ppt_y</p:attrName>
                                        </p:attrNameLst>
                                      </p:cBhvr>
                                      <p:tavLst>
                                        <p:tav tm="0">
                                          <p:val>
                                            <p:strVal val="1+#ppt_h/2"/>
                                          </p:val>
                                        </p:tav>
                                        <p:tav tm="100000">
                                          <p:val>
                                            <p:strVal val="#ppt_y"/>
                                          </p:val>
                                        </p:tav>
                                      </p:tavLst>
                                    </p:anim>
                                  </p:childTnLst>
                                </p:cTn>
                              </p:par>
                            </p:childTnLst>
                          </p:cTn>
                        </p:par>
                        <p:par>
                          <p:cTn id="59" fill="hold">
                            <p:stCondLst>
                              <p:cond delay="10500"/>
                            </p:stCondLst>
                            <p:childTnLst>
                              <p:par>
                                <p:cTn id="60" presetID="2" presetClass="entr" presetSubtype="4"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1500" fill="hold"/>
                                        <p:tgtEl>
                                          <p:spTgt spid="16"/>
                                        </p:tgtEl>
                                        <p:attrNameLst>
                                          <p:attrName>ppt_x</p:attrName>
                                        </p:attrNameLst>
                                      </p:cBhvr>
                                      <p:tavLst>
                                        <p:tav tm="0">
                                          <p:val>
                                            <p:strVal val="#ppt_x"/>
                                          </p:val>
                                        </p:tav>
                                        <p:tav tm="100000">
                                          <p:val>
                                            <p:strVal val="#ppt_x"/>
                                          </p:val>
                                        </p:tav>
                                      </p:tavLst>
                                    </p:anim>
                                    <p:anim calcmode="lin" valueType="num">
                                      <p:cBhvr additive="base">
                                        <p:cTn id="63" dur="1500" fill="hold"/>
                                        <p:tgtEl>
                                          <p:spTgt spid="16"/>
                                        </p:tgtEl>
                                        <p:attrNameLst>
                                          <p:attrName>ppt_y</p:attrName>
                                        </p:attrNameLst>
                                      </p:cBhvr>
                                      <p:tavLst>
                                        <p:tav tm="0">
                                          <p:val>
                                            <p:strVal val="1+#ppt_h/2"/>
                                          </p:val>
                                        </p:tav>
                                        <p:tav tm="100000">
                                          <p:val>
                                            <p:strVal val="#ppt_y"/>
                                          </p:val>
                                        </p:tav>
                                      </p:tavLst>
                                    </p:anim>
                                  </p:childTnLst>
                                </p:cTn>
                              </p:par>
                            </p:childTnLst>
                          </p:cTn>
                        </p:par>
                        <p:par>
                          <p:cTn id="64" fill="hold">
                            <p:stCondLst>
                              <p:cond delay="12000"/>
                            </p:stCondLst>
                            <p:childTnLst>
                              <p:par>
                                <p:cTn id="65" presetID="2" presetClass="entr" presetSubtype="4" fill="hold" grpId="0" nodeType="after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1500" fill="hold"/>
                                        <p:tgtEl>
                                          <p:spTgt spid="17"/>
                                        </p:tgtEl>
                                        <p:attrNameLst>
                                          <p:attrName>ppt_x</p:attrName>
                                        </p:attrNameLst>
                                      </p:cBhvr>
                                      <p:tavLst>
                                        <p:tav tm="0">
                                          <p:val>
                                            <p:strVal val="#ppt_x"/>
                                          </p:val>
                                        </p:tav>
                                        <p:tav tm="100000">
                                          <p:val>
                                            <p:strVal val="#ppt_x"/>
                                          </p:val>
                                        </p:tav>
                                      </p:tavLst>
                                    </p:anim>
                                    <p:anim calcmode="lin" valueType="num">
                                      <p:cBhvr additive="base">
                                        <p:cTn id="68" dur="1500" fill="hold"/>
                                        <p:tgtEl>
                                          <p:spTgt spid="17"/>
                                        </p:tgtEl>
                                        <p:attrNameLst>
                                          <p:attrName>ppt_y</p:attrName>
                                        </p:attrNameLst>
                                      </p:cBhvr>
                                      <p:tavLst>
                                        <p:tav tm="0">
                                          <p:val>
                                            <p:strVal val="1+#ppt_h/2"/>
                                          </p:val>
                                        </p:tav>
                                        <p:tav tm="100000">
                                          <p:val>
                                            <p:strVal val="#ppt_y"/>
                                          </p:val>
                                        </p:tav>
                                      </p:tavLst>
                                    </p:anim>
                                  </p:childTnLst>
                                </p:cTn>
                              </p:par>
                            </p:childTnLst>
                          </p:cTn>
                        </p:par>
                        <p:par>
                          <p:cTn id="69" fill="hold">
                            <p:stCondLst>
                              <p:cond delay="13500"/>
                            </p:stCondLst>
                            <p:childTnLst>
                              <p:par>
                                <p:cTn id="70" presetID="2" presetClass="entr" presetSubtype="4"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1500" fill="hold"/>
                                        <p:tgtEl>
                                          <p:spTgt spid="18"/>
                                        </p:tgtEl>
                                        <p:attrNameLst>
                                          <p:attrName>ppt_x</p:attrName>
                                        </p:attrNameLst>
                                      </p:cBhvr>
                                      <p:tavLst>
                                        <p:tav tm="0">
                                          <p:val>
                                            <p:strVal val="#ppt_x"/>
                                          </p:val>
                                        </p:tav>
                                        <p:tav tm="100000">
                                          <p:val>
                                            <p:strVal val="#ppt_x"/>
                                          </p:val>
                                        </p:tav>
                                      </p:tavLst>
                                    </p:anim>
                                    <p:anim calcmode="lin" valueType="num">
                                      <p:cBhvr additive="base">
                                        <p:cTn id="73" dur="1500" fill="hold"/>
                                        <p:tgtEl>
                                          <p:spTgt spid="18"/>
                                        </p:tgtEl>
                                        <p:attrNameLst>
                                          <p:attrName>ppt_y</p:attrName>
                                        </p:attrNameLst>
                                      </p:cBhvr>
                                      <p:tavLst>
                                        <p:tav tm="0">
                                          <p:val>
                                            <p:strVal val="1+#ppt_h/2"/>
                                          </p:val>
                                        </p:tav>
                                        <p:tav tm="100000">
                                          <p:val>
                                            <p:strVal val="#ppt_y"/>
                                          </p:val>
                                        </p:tav>
                                      </p:tavLst>
                                    </p:anim>
                                  </p:childTnLst>
                                </p:cTn>
                              </p:par>
                            </p:childTnLst>
                          </p:cTn>
                        </p:par>
                        <p:par>
                          <p:cTn id="74" fill="hold">
                            <p:stCondLst>
                              <p:cond delay="15000"/>
                            </p:stCondLst>
                            <p:childTnLst>
                              <p:par>
                                <p:cTn id="75" presetID="2" presetClass="entr" presetSubtype="4" fill="hold" grpId="0" nodeType="after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additive="base">
                                        <p:cTn id="77" dur="1500" fill="hold"/>
                                        <p:tgtEl>
                                          <p:spTgt spid="19"/>
                                        </p:tgtEl>
                                        <p:attrNameLst>
                                          <p:attrName>ppt_x</p:attrName>
                                        </p:attrNameLst>
                                      </p:cBhvr>
                                      <p:tavLst>
                                        <p:tav tm="0">
                                          <p:val>
                                            <p:strVal val="#ppt_x"/>
                                          </p:val>
                                        </p:tav>
                                        <p:tav tm="100000">
                                          <p:val>
                                            <p:strVal val="#ppt_x"/>
                                          </p:val>
                                        </p:tav>
                                      </p:tavLst>
                                    </p:anim>
                                    <p:anim calcmode="lin" valueType="num">
                                      <p:cBhvr additive="base">
                                        <p:cTn id="78" dur="1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0B0E1A"/>
        </a:solidFill>
        <a:effectLst/>
      </p:bgPr>
    </p:bg>
    <p:spTree>
      <p:nvGrpSpPr>
        <p:cNvPr id="1" name=""/>
        <p:cNvGrpSpPr/>
        <p:nvPr/>
      </p:nvGrpSpPr>
      <p:grpSpPr>
        <a:xfrm>
          <a:off x="0" y="0"/>
          <a:ext cx="0" cy="0"/>
          <a:chOff x="0" y="0"/>
          <a:chExt cx="0" cy="0"/>
        </a:xfrm>
      </p:grpSpPr>
      <p:sp>
        <p:nvSpPr>
          <p:cNvPr id="2" name="GRAD::coralOrange2::blob::i"/>
          <p:cNvSpPr/>
          <p:nvPr/>
        </p:nvSpPr>
        <p:spPr>
          <a:xfrm>
            <a:off x="-1828800" y="2734056"/>
            <a:ext cx="5486400" cy="54864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ANIM::0::hj"/>
          <p:cNvSpPr/>
          <p:nvPr/>
        </p:nvSpPr>
        <p:spPr>
          <a:xfrm>
            <a:off x="502920" y="502920"/>
            <a:ext cx="4114800" cy="146304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Non-Functional Requirements</a:t>
            </a:r>
            <a:endParaRPr lang="en-US" sz="2600"/>
          </a:p>
        </p:txBody>
      </p:sp>
      <p:sp>
        <p:nvSpPr>
          <p:cNvPr id="4" name="Text 2"/>
          <p:cNvSpPr/>
          <p:nvPr/>
        </p:nvSpPr>
        <p:spPr>
          <a:xfrm>
            <a:off x="502920" y="1629483"/>
            <a:ext cx="3657600" cy="91440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Quality parameters that make the system fast, secure, and easy to maintain.</a:t>
            </a:r>
            <a:endParaRPr lang="en-US" sz="1300"/>
          </a:p>
        </p:txBody>
      </p:sp>
      <p:pic>
        <p:nvPicPr>
          <p:cNvPr id="5" name="Image 0" descr="preencoded.png"/>
          <p:cNvPicPr>
            <a:picLocks noChangeAspect="1"/>
          </p:cNvPicPr>
          <p:nvPr/>
        </p:nvPicPr>
        <p:blipFill>
          <a:blip r:embed="rId3"/>
          <a:stretch>
            <a:fillRect/>
          </a:stretch>
        </p:blipFill>
        <p:spPr>
          <a:xfrm>
            <a:off x="1262023" y="3037924"/>
            <a:ext cx="1865225" cy="1305476"/>
          </a:xfrm>
          <a:prstGeom prst="rect">
            <a:avLst/>
          </a:prstGeom>
        </p:spPr>
      </p:pic>
      <p:grpSp>
        <p:nvGrpSpPr>
          <p:cNvPr id="26" name="Group 25">
            <a:extLst>
              <a:ext uri="{FF2B5EF4-FFF2-40B4-BE49-F238E27FC236}">
                <a16:creationId xmlns:a16="http://schemas.microsoft.com/office/drawing/2014/main" id="{FF88FAA1-42B2-1EDF-B5F7-5801B88700F4}"/>
              </a:ext>
            </a:extLst>
          </p:cNvPr>
          <p:cNvGrpSpPr/>
          <p:nvPr/>
        </p:nvGrpSpPr>
        <p:grpSpPr>
          <a:xfrm>
            <a:off x="4846320" y="502920"/>
            <a:ext cx="3383280" cy="868680"/>
            <a:chOff x="4846320" y="502920"/>
            <a:chExt cx="3383280" cy="868680"/>
          </a:xfrm>
        </p:grpSpPr>
        <p:sp>
          <p:nvSpPr>
            <p:cNvPr id="6" name="ANIM::250::cardk"/>
            <p:cNvSpPr/>
            <p:nvPr/>
          </p:nvSpPr>
          <p:spPr>
            <a:xfrm>
              <a:off x="4846320" y="502920"/>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7" name="Shape 4"/>
            <p:cNvSpPr/>
            <p:nvPr/>
          </p:nvSpPr>
          <p:spPr>
            <a:xfrm>
              <a:off x="5047488" y="722376"/>
              <a:ext cx="438912" cy="438912"/>
            </a:xfrm>
            <a:prstGeom prst="ellipse">
              <a:avLst/>
            </a:prstGeom>
            <a:solidFill>
              <a:srgbClr val="FF6B6B">
                <a:alpha val="85000"/>
              </a:srgbClr>
            </a:solidFill>
            <a:ln/>
          </p:spPr>
          <p:txBody>
            <a:bodyPr/>
            <a:lstStyle/>
            <a:p>
              <a:endParaRPr lang="fr-FR"/>
            </a:p>
          </p:txBody>
        </p:sp>
        <p:sp>
          <p:nvSpPr>
            <p:cNvPr id="8" name="Text 5"/>
            <p:cNvSpPr/>
            <p:nvPr/>
          </p:nvSpPr>
          <p:spPr>
            <a:xfrm>
              <a:off x="5047488" y="722376"/>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9" name="Text 6"/>
            <p:cNvSpPr/>
            <p:nvPr/>
          </p:nvSpPr>
          <p:spPr>
            <a:xfrm>
              <a:off x="5623560" y="621792"/>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Data Security</a:t>
              </a:r>
              <a:endParaRPr lang="en-US" sz="1300"/>
            </a:p>
          </p:txBody>
        </p:sp>
        <p:sp>
          <p:nvSpPr>
            <p:cNvPr id="10" name="Text 7"/>
            <p:cNvSpPr/>
            <p:nvPr/>
          </p:nvSpPr>
          <p:spPr>
            <a:xfrm>
              <a:off x="5623560" y="932688"/>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Row Level Security (RLS) blocks unauthorized access directly at the database level.</a:t>
              </a:r>
              <a:endParaRPr lang="en-US" sz="950"/>
            </a:p>
          </p:txBody>
        </p:sp>
      </p:grpSp>
      <p:grpSp>
        <p:nvGrpSpPr>
          <p:cNvPr id="27" name="Group 26">
            <a:extLst>
              <a:ext uri="{FF2B5EF4-FFF2-40B4-BE49-F238E27FC236}">
                <a16:creationId xmlns:a16="http://schemas.microsoft.com/office/drawing/2014/main" id="{66BB7BFA-6556-F3AE-D02A-1D3C0CDDFCE2}"/>
              </a:ext>
            </a:extLst>
          </p:cNvPr>
          <p:cNvGrpSpPr/>
          <p:nvPr/>
        </p:nvGrpSpPr>
        <p:grpSpPr>
          <a:xfrm>
            <a:off x="5440680" y="1481328"/>
            <a:ext cx="3383280" cy="868680"/>
            <a:chOff x="5440680" y="1481328"/>
            <a:chExt cx="3383280" cy="868680"/>
          </a:xfrm>
        </p:grpSpPr>
        <p:sp>
          <p:nvSpPr>
            <p:cNvPr id="11" name="ANIM::410::cardl"/>
            <p:cNvSpPr/>
            <p:nvPr/>
          </p:nvSpPr>
          <p:spPr>
            <a:xfrm>
              <a:off x="5440680" y="1481328"/>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2" name="Shape 9"/>
            <p:cNvSpPr/>
            <p:nvPr/>
          </p:nvSpPr>
          <p:spPr>
            <a:xfrm>
              <a:off x="5641848" y="1700784"/>
              <a:ext cx="438912" cy="438912"/>
            </a:xfrm>
            <a:prstGeom prst="ellipse">
              <a:avLst/>
            </a:prstGeom>
            <a:solidFill>
              <a:srgbClr val="F59E0B">
                <a:alpha val="85000"/>
              </a:srgbClr>
            </a:solidFill>
            <a:ln/>
          </p:spPr>
          <p:txBody>
            <a:bodyPr/>
            <a:lstStyle/>
            <a:p>
              <a:endParaRPr lang="fr-FR"/>
            </a:p>
          </p:txBody>
        </p:sp>
        <p:sp>
          <p:nvSpPr>
            <p:cNvPr id="13" name="Text 10"/>
            <p:cNvSpPr/>
            <p:nvPr/>
          </p:nvSpPr>
          <p:spPr>
            <a:xfrm>
              <a:off x="5641848" y="1700784"/>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4" name="Text 11"/>
            <p:cNvSpPr/>
            <p:nvPr/>
          </p:nvSpPr>
          <p:spPr>
            <a:xfrm>
              <a:off x="6217920" y="1600200"/>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Offline Support</a:t>
              </a:r>
              <a:endParaRPr lang="en-US" sz="1300"/>
            </a:p>
          </p:txBody>
        </p:sp>
        <p:sp>
          <p:nvSpPr>
            <p:cNvPr id="15" name="Text 12"/>
            <p:cNvSpPr/>
            <p:nvPr/>
          </p:nvSpPr>
          <p:spPr>
            <a:xfrm>
              <a:off x="6217920" y="1911096"/>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The mobile app saves attendance logs on the phone memory and syncs when online.</a:t>
              </a:r>
              <a:endParaRPr lang="en-US" sz="950"/>
            </a:p>
          </p:txBody>
        </p:sp>
      </p:grpSp>
      <p:grpSp>
        <p:nvGrpSpPr>
          <p:cNvPr id="28" name="Group 27">
            <a:extLst>
              <a:ext uri="{FF2B5EF4-FFF2-40B4-BE49-F238E27FC236}">
                <a16:creationId xmlns:a16="http://schemas.microsoft.com/office/drawing/2014/main" id="{BE16C80A-2573-77EA-A936-826064E838C0}"/>
              </a:ext>
            </a:extLst>
          </p:cNvPr>
          <p:cNvGrpSpPr/>
          <p:nvPr/>
        </p:nvGrpSpPr>
        <p:grpSpPr>
          <a:xfrm>
            <a:off x="4846320" y="2459736"/>
            <a:ext cx="3383280" cy="868680"/>
            <a:chOff x="4846320" y="2459736"/>
            <a:chExt cx="3383280" cy="868680"/>
          </a:xfrm>
        </p:grpSpPr>
        <p:sp>
          <p:nvSpPr>
            <p:cNvPr id="16" name="ANIM::570::cardm"/>
            <p:cNvSpPr/>
            <p:nvPr/>
          </p:nvSpPr>
          <p:spPr>
            <a:xfrm>
              <a:off x="4846320" y="2459736"/>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Shape 14"/>
            <p:cNvSpPr/>
            <p:nvPr/>
          </p:nvSpPr>
          <p:spPr>
            <a:xfrm>
              <a:off x="5047488" y="2679192"/>
              <a:ext cx="438912" cy="438912"/>
            </a:xfrm>
            <a:prstGeom prst="ellipse">
              <a:avLst/>
            </a:prstGeom>
            <a:solidFill>
              <a:srgbClr val="EC4899">
                <a:alpha val="85000"/>
              </a:srgbClr>
            </a:solidFill>
            <a:ln/>
          </p:spPr>
          <p:txBody>
            <a:bodyPr/>
            <a:lstStyle/>
            <a:p>
              <a:endParaRPr lang="fr-FR"/>
            </a:p>
          </p:txBody>
        </p:sp>
        <p:sp>
          <p:nvSpPr>
            <p:cNvPr id="18" name="Text 15"/>
            <p:cNvSpPr/>
            <p:nvPr/>
          </p:nvSpPr>
          <p:spPr>
            <a:xfrm>
              <a:off x="5047488" y="2679192"/>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9" name="Text 16"/>
            <p:cNvSpPr/>
            <p:nvPr/>
          </p:nvSpPr>
          <p:spPr>
            <a:xfrm>
              <a:off x="5623560" y="2578608"/>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Easy Updates</a:t>
              </a:r>
              <a:endParaRPr lang="en-US" sz="1300"/>
            </a:p>
          </p:txBody>
        </p:sp>
        <p:sp>
          <p:nvSpPr>
            <p:cNvPr id="20" name="Text 17"/>
            <p:cNvSpPr/>
            <p:nvPr/>
          </p:nvSpPr>
          <p:spPr>
            <a:xfrm>
              <a:off x="5623560" y="2889504"/>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Structuring the code by features makes it easy to add updates without breaking parts.</a:t>
              </a:r>
              <a:endParaRPr lang="en-US" sz="950"/>
            </a:p>
          </p:txBody>
        </p:sp>
      </p:grpSp>
      <p:grpSp>
        <p:nvGrpSpPr>
          <p:cNvPr id="29" name="Group 28">
            <a:extLst>
              <a:ext uri="{FF2B5EF4-FFF2-40B4-BE49-F238E27FC236}">
                <a16:creationId xmlns:a16="http://schemas.microsoft.com/office/drawing/2014/main" id="{791F040F-5D38-FD2E-F802-EBF4D3D32287}"/>
              </a:ext>
            </a:extLst>
          </p:cNvPr>
          <p:cNvGrpSpPr/>
          <p:nvPr/>
        </p:nvGrpSpPr>
        <p:grpSpPr>
          <a:xfrm>
            <a:off x="5440680" y="3438144"/>
            <a:ext cx="3383280" cy="868680"/>
            <a:chOff x="5440680" y="3438144"/>
            <a:chExt cx="3383280" cy="868680"/>
          </a:xfrm>
        </p:grpSpPr>
        <p:sp>
          <p:nvSpPr>
            <p:cNvPr id="21" name="ANIM::730::cardn"/>
            <p:cNvSpPr/>
            <p:nvPr/>
          </p:nvSpPr>
          <p:spPr>
            <a:xfrm>
              <a:off x="5440680" y="3438144"/>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22" name="Shape 19"/>
            <p:cNvSpPr/>
            <p:nvPr/>
          </p:nvSpPr>
          <p:spPr>
            <a:xfrm>
              <a:off x="5641848" y="3657600"/>
              <a:ext cx="438912" cy="438912"/>
            </a:xfrm>
            <a:prstGeom prst="ellipse">
              <a:avLst/>
            </a:prstGeom>
            <a:solidFill>
              <a:srgbClr val="8B5CF6">
                <a:alpha val="85000"/>
              </a:srgbClr>
            </a:solidFill>
            <a:ln/>
          </p:spPr>
          <p:txBody>
            <a:bodyPr/>
            <a:lstStyle/>
            <a:p>
              <a:endParaRPr lang="fr-FR"/>
            </a:p>
          </p:txBody>
        </p:sp>
        <p:sp>
          <p:nvSpPr>
            <p:cNvPr id="23" name="Text 20"/>
            <p:cNvSpPr/>
            <p:nvPr/>
          </p:nvSpPr>
          <p:spPr>
            <a:xfrm>
              <a:off x="5641848" y="3657600"/>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24" name="Text 21"/>
            <p:cNvSpPr/>
            <p:nvPr/>
          </p:nvSpPr>
          <p:spPr>
            <a:xfrm>
              <a:off x="6217920" y="3557016"/>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App Speed</a:t>
              </a:r>
              <a:endParaRPr lang="en-US" sz="1300"/>
            </a:p>
          </p:txBody>
        </p:sp>
        <p:sp>
          <p:nvSpPr>
            <p:cNvPr id="25" name="Text 22"/>
            <p:cNvSpPr/>
            <p:nvPr/>
          </p:nvSpPr>
          <p:spPr>
            <a:xfrm>
              <a:off x="6217920" y="3867912"/>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Database API requests are fast, loading screen pages in less than 200 milliseconds.</a:t>
              </a:r>
              <a:endParaRPr lang="en-US" sz="95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1500"/>
                                        <p:tgtEl>
                                          <p:spTgt spid="4"/>
                                        </p:tgtEl>
                                      </p:cBhvr>
                                    </p:animEffect>
                                  </p:childTnLst>
                                </p:cTn>
                              </p:par>
                              <p:par>
                                <p:cTn id="11" presetID="21" presetClass="entr" presetSubtype="8"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8)">
                                      <p:cBhvr>
                                        <p:cTn id="13" dur="1500"/>
                                        <p:tgtEl>
                                          <p:spTgt spid="5"/>
                                        </p:tgtEl>
                                      </p:cBhvr>
                                    </p:animEffect>
                                  </p:childTnLst>
                                </p:cTn>
                              </p:par>
                              <p:par>
                                <p:cTn id="14" presetID="2" presetClass="entr" presetSubtype="3"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1500" fill="hold"/>
                                        <p:tgtEl>
                                          <p:spTgt spid="2"/>
                                        </p:tgtEl>
                                        <p:attrNameLst>
                                          <p:attrName>ppt_x</p:attrName>
                                        </p:attrNameLst>
                                      </p:cBhvr>
                                      <p:tavLst>
                                        <p:tav tm="0">
                                          <p:val>
                                            <p:strVal val="1+#ppt_w/2"/>
                                          </p:val>
                                        </p:tav>
                                        <p:tav tm="100000">
                                          <p:val>
                                            <p:strVal val="#ppt_x"/>
                                          </p:val>
                                        </p:tav>
                                      </p:tavLst>
                                    </p:anim>
                                    <p:anim calcmode="lin" valueType="num">
                                      <p:cBhvr additive="base">
                                        <p:cTn id="17" dur="1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1500" fill="hold"/>
                                        <p:tgtEl>
                                          <p:spTgt spid="26"/>
                                        </p:tgtEl>
                                        <p:attrNameLst>
                                          <p:attrName>ppt_x</p:attrName>
                                        </p:attrNameLst>
                                      </p:cBhvr>
                                      <p:tavLst>
                                        <p:tav tm="0">
                                          <p:val>
                                            <p:strVal val="1+#ppt_w/2"/>
                                          </p:val>
                                        </p:tav>
                                        <p:tav tm="100000">
                                          <p:val>
                                            <p:strVal val="#ppt_x"/>
                                          </p:val>
                                        </p:tav>
                                      </p:tavLst>
                                    </p:anim>
                                    <p:anim calcmode="lin" valueType="num">
                                      <p:cBhvr additive="base">
                                        <p:cTn id="23" dur="1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additive="base">
                                        <p:cTn id="28" dur="1500" fill="hold"/>
                                        <p:tgtEl>
                                          <p:spTgt spid="27"/>
                                        </p:tgtEl>
                                        <p:attrNameLst>
                                          <p:attrName>ppt_x</p:attrName>
                                        </p:attrNameLst>
                                      </p:cBhvr>
                                      <p:tavLst>
                                        <p:tav tm="0">
                                          <p:val>
                                            <p:strVal val="1+#ppt_w/2"/>
                                          </p:val>
                                        </p:tav>
                                        <p:tav tm="100000">
                                          <p:val>
                                            <p:strVal val="#ppt_x"/>
                                          </p:val>
                                        </p:tav>
                                      </p:tavLst>
                                    </p:anim>
                                    <p:anim calcmode="lin" valueType="num">
                                      <p:cBhvr additive="base">
                                        <p:cTn id="29" dur="1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 calcmode="lin" valueType="num">
                                      <p:cBhvr additive="base">
                                        <p:cTn id="34" dur="1500" fill="hold"/>
                                        <p:tgtEl>
                                          <p:spTgt spid="28"/>
                                        </p:tgtEl>
                                        <p:attrNameLst>
                                          <p:attrName>ppt_x</p:attrName>
                                        </p:attrNameLst>
                                      </p:cBhvr>
                                      <p:tavLst>
                                        <p:tav tm="0">
                                          <p:val>
                                            <p:strVal val="1+#ppt_w/2"/>
                                          </p:val>
                                        </p:tav>
                                        <p:tav tm="100000">
                                          <p:val>
                                            <p:strVal val="#ppt_x"/>
                                          </p:val>
                                        </p:tav>
                                      </p:tavLst>
                                    </p:anim>
                                    <p:anim calcmode="lin" valueType="num">
                                      <p:cBhvr additive="base">
                                        <p:cTn id="35" dur="1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 calcmode="lin" valueType="num">
                                      <p:cBhvr additive="base">
                                        <p:cTn id="40" dur="1500" fill="hold"/>
                                        <p:tgtEl>
                                          <p:spTgt spid="29"/>
                                        </p:tgtEl>
                                        <p:attrNameLst>
                                          <p:attrName>ppt_x</p:attrName>
                                        </p:attrNameLst>
                                      </p:cBhvr>
                                      <p:tavLst>
                                        <p:tav tm="0">
                                          <p:val>
                                            <p:strVal val="1+#ppt_w/2"/>
                                          </p:val>
                                        </p:tav>
                                        <p:tav tm="100000">
                                          <p:val>
                                            <p:strVal val="#ppt_x"/>
                                          </p:val>
                                        </p:tav>
                                      </p:tavLst>
                                    </p:anim>
                                    <p:anim calcmode="lin" valueType="num">
                                      <p:cBhvr additive="base">
                                        <p:cTn id="41" dur="1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3" grpId="1" animBg="1"/>
      <p:bldP spid="4" grpId="0" animBg="1"/>
      <p:bldP spid="6" grpId="0"/>
      <p:bldP spid="11" grpId="0"/>
      <p:bldP spid="16"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0B0E1A"/>
        </a:solidFill>
        <a:effectLst/>
      </p:bgPr>
    </p:bg>
    <p:spTree>
      <p:nvGrpSpPr>
        <p:cNvPr id="1" name=""/>
        <p:cNvGrpSpPr/>
        <p:nvPr/>
      </p:nvGrpSpPr>
      <p:grpSpPr>
        <a:xfrm>
          <a:off x="0" y="0"/>
          <a:ext cx="0" cy="0"/>
          <a:chOff x="0" y="0"/>
          <a:chExt cx="0" cy="0"/>
        </a:xfrm>
      </p:grpSpPr>
      <p:sp>
        <p:nvSpPr>
          <p:cNvPr id="2" name="GRAD::coralOrange::blob::e"/>
          <p:cNvSpPr/>
          <p:nvPr/>
        </p:nvSpPr>
        <p:spPr>
          <a:xfrm>
            <a:off x="-2286000" y="-1828800"/>
            <a:ext cx="6400800" cy="6400800"/>
          </a:xfrm>
          <a:prstGeom prst="ellipse">
            <a:avLst/>
          </a:prstGeom>
          <a:gradFill rotWithShape="1">
            <a:gsLst>
              <a:gs pos="0">
                <a:srgbClr val="FF6B6B">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GRAD::coralOrange2::blob::f"/>
          <p:cNvSpPr/>
          <p:nvPr/>
        </p:nvSpPr>
        <p:spPr>
          <a:xfrm>
            <a:off x="5486400" y="1828800"/>
            <a:ext cx="5943600" cy="59436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365760" y="457200"/>
            <a:ext cx="5943600" cy="4206240"/>
          </a:xfrm>
          <a:prstGeom prst="rect">
            <a:avLst/>
          </a:prstGeom>
          <a:noFill/>
          <a:ln/>
        </p:spPr>
        <p:txBody>
          <a:bodyPr wrap="square" lIns="0" tIns="0" rIns="0" bIns="0" rtlCol="0" anchor="ctr"/>
          <a:lstStyle/>
          <a:p>
            <a:pPr algn="l"/>
            <a:r>
              <a:rPr lang="en-US" sz="28000" b="1">
                <a:solidFill>
                  <a:srgbClr val="FFFFFF">
                    <a:alpha val="10000"/>
                  </a:srgbClr>
                </a:solidFill>
                <a:latin typeface="Sora"/>
                <a:ea typeface="Sora"/>
                <a:cs typeface="Sora"/>
              </a:rPr>
              <a:t>03</a:t>
            </a:r>
          </a:p>
        </p:txBody>
      </p:sp>
      <p:sp>
        <p:nvSpPr>
          <p:cNvPr id="5" name="Shape 3"/>
          <p:cNvSpPr/>
          <p:nvPr/>
        </p:nvSpPr>
        <p:spPr>
          <a:xfrm>
            <a:off x="4160520" y="1691640"/>
            <a:ext cx="182880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6" name="Text 4"/>
          <p:cNvSpPr/>
          <p:nvPr/>
        </p:nvSpPr>
        <p:spPr>
          <a:xfrm>
            <a:off x="4160520" y="1691640"/>
            <a:ext cx="1828800" cy="365760"/>
          </a:xfrm>
          <a:prstGeom prst="rect">
            <a:avLst/>
          </a:prstGeom>
          <a:noFill/>
          <a:ln/>
        </p:spPr>
        <p:txBody>
          <a:bodyPr wrap="square" lIns="0" tIns="0" rIns="0" bIns="0" rtlCol="0" anchor="ctr"/>
          <a:lstStyle/>
          <a:p>
            <a:pPr algn="l"/>
            <a:r>
              <a:rPr lang="en-US" sz="1000" b="1" spc="150">
                <a:solidFill>
                  <a:srgbClr val="8890A6"/>
                </a:solidFill>
                <a:latin typeface="Inter"/>
                <a:ea typeface="Inter"/>
                <a:cs typeface="Inter"/>
              </a:rPr>
              <a:t>         CHAPTER 03</a:t>
            </a:r>
          </a:p>
        </p:txBody>
      </p:sp>
      <p:sp>
        <p:nvSpPr>
          <p:cNvPr id="8" name="ANIM::450::subh"/>
          <p:cNvSpPr/>
          <p:nvPr/>
        </p:nvSpPr>
        <p:spPr>
          <a:xfrm>
            <a:off x="4124340" y="3269880"/>
            <a:ext cx="4206240" cy="36576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Using 2TUP methodology, MVC structure, and backend services</a:t>
            </a:r>
            <a:endParaRPr lang="en-US" sz="1300"/>
          </a:p>
        </p:txBody>
      </p:sp>
      <p:sp>
        <p:nvSpPr>
          <p:cNvPr id="12" name="TextBox 11">
            <a:extLst>
              <a:ext uri="{FF2B5EF4-FFF2-40B4-BE49-F238E27FC236}">
                <a16:creationId xmlns:a16="http://schemas.microsoft.com/office/drawing/2014/main" id="{15D1CA12-863A-1958-A9C3-4E7130F1BFED}"/>
              </a:ext>
            </a:extLst>
          </p:cNvPr>
          <p:cNvSpPr txBox="1"/>
          <p:nvPr/>
        </p:nvSpPr>
        <p:spPr>
          <a:xfrm>
            <a:off x="3996720" y="2481157"/>
            <a:ext cx="4461480"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FFFFFF"/>
                </a:solidFill>
                <a:effectLst/>
                <a:uLnTx/>
                <a:uFillTx/>
                <a:latin typeface="Sora"/>
                <a:ea typeface="Sora"/>
                <a:cs typeface="Sora"/>
              </a:rPr>
              <a:t>Methodology &amp; Architecture</a:t>
            </a:r>
            <a:endParaRPr kumimoji="0" lang="en-US" sz="2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extLst>
          <p:ext uri="{EAA6730D-07C4-43C0-AC2F-2B797B595A98}">
            <p159:prstTrans xmlns="" xmlns:p159="http://schemas.microsoft.com/office/powerpoint/2015/09/main" prst="morph"/>
          </p:ext>
        </p:extLst>
      </p:transition>
    </mc:Choice>
    <mc:Fallback xmlns="">
      <p:transition spd="slow">
        <p:extLst>
          <p:ext uri="{EAA6730D-07C4-43C0-AC2F-2B797B595A98}">
            <p159:prstTrans xmlns:p159="http://schemas.microsoft.com/office/powerpoint/2015/09/main" xmlns:p14="http://schemas.microsoft.com/office/powerpoint/2010/main" xmlns="" prst="morph"/>
          </p:ext>
        </p:extLs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0-#ppt_h/2"/>
                                          </p:val>
                                        </p:tav>
                                        <p:tav tm="100000">
                                          <p:val>
                                            <p:strVal val="#ppt_y"/>
                                          </p:val>
                                        </p:tav>
                                      </p:tavLst>
                                    </p:anim>
                                  </p:childTnLst>
                                </p:cTn>
                              </p:par>
                              <p:par>
                                <p:cTn id="13" presetID="22" presetClass="entr" presetSubtype="8"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1500"/>
                                        <p:tgtEl>
                                          <p:spTgt spid="12"/>
                                        </p:tgtEl>
                                      </p:cBhvr>
                                    </p:animEffect>
                                  </p:childTnLst>
                                </p:cTn>
                              </p:par>
                              <p:par>
                                <p:cTn id="16" presetID="22" presetClass="entr" presetSubtype="8" fill="hold" grpId="1"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1500"/>
                                        <p:tgtEl>
                                          <p:spTgt spid="8"/>
                                        </p:tgtEl>
                                      </p:cBhvr>
                                    </p:animEffect>
                                  </p:childTnLst>
                                </p:cTn>
                              </p:par>
                              <p:par>
                                <p:cTn id="19" presetID="6" presetClass="entr" presetSubtype="32"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circle(out)">
                                      <p:cBhvr>
                                        <p:cTn id="21"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8" grpId="0"/>
      <p:bldP spid="8" grpId="1"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0B0E1A"/>
        </a:solidFill>
        <a:effectLst/>
      </p:bgPr>
    </p:bg>
    <p:spTree>
      <p:nvGrpSpPr>
        <p:cNvPr id="1" name=""/>
        <p:cNvGrpSpPr/>
        <p:nvPr/>
      </p:nvGrpSpPr>
      <p:grpSpPr>
        <a:xfrm>
          <a:off x="0" y="0"/>
          <a:ext cx="0" cy="0"/>
          <a:chOff x="0" y="0"/>
          <a:chExt cx="0" cy="0"/>
        </a:xfrm>
      </p:grpSpPr>
      <p:sp>
        <p:nvSpPr>
          <p:cNvPr id="2" name="GRAD::violetPink2::blob::12"/>
          <p:cNvSpPr/>
          <p:nvPr/>
        </p:nvSpPr>
        <p:spPr>
          <a:xfrm>
            <a:off x="174171" y="-877824"/>
            <a:ext cx="5486400" cy="5486400"/>
          </a:xfrm>
          <a:prstGeom prst="ellipse">
            <a:avLst/>
          </a:prstGeom>
          <a:gradFill rotWithShape="1">
            <a:gsLst>
              <a:gs pos="0">
                <a:srgbClr val="8B5CF6">
                  <a:alpha val="46000"/>
                </a:srgbClr>
              </a:gs>
              <a:gs pos="55000">
                <a:srgbClr val="EC4899">
                  <a:alpha val="19000"/>
                </a:srgbClr>
              </a:gs>
              <a:gs pos="100000">
                <a:srgbClr val="EC4899">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411480"/>
            <a:ext cx="4206240" cy="960120"/>
          </a:xfrm>
          <a:prstGeom prst="rect">
            <a:avLst/>
          </a:prstGeom>
          <a:noFill/>
          <a:ln/>
        </p:spPr>
        <p:txBody>
          <a:bodyPr wrap="square" lIns="0" tIns="0" rIns="0" bIns="0" rtlCol="0" anchor="ctr"/>
          <a:lstStyle/>
          <a:p>
            <a:pPr marL="0" indent="0" algn="l">
              <a:lnSpc>
                <a:spcPct val="104000"/>
              </a:lnSpc>
              <a:buNone/>
            </a:pPr>
            <a:r>
              <a:rPr lang="en-US" sz="2300" b="1">
                <a:solidFill>
                  <a:srgbClr val="FFFFFF"/>
                </a:solidFill>
                <a:latin typeface="Sora" pitchFamily="34" charset="0"/>
                <a:ea typeface="Sora" pitchFamily="34" charset="-122"/>
                <a:cs typeface="Sora" pitchFamily="34" charset="-120"/>
              </a:rPr>
              <a:t>2TUP — two tracks,</a:t>
            </a:r>
            <a:endParaRPr lang="en-US" sz="2300"/>
          </a:p>
          <a:p>
            <a:pPr marL="0" indent="0" algn="l">
              <a:lnSpc>
                <a:spcPct val="104000"/>
              </a:lnSpc>
              <a:buNone/>
            </a:pPr>
            <a:r>
              <a:rPr lang="en-US" sz="2300" b="1">
                <a:solidFill>
                  <a:srgbClr val="FFFFFF"/>
                </a:solidFill>
                <a:latin typeface="Sora" pitchFamily="34" charset="0"/>
                <a:ea typeface="Sora" pitchFamily="34" charset="-122"/>
                <a:cs typeface="Sora" pitchFamily="34" charset="-120"/>
              </a:rPr>
              <a:t>one destination</a:t>
            </a:r>
            <a:endParaRPr lang="en-US" sz="2300"/>
          </a:p>
        </p:txBody>
      </p:sp>
      <p:grpSp>
        <p:nvGrpSpPr>
          <p:cNvPr id="19" name="Group 18">
            <a:extLst>
              <a:ext uri="{FF2B5EF4-FFF2-40B4-BE49-F238E27FC236}">
                <a16:creationId xmlns:a16="http://schemas.microsoft.com/office/drawing/2014/main" id="{E7D12838-429F-360B-CE11-761886441E90}"/>
              </a:ext>
            </a:extLst>
          </p:cNvPr>
          <p:cNvGrpSpPr/>
          <p:nvPr/>
        </p:nvGrpSpPr>
        <p:grpSpPr>
          <a:xfrm>
            <a:off x="685800" y="1527048"/>
            <a:ext cx="3794760" cy="3264408"/>
            <a:chOff x="685800" y="1527048"/>
            <a:chExt cx="3794760" cy="3264408"/>
          </a:xfrm>
        </p:grpSpPr>
        <p:sp>
          <p:nvSpPr>
            <p:cNvPr id="4" name="Shape 2"/>
            <p:cNvSpPr/>
            <p:nvPr/>
          </p:nvSpPr>
          <p:spPr>
            <a:xfrm>
              <a:off x="777240" y="1691640"/>
              <a:ext cx="0" cy="2697480"/>
            </a:xfrm>
            <a:prstGeom prst="line">
              <a:avLst/>
            </a:prstGeom>
            <a:noFill/>
            <a:ln w="19050">
              <a:solidFill>
                <a:srgbClr val="FFFFFF">
                  <a:alpha val="20000"/>
                </a:srgbClr>
              </a:solidFill>
              <a:prstDash val="solid"/>
            </a:ln>
          </p:spPr>
          <p:txBody>
            <a:bodyPr/>
            <a:lstStyle/>
            <a:p>
              <a:endParaRPr lang="fr-FR"/>
            </a:p>
          </p:txBody>
        </p:sp>
        <p:sp>
          <p:nvSpPr>
            <p:cNvPr id="5" name="Shape 3"/>
            <p:cNvSpPr/>
            <p:nvPr/>
          </p:nvSpPr>
          <p:spPr>
            <a:xfrm>
              <a:off x="685800" y="1600200"/>
              <a:ext cx="182880" cy="182880"/>
            </a:xfrm>
            <a:prstGeom prst="ellipse">
              <a:avLst/>
            </a:prstGeom>
            <a:solidFill>
              <a:srgbClr val="FF6B6B"/>
            </a:solidFill>
            <a:ln w="25400">
              <a:solidFill>
                <a:srgbClr val="0B0E1A"/>
              </a:solidFill>
              <a:prstDash val="solid"/>
            </a:ln>
          </p:spPr>
          <p:txBody>
            <a:bodyPr/>
            <a:lstStyle/>
            <a:p>
              <a:endParaRPr lang="fr-FR"/>
            </a:p>
          </p:txBody>
        </p:sp>
        <p:sp>
          <p:nvSpPr>
            <p:cNvPr id="6" name="Text 4"/>
            <p:cNvSpPr/>
            <p:nvPr/>
          </p:nvSpPr>
          <p:spPr>
            <a:xfrm>
              <a:off x="1097280" y="1527048"/>
              <a:ext cx="3291840" cy="292608"/>
            </a:xfrm>
            <a:prstGeom prst="rect">
              <a:avLst/>
            </a:prstGeom>
            <a:noFill/>
            <a:ln/>
          </p:spPr>
          <p:txBody>
            <a:bodyPr wrap="square" lIns="0" tIns="0" rIns="0" bIns="0" rtlCol="0" anchor="ctr"/>
            <a:lstStyle/>
            <a:p>
              <a:pPr marL="0" indent="0" algn="l">
                <a:buNone/>
              </a:pPr>
              <a:r>
                <a:rPr lang="en-US" sz="1400" b="1">
                  <a:solidFill>
                    <a:srgbClr val="FFFFFF"/>
                  </a:solidFill>
                  <a:latin typeface="Sora" pitchFamily="34" charset="0"/>
                  <a:ea typeface="Sora" pitchFamily="34" charset="-122"/>
                  <a:cs typeface="Sora" pitchFamily="34" charset="-120"/>
                </a:rPr>
                <a:t>Inception</a:t>
              </a:r>
              <a:endParaRPr lang="en-US" sz="1400"/>
            </a:p>
          </p:txBody>
        </p:sp>
        <p:sp>
          <p:nvSpPr>
            <p:cNvPr id="7" name="Text 5"/>
            <p:cNvSpPr/>
            <p:nvPr/>
          </p:nvSpPr>
          <p:spPr>
            <a:xfrm>
              <a:off x="1097280" y="1819656"/>
              <a:ext cx="3383280" cy="36576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Actors · use cases · priorities</a:t>
              </a:r>
              <a:endParaRPr lang="en-US" sz="950"/>
            </a:p>
          </p:txBody>
        </p:sp>
        <p:sp>
          <p:nvSpPr>
            <p:cNvPr id="8" name="Shape 6"/>
            <p:cNvSpPr/>
            <p:nvPr/>
          </p:nvSpPr>
          <p:spPr>
            <a:xfrm>
              <a:off x="685800" y="2468880"/>
              <a:ext cx="182880" cy="182880"/>
            </a:xfrm>
            <a:prstGeom prst="ellipse">
              <a:avLst/>
            </a:prstGeom>
            <a:solidFill>
              <a:srgbClr val="F59E0B"/>
            </a:solidFill>
            <a:ln w="25400">
              <a:solidFill>
                <a:srgbClr val="0B0E1A"/>
              </a:solidFill>
              <a:prstDash val="solid"/>
            </a:ln>
          </p:spPr>
          <p:txBody>
            <a:bodyPr/>
            <a:lstStyle/>
            <a:p>
              <a:endParaRPr lang="fr-FR"/>
            </a:p>
          </p:txBody>
        </p:sp>
        <p:sp>
          <p:nvSpPr>
            <p:cNvPr id="9" name="Text 7"/>
            <p:cNvSpPr/>
            <p:nvPr/>
          </p:nvSpPr>
          <p:spPr>
            <a:xfrm>
              <a:off x="1097280" y="2395728"/>
              <a:ext cx="3291840" cy="292608"/>
            </a:xfrm>
            <a:prstGeom prst="rect">
              <a:avLst/>
            </a:prstGeom>
            <a:noFill/>
            <a:ln/>
          </p:spPr>
          <p:txBody>
            <a:bodyPr wrap="square" lIns="0" tIns="0" rIns="0" bIns="0" rtlCol="0" anchor="ctr"/>
            <a:lstStyle/>
            <a:p>
              <a:pPr marL="0" indent="0" algn="l">
                <a:buNone/>
              </a:pPr>
              <a:r>
                <a:rPr lang="en-US" sz="1400" b="1">
                  <a:solidFill>
                    <a:srgbClr val="FFFFFF"/>
                  </a:solidFill>
                  <a:latin typeface="Sora" pitchFamily="34" charset="0"/>
                  <a:ea typeface="Sora" pitchFamily="34" charset="-122"/>
                  <a:cs typeface="Sora" pitchFamily="34" charset="-120"/>
                </a:rPr>
                <a:t>Elaboration</a:t>
              </a:r>
              <a:endParaRPr lang="en-US" sz="1400"/>
            </a:p>
          </p:txBody>
        </p:sp>
        <p:sp>
          <p:nvSpPr>
            <p:cNvPr id="10" name="Text 8"/>
            <p:cNvSpPr/>
            <p:nvPr/>
          </p:nvSpPr>
          <p:spPr>
            <a:xfrm>
              <a:off x="1097280" y="2688336"/>
              <a:ext cx="3383280" cy="36576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Sequence &amp; class diagrams</a:t>
              </a:r>
              <a:endParaRPr lang="en-US" sz="950"/>
            </a:p>
          </p:txBody>
        </p:sp>
        <p:sp>
          <p:nvSpPr>
            <p:cNvPr id="11" name="Shape 9"/>
            <p:cNvSpPr/>
            <p:nvPr/>
          </p:nvSpPr>
          <p:spPr>
            <a:xfrm>
              <a:off x="685800" y="3337560"/>
              <a:ext cx="182880" cy="182880"/>
            </a:xfrm>
            <a:prstGeom prst="ellipse">
              <a:avLst/>
            </a:prstGeom>
            <a:solidFill>
              <a:srgbClr val="22D3EE"/>
            </a:solidFill>
            <a:ln w="25400">
              <a:solidFill>
                <a:srgbClr val="0B0E1A"/>
              </a:solidFill>
              <a:prstDash val="solid"/>
            </a:ln>
          </p:spPr>
          <p:txBody>
            <a:bodyPr/>
            <a:lstStyle/>
            <a:p>
              <a:endParaRPr lang="fr-FR"/>
            </a:p>
          </p:txBody>
        </p:sp>
        <p:sp>
          <p:nvSpPr>
            <p:cNvPr id="12" name="Text 10"/>
            <p:cNvSpPr/>
            <p:nvPr/>
          </p:nvSpPr>
          <p:spPr>
            <a:xfrm>
              <a:off x="1097280" y="3264408"/>
              <a:ext cx="3291840" cy="292608"/>
            </a:xfrm>
            <a:prstGeom prst="rect">
              <a:avLst/>
            </a:prstGeom>
            <a:noFill/>
            <a:ln/>
          </p:spPr>
          <p:txBody>
            <a:bodyPr wrap="square" lIns="0" tIns="0" rIns="0" bIns="0" rtlCol="0" anchor="ctr"/>
            <a:lstStyle/>
            <a:p>
              <a:pPr marL="0" indent="0" algn="l">
                <a:buNone/>
              </a:pPr>
              <a:r>
                <a:rPr lang="en-US" sz="1400" b="1">
                  <a:solidFill>
                    <a:srgbClr val="FFFFFF"/>
                  </a:solidFill>
                  <a:latin typeface="Sora" pitchFamily="34" charset="0"/>
                  <a:ea typeface="Sora" pitchFamily="34" charset="-122"/>
                  <a:cs typeface="Sora" pitchFamily="34" charset="-120"/>
                </a:rPr>
                <a:t>Construction</a:t>
              </a:r>
              <a:endParaRPr lang="en-US" sz="1400"/>
            </a:p>
          </p:txBody>
        </p:sp>
        <p:sp>
          <p:nvSpPr>
            <p:cNvPr id="13" name="Text 11"/>
            <p:cNvSpPr/>
            <p:nvPr/>
          </p:nvSpPr>
          <p:spPr>
            <a:xfrm>
              <a:off x="1097280" y="3557016"/>
              <a:ext cx="3383280" cy="36576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4 iterations: Auth→Attendance→Chat→Warnings</a:t>
              </a:r>
              <a:endParaRPr lang="en-US" sz="950"/>
            </a:p>
          </p:txBody>
        </p:sp>
        <p:sp>
          <p:nvSpPr>
            <p:cNvPr id="14" name="Shape 12"/>
            <p:cNvSpPr/>
            <p:nvPr/>
          </p:nvSpPr>
          <p:spPr>
            <a:xfrm>
              <a:off x="685800" y="4206240"/>
              <a:ext cx="182880" cy="182880"/>
            </a:xfrm>
            <a:prstGeom prst="ellipse">
              <a:avLst/>
            </a:prstGeom>
            <a:solidFill>
              <a:srgbClr val="10B981"/>
            </a:solidFill>
            <a:ln w="25400">
              <a:solidFill>
                <a:srgbClr val="0B0E1A"/>
              </a:solidFill>
              <a:prstDash val="solid"/>
            </a:ln>
          </p:spPr>
          <p:txBody>
            <a:bodyPr/>
            <a:lstStyle/>
            <a:p>
              <a:endParaRPr lang="fr-FR"/>
            </a:p>
          </p:txBody>
        </p:sp>
        <p:sp>
          <p:nvSpPr>
            <p:cNvPr id="15" name="Text 13"/>
            <p:cNvSpPr/>
            <p:nvPr/>
          </p:nvSpPr>
          <p:spPr>
            <a:xfrm>
              <a:off x="1097280" y="4133088"/>
              <a:ext cx="3291840" cy="292608"/>
            </a:xfrm>
            <a:prstGeom prst="rect">
              <a:avLst/>
            </a:prstGeom>
            <a:noFill/>
            <a:ln/>
          </p:spPr>
          <p:txBody>
            <a:bodyPr wrap="square" lIns="0" tIns="0" rIns="0" bIns="0" rtlCol="0" anchor="ctr"/>
            <a:lstStyle/>
            <a:p>
              <a:pPr marL="0" indent="0" algn="l">
                <a:buNone/>
              </a:pPr>
              <a:r>
                <a:rPr lang="en-US" sz="1400" b="1">
                  <a:solidFill>
                    <a:srgbClr val="FFFFFF"/>
                  </a:solidFill>
                  <a:latin typeface="Sora" pitchFamily="34" charset="0"/>
                  <a:ea typeface="Sora" pitchFamily="34" charset="-122"/>
                  <a:cs typeface="Sora" pitchFamily="34" charset="-120"/>
                </a:rPr>
                <a:t>Transition</a:t>
              </a:r>
              <a:endParaRPr lang="en-US" sz="1400"/>
            </a:p>
          </p:txBody>
        </p:sp>
        <p:sp>
          <p:nvSpPr>
            <p:cNvPr id="16" name="Text 14"/>
            <p:cNvSpPr/>
            <p:nvPr/>
          </p:nvSpPr>
          <p:spPr>
            <a:xfrm>
              <a:off x="1097280" y="4425696"/>
              <a:ext cx="3383280" cy="36576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Deployment · testing · evaluation</a:t>
              </a:r>
              <a:endParaRPr lang="en-US" sz="950"/>
            </a:p>
          </p:txBody>
        </p:sp>
      </p:grpSp>
      <p:pic>
        <p:nvPicPr>
          <p:cNvPr id="18" name="Image 0"/>
          <p:cNvPicPr>
            <a:picLocks noChangeAspect="1"/>
          </p:cNvPicPr>
          <p:nvPr/>
        </p:nvPicPr>
        <p:blipFill>
          <a:blip r:embed="rId3"/>
          <a:srcRect t="-1649" r="-5339" b="1459"/>
          <a:stretch>
            <a:fillRect/>
          </a:stretch>
        </p:blipFill>
        <p:spPr>
          <a:xfrm>
            <a:off x="4480559" y="-56425"/>
            <a:ext cx="4921537" cy="5196914"/>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500" fill="hold"/>
                                        <p:tgtEl>
                                          <p:spTgt spid="19"/>
                                        </p:tgtEl>
                                        <p:attrNameLst>
                                          <p:attrName>ppt_x</p:attrName>
                                        </p:attrNameLst>
                                      </p:cBhvr>
                                      <p:tavLst>
                                        <p:tav tm="0">
                                          <p:val>
                                            <p:strVal val="#ppt_x"/>
                                          </p:val>
                                        </p:tav>
                                        <p:tav tm="100000">
                                          <p:val>
                                            <p:strVal val="#ppt_x"/>
                                          </p:val>
                                        </p:tav>
                                      </p:tavLst>
                                    </p:anim>
                                    <p:anim calcmode="lin" valueType="num">
                                      <p:cBhvr additive="base">
                                        <p:cTn id="8" dur="1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12"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750" fill="hold"/>
                                        <p:tgtEl>
                                          <p:spTgt spid="2"/>
                                        </p:tgtEl>
                                        <p:attrNameLst>
                                          <p:attrName>ppt_x</p:attrName>
                                        </p:attrNameLst>
                                      </p:cBhvr>
                                      <p:tavLst>
                                        <p:tav tm="0">
                                          <p:val>
                                            <p:strVal val="0-#ppt_w/2"/>
                                          </p:val>
                                        </p:tav>
                                        <p:tav tm="100000">
                                          <p:val>
                                            <p:strVal val="#ppt_x"/>
                                          </p:val>
                                        </p:tav>
                                      </p:tavLst>
                                    </p:anim>
                                    <p:anim calcmode="lin" valueType="num">
                                      <p:cBhvr additive="base">
                                        <p:cTn id="12" dur="17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B0E1A"/>
        </a:solidFill>
        <a:effectLst/>
      </p:bgPr>
    </p:bg>
    <p:spTree>
      <p:nvGrpSpPr>
        <p:cNvPr id="1" name=""/>
        <p:cNvGrpSpPr/>
        <p:nvPr/>
      </p:nvGrpSpPr>
      <p:grpSpPr>
        <a:xfrm>
          <a:off x="0" y="0"/>
          <a:ext cx="0" cy="0"/>
          <a:chOff x="0" y="0"/>
          <a:chExt cx="0" cy="0"/>
        </a:xfrm>
      </p:grpSpPr>
      <p:sp>
        <p:nvSpPr>
          <p:cNvPr id="2" name="GRAD::cyanEmerald2::blob::13"/>
          <p:cNvSpPr/>
          <p:nvPr/>
        </p:nvSpPr>
        <p:spPr>
          <a:xfrm>
            <a:off x="6053328" y="-1760220"/>
            <a:ext cx="5029200" cy="5029200"/>
          </a:xfrm>
          <a:prstGeom prst="ellipse">
            <a:avLst/>
          </a:prstGeom>
          <a:gradFill rotWithShape="1">
            <a:gsLst>
              <a:gs pos="0">
                <a:srgbClr val="22D3EE">
                  <a:alpha val="46000"/>
                </a:srgbClr>
              </a:gs>
              <a:gs pos="55000">
                <a:srgbClr val="10B981">
                  <a:alpha val="19000"/>
                </a:srgbClr>
              </a:gs>
              <a:gs pos="100000">
                <a:srgbClr val="10B981">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384048"/>
            <a:ext cx="7315200" cy="502920"/>
          </a:xfrm>
          <a:prstGeom prst="rect">
            <a:avLst/>
          </a:prstGeom>
          <a:noFill/>
          <a:ln/>
        </p:spPr>
        <p:txBody>
          <a:bodyPr wrap="square" lIns="0" tIns="0" rIns="0" bIns="0" rtlCol="0" anchor="ctr"/>
          <a:lstStyle/>
          <a:p>
            <a:pPr marL="0" indent="0" algn="l">
              <a:buNone/>
            </a:pPr>
            <a:r>
              <a:rPr lang="en-US" sz="2500" b="1">
                <a:solidFill>
                  <a:srgbClr val="FFFFFF"/>
                </a:solidFill>
                <a:latin typeface="Sora" pitchFamily="34" charset="0"/>
                <a:ea typeface="Sora" pitchFamily="34" charset="-122"/>
                <a:cs typeface="Sora" pitchFamily="34" charset="-120"/>
              </a:rPr>
              <a:t>Architecture, layer by layer</a:t>
            </a:r>
            <a:endParaRPr lang="en-US" sz="2500"/>
          </a:p>
        </p:txBody>
      </p:sp>
      <p:grpSp>
        <p:nvGrpSpPr>
          <p:cNvPr id="22" name="Group 21">
            <a:extLst>
              <a:ext uri="{FF2B5EF4-FFF2-40B4-BE49-F238E27FC236}">
                <a16:creationId xmlns:a16="http://schemas.microsoft.com/office/drawing/2014/main" id="{DF7A110F-3727-AA42-2F57-F0ECC92D1222}"/>
              </a:ext>
            </a:extLst>
          </p:cNvPr>
          <p:cNvGrpSpPr/>
          <p:nvPr/>
        </p:nvGrpSpPr>
        <p:grpSpPr>
          <a:xfrm>
            <a:off x="502920" y="960120"/>
            <a:ext cx="8229600" cy="2331720"/>
            <a:chOff x="502920" y="960120"/>
            <a:chExt cx="8229600" cy="2331720"/>
          </a:xfrm>
        </p:grpSpPr>
        <p:sp>
          <p:nvSpPr>
            <p:cNvPr id="4" name="ANIM::0::card14"/>
            <p:cNvSpPr/>
            <p:nvPr/>
          </p:nvSpPr>
          <p:spPr>
            <a:xfrm>
              <a:off x="502920" y="960120"/>
              <a:ext cx="8229600" cy="2331720"/>
            </a:xfrm>
            <a:prstGeom prst="roundRect">
              <a:avLst>
                <a:gd name="adj" fmla="val 627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pic>
          <p:nvPicPr>
            <p:cNvPr id="5" name="Image 0" descr="preencoded.png"/>
            <p:cNvPicPr>
              <a:picLocks noChangeAspect="1"/>
            </p:cNvPicPr>
            <p:nvPr/>
          </p:nvPicPr>
          <p:blipFill>
            <a:blip r:embed="rId3"/>
            <a:stretch>
              <a:fillRect/>
            </a:stretch>
          </p:blipFill>
          <p:spPr>
            <a:xfrm>
              <a:off x="748800" y="1170432"/>
              <a:ext cx="7709400" cy="1920240"/>
            </a:xfrm>
            <a:prstGeom prst="rect">
              <a:avLst/>
            </a:prstGeom>
          </p:spPr>
        </p:pic>
      </p:grpSp>
      <p:grpSp>
        <p:nvGrpSpPr>
          <p:cNvPr id="26" name="Group 25">
            <a:extLst>
              <a:ext uri="{FF2B5EF4-FFF2-40B4-BE49-F238E27FC236}">
                <a16:creationId xmlns:a16="http://schemas.microsoft.com/office/drawing/2014/main" id="{0A377E23-F93D-1525-684D-8AC5AEFFC2DD}"/>
              </a:ext>
            </a:extLst>
          </p:cNvPr>
          <p:cNvGrpSpPr/>
          <p:nvPr/>
        </p:nvGrpSpPr>
        <p:grpSpPr>
          <a:xfrm>
            <a:off x="502920" y="3520440"/>
            <a:ext cx="1920240" cy="1371600"/>
            <a:chOff x="502920" y="3520440"/>
            <a:chExt cx="1920240" cy="1371600"/>
          </a:xfrm>
        </p:grpSpPr>
        <p:sp>
          <p:nvSpPr>
            <p:cNvPr id="6" name="ANIM::200::card15"/>
            <p:cNvSpPr/>
            <p:nvPr/>
          </p:nvSpPr>
          <p:spPr>
            <a:xfrm>
              <a:off x="502920" y="3520440"/>
              <a:ext cx="1920240" cy="1371600"/>
            </a:xfrm>
            <a:prstGeom prst="roundRect">
              <a:avLst>
                <a:gd name="adj" fmla="val 10667"/>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7" name="Shape 4"/>
            <p:cNvSpPr/>
            <p:nvPr/>
          </p:nvSpPr>
          <p:spPr>
            <a:xfrm>
              <a:off x="667512" y="3675888"/>
              <a:ext cx="365760" cy="365760"/>
            </a:xfrm>
            <a:prstGeom prst="roundRect">
              <a:avLst>
                <a:gd name="adj" fmla="val 25000"/>
              </a:avLst>
            </a:prstGeom>
            <a:solidFill>
              <a:srgbClr val="22D3EE"/>
            </a:solidFill>
            <a:ln/>
          </p:spPr>
          <p:txBody>
            <a:bodyPr/>
            <a:lstStyle/>
            <a:p>
              <a:endParaRPr lang="fr-FR"/>
            </a:p>
          </p:txBody>
        </p:sp>
        <p:sp>
          <p:nvSpPr>
            <p:cNvPr id="8" name="Text 5"/>
            <p:cNvSpPr/>
            <p:nvPr/>
          </p:nvSpPr>
          <p:spPr>
            <a:xfrm>
              <a:off x="667512" y="4114800"/>
              <a:ext cx="1645920" cy="274320"/>
            </a:xfrm>
            <a:prstGeom prst="rect">
              <a:avLst/>
            </a:prstGeom>
            <a:noFill/>
            <a:ln/>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BaaS</a:t>
              </a:r>
              <a:endParaRPr lang="en-US" sz="1300"/>
            </a:p>
          </p:txBody>
        </p:sp>
        <p:sp>
          <p:nvSpPr>
            <p:cNvPr id="9" name="Text 6"/>
            <p:cNvSpPr/>
            <p:nvPr/>
          </p:nvSpPr>
          <p:spPr>
            <a:xfrm>
              <a:off x="667512" y="4407408"/>
              <a:ext cx="1645920" cy="457200"/>
            </a:xfrm>
            <a:prstGeom prst="rect">
              <a:avLst/>
            </a:prstGeom>
            <a:noFill/>
            <a:ln/>
          </p:spPr>
          <p:txBody>
            <a:bodyPr wrap="square" lIns="0" tIns="0" rIns="0" bIns="0" rtlCol="0" anchor="ctr"/>
            <a:lstStyle/>
            <a:p>
              <a:pPr marL="0" indent="0" algn="l">
                <a:buNone/>
              </a:pPr>
              <a:r>
                <a:rPr lang="en-US" sz="900">
                  <a:solidFill>
                    <a:srgbClr val="8890A6"/>
                  </a:solidFill>
                  <a:latin typeface="Inter" pitchFamily="34" charset="0"/>
                  <a:ea typeface="Inter" pitchFamily="34" charset="-122"/>
                  <a:cs typeface="Inter" pitchFamily="34" charset="-120"/>
                </a:rPr>
                <a:t>REST + WebSocket, zero server code</a:t>
              </a:r>
              <a:endParaRPr lang="en-US" sz="900"/>
            </a:p>
          </p:txBody>
        </p:sp>
      </p:grpSp>
      <p:grpSp>
        <p:nvGrpSpPr>
          <p:cNvPr id="25" name="Group 24">
            <a:extLst>
              <a:ext uri="{FF2B5EF4-FFF2-40B4-BE49-F238E27FC236}">
                <a16:creationId xmlns:a16="http://schemas.microsoft.com/office/drawing/2014/main" id="{053FEE66-EE7C-389D-9539-7622C41FC961}"/>
              </a:ext>
            </a:extLst>
          </p:cNvPr>
          <p:cNvGrpSpPr/>
          <p:nvPr/>
        </p:nvGrpSpPr>
        <p:grpSpPr>
          <a:xfrm>
            <a:off x="2587752" y="3520440"/>
            <a:ext cx="1920240" cy="1371600"/>
            <a:chOff x="2587752" y="3520440"/>
            <a:chExt cx="1920240" cy="1371600"/>
          </a:xfrm>
        </p:grpSpPr>
        <p:sp>
          <p:nvSpPr>
            <p:cNvPr id="10" name="ANIM::330::card16"/>
            <p:cNvSpPr/>
            <p:nvPr/>
          </p:nvSpPr>
          <p:spPr>
            <a:xfrm>
              <a:off x="2587752" y="3520440"/>
              <a:ext cx="1920240" cy="1371600"/>
            </a:xfrm>
            <a:prstGeom prst="roundRect">
              <a:avLst>
                <a:gd name="adj" fmla="val 10667"/>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1" name="Shape 8"/>
            <p:cNvSpPr/>
            <p:nvPr/>
          </p:nvSpPr>
          <p:spPr>
            <a:xfrm>
              <a:off x="2752344" y="3675888"/>
              <a:ext cx="365760" cy="365760"/>
            </a:xfrm>
            <a:prstGeom prst="roundRect">
              <a:avLst>
                <a:gd name="adj" fmla="val 25000"/>
              </a:avLst>
            </a:prstGeom>
            <a:solidFill>
              <a:srgbClr val="10B981"/>
            </a:solidFill>
            <a:ln/>
          </p:spPr>
          <p:txBody>
            <a:bodyPr/>
            <a:lstStyle/>
            <a:p>
              <a:endParaRPr lang="fr-FR"/>
            </a:p>
          </p:txBody>
        </p:sp>
        <p:sp>
          <p:nvSpPr>
            <p:cNvPr id="12" name="Text 9"/>
            <p:cNvSpPr/>
            <p:nvPr/>
          </p:nvSpPr>
          <p:spPr>
            <a:xfrm>
              <a:off x="2752344" y="4114800"/>
              <a:ext cx="1645920" cy="274320"/>
            </a:xfrm>
            <a:prstGeom prst="rect">
              <a:avLst/>
            </a:prstGeom>
            <a:noFill/>
            <a:ln/>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RLS</a:t>
              </a:r>
              <a:endParaRPr lang="en-US" sz="1300"/>
            </a:p>
          </p:txBody>
        </p:sp>
        <p:sp>
          <p:nvSpPr>
            <p:cNvPr id="13" name="Text 10"/>
            <p:cNvSpPr/>
            <p:nvPr/>
          </p:nvSpPr>
          <p:spPr>
            <a:xfrm>
              <a:off x="2752344" y="4407408"/>
              <a:ext cx="1645920" cy="457200"/>
            </a:xfrm>
            <a:prstGeom prst="rect">
              <a:avLst/>
            </a:prstGeom>
            <a:noFill/>
            <a:ln/>
          </p:spPr>
          <p:txBody>
            <a:bodyPr wrap="square" lIns="0" tIns="0" rIns="0" bIns="0" rtlCol="0" anchor="ctr"/>
            <a:lstStyle/>
            <a:p>
              <a:pPr marL="0" indent="0" algn="l">
                <a:buNone/>
              </a:pPr>
              <a:r>
                <a:rPr lang="en-US" sz="900">
                  <a:solidFill>
                    <a:srgbClr val="8890A6"/>
                  </a:solidFill>
                  <a:latin typeface="Inter" pitchFamily="34" charset="0"/>
                  <a:ea typeface="Inter" pitchFamily="34" charset="-122"/>
                  <a:cs typeface="Inter" pitchFamily="34" charset="-120"/>
                </a:rPr>
                <a:t>Per-company isolation via JWT</a:t>
              </a:r>
              <a:endParaRPr lang="en-US" sz="900"/>
            </a:p>
          </p:txBody>
        </p:sp>
      </p:grpSp>
      <p:grpSp>
        <p:nvGrpSpPr>
          <p:cNvPr id="24" name="Group 23">
            <a:extLst>
              <a:ext uri="{FF2B5EF4-FFF2-40B4-BE49-F238E27FC236}">
                <a16:creationId xmlns:a16="http://schemas.microsoft.com/office/drawing/2014/main" id="{893442E0-44F0-5162-019C-03F1E87E5FD1}"/>
              </a:ext>
            </a:extLst>
          </p:cNvPr>
          <p:cNvGrpSpPr/>
          <p:nvPr/>
        </p:nvGrpSpPr>
        <p:grpSpPr>
          <a:xfrm>
            <a:off x="4672584" y="3520440"/>
            <a:ext cx="1920240" cy="1371600"/>
            <a:chOff x="4672584" y="3520440"/>
            <a:chExt cx="1920240" cy="1371600"/>
          </a:xfrm>
        </p:grpSpPr>
        <p:sp>
          <p:nvSpPr>
            <p:cNvPr id="14" name="ANIM::460::card17"/>
            <p:cNvSpPr/>
            <p:nvPr/>
          </p:nvSpPr>
          <p:spPr>
            <a:xfrm>
              <a:off x="4672584" y="3520440"/>
              <a:ext cx="1920240" cy="1371600"/>
            </a:xfrm>
            <a:prstGeom prst="roundRect">
              <a:avLst>
                <a:gd name="adj" fmla="val 10667"/>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5" name="Shape 12"/>
            <p:cNvSpPr/>
            <p:nvPr/>
          </p:nvSpPr>
          <p:spPr>
            <a:xfrm>
              <a:off x="4837176" y="3675888"/>
              <a:ext cx="365760" cy="365760"/>
            </a:xfrm>
            <a:prstGeom prst="roundRect">
              <a:avLst>
                <a:gd name="adj" fmla="val 25000"/>
              </a:avLst>
            </a:prstGeom>
            <a:solidFill>
              <a:srgbClr val="8B5CF6"/>
            </a:solidFill>
            <a:ln/>
          </p:spPr>
          <p:txBody>
            <a:bodyPr/>
            <a:lstStyle/>
            <a:p>
              <a:endParaRPr lang="fr-FR"/>
            </a:p>
          </p:txBody>
        </p:sp>
        <p:sp>
          <p:nvSpPr>
            <p:cNvPr id="16" name="Text 13"/>
            <p:cNvSpPr/>
            <p:nvPr/>
          </p:nvSpPr>
          <p:spPr>
            <a:xfrm>
              <a:off x="4837176" y="4114800"/>
              <a:ext cx="1645920" cy="274320"/>
            </a:xfrm>
            <a:prstGeom prst="rect">
              <a:avLst/>
            </a:prstGeom>
            <a:noFill/>
            <a:ln/>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Realtime</a:t>
              </a:r>
              <a:endParaRPr lang="en-US" sz="1300"/>
            </a:p>
          </p:txBody>
        </p:sp>
        <p:sp>
          <p:nvSpPr>
            <p:cNvPr id="17" name="Text 14"/>
            <p:cNvSpPr/>
            <p:nvPr/>
          </p:nvSpPr>
          <p:spPr>
            <a:xfrm>
              <a:off x="4837176" y="4407408"/>
              <a:ext cx="1645920" cy="457200"/>
            </a:xfrm>
            <a:prstGeom prst="rect">
              <a:avLst/>
            </a:prstGeom>
            <a:noFill/>
            <a:ln/>
          </p:spPr>
          <p:txBody>
            <a:bodyPr wrap="square" lIns="0" tIns="0" rIns="0" bIns="0" rtlCol="0" anchor="ctr"/>
            <a:lstStyle/>
            <a:p>
              <a:pPr marL="0" indent="0" algn="l">
                <a:buNone/>
              </a:pPr>
              <a:r>
                <a:rPr lang="en-US" sz="900">
                  <a:solidFill>
                    <a:srgbClr val="8890A6"/>
                  </a:solidFill>
                  <a:latin typeface="Inter" pitchFamily="34" charset="0"/>
                  <a:ea typeface="Inter" pitchFamily="34" charset="-122"/>
                  <a:cs typeface="Inter" pitchFamily="34" charset="-120"/>
                </a:rPr>
                <a:t>CDC pushes updates in ms</a:t>
              </a:r>
              <a:endParaRPr lang="en-US" sz="900"/>
            </a:p>
          </p:txBody>
        </p:sp>
      </p:grpSp>
      <p:grpSp>
        <p:nvGrpSpPr>
          <p:cNvPr id="23" name="Group 22">
            <a:extLst>
              <a:ext uri="{FF2B5EF4-FFF2-40B4-BE49-F238E27FC236}">
                <a16:creationId xmlns:a16="http://schemas.microsoft.com/office/drawing/2014/main" id="{219963BB-868C-AF37-03C4-1CB8FCD27A5E}"/>
              </a:ext>
            </a:extLst>
          </p:cNvPr>
          <p:cNvGrpSpPr/>
          <p:nvPr/>
        </p:nvGrpSpPr>
        <p:grpSpPr>
          <a:xfrm>
            <a:off x="6757416" y="3520440"/>
            <a:ext cx="1920240" cy="1371600"/>
            <a:chOff x="6757416" y="3520440"/>
            <a:chExt cx="1920240" cy="1371600"/>
          </a:xfrm>
        </p:grpSpPr>
        <p:sp>
          <p:nvSpPr>
            <p:cNvPr id="18" name="ANIM::590::card18"/>
            <p:cNvSpPr/>
            <p:nvPr/>
          </p:nvSpPr>
          <p:spPr>
            <a:xfrm>
              <a:off x="6757416" y="3520440"/>
              <a:ext cx="1920240" cy="1371600"/>
            </a:xfrm>
            <a:prstGeom prst="roundRect">
              <a:avLst>
                <a:gd name="adj" fmla="val 10667"/>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9" name="Shape 16"/>
            <p:cNvSpPr/>
            <p:nvPr/>
          </p:nvSpPr>
          <p:spPr>
            <a:xfrm>
              <a:off x="6922008" y="3675888"/>
              <a:ext cx="365760" cy="365760"/>
            </a:xfrm>
            <a:prstGeom prst="roundRect">
              <a:avLst>
                <a:gd name="adj" fmla="val 25000"/>
              </a:avLst>
            </a:prstGeom>
            <a:solidFill>
              <a:srgbClr val="FF6B6B"/>
            </a:solidFill>
            <a:ln/>
          </p:spPr>
          <p:txBody>
            <a:bodyPr/>
            <a:lstStyle/>
            <a:p>
              <a:endParaRPr lang="fr-FR"/>
            </a:p>
          </p:txBody>
        </p:sp>
        <p:sp>
          <p:nvSpPr>
            <p:cNvPr id="20" name="Text 17"/>
            <p:cNvSpPr/>
            <p:nvPr/>
          </p:nvSpPr>
          <p:spPr>
            <a:xfrm>
              <a:off x="6922008" y="4114800"/>
              <a:ext cx="1645920" cy="274320"/>
            </a:xfrm>
            <a:prstGeom prst="rect">
              <a:avLst/>
            </a:prstGeom>
            <a:noFill/>
            <a:ln/>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Offline</a:t>
              </a:r>
              <a:endParaRPr lang="en-US" sz="1300"/>
            </a:p>
          </p:txBody>
        </p:sp>
        <p:sp>
          <p:nvSpPr>
            <p:cNvPr id="21" name="Text 18"/>
            <p:cNvSpPr/>
            <p:nvPr/>
          </p:nvSpPr>
          <p:spPr>
            <a:xfrm>
              <a:off x="6922008" y="4407408"/>
              <a:ext cx="1645920" cy="457200"/>
            </a:xfrm>
            <a:prstGeom prst="rect">
              <a:avLst/>
            </a:prstGeom>
            <a:noFill/>
            <a:ln/>
          </p:spPr>
          <p:txBody>
            <a:bodyPr wrap="square" lIns="0" tIns="0" rIns="0" bIns="0" rtlCol="0" anchor="ctr"/>
            <a:lstStyle/>
            <a:p>
              <a:pPr marL="0" indent="0" algn="l">
                <a:buNone/>
              </a:pPr>
              <a:r>
                <a:rPr lang="en-US" sz="900">
                  <a:solidFill>
                    <a:srgbClr val="8890A6"/>
                  </a:solidFill>
                  <a:latin typeface="Inter" pitchFamily="34" charset="0"/>
                  <a:ea typeface="Inter" pitchFamily="34" charset="-122"/>
                  <a:cs typeface="Inter" pitchFamily="34" charset="-120"/>
                </a:rPr>
                <a:t>SQLite cache, auto-sync</a:t>
              </a:r>
              <a:endParaRPr lang="en-US" sz="9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000"/>
                                        <p:tgtEl>
                                          <p:spTgt spid="22"/>
                                        </p:tgtEl>
                                      </p:cBhvr>
                                    </p:animEffect>
                                  </p:childTnLst>
                                </p:cTn>
                              </p:par>
                              <p:par>
                                <p:cTn id="8" presetID="2" presetClass="entr" presetSubtype="12"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2000" fill="hold"/>
                                        <p:tgtEl>
                                          <p:spTgt spid="2"/>
                                        </p:tgtEl>
                                        <p:attrNameLst>
                                          <p:attrName>ppt_x</p:attrName>
                                        </p:attrNameLst>
                                      </p:cBhvr>
                                      <p:tavLst>
                                        <p:tav tm="0">
                                          <p:val>
                                            <p:strVal val="0-#ppt_w/2"/>
                                          </p:val>
                                        </p:tav>
                                        <p:tav tm="100000">
                                          <p:val>
                                            <p:strVal val="#ppt_x"/>
                                          </p:val>
                                        </p:tav>
                                      </p:tavLst>
                                    </p:anim>
                                    <p:anim calcmode="lin" valueType="num">
                                      <p:cBhvr additive="base">
                                        <p:cTn id="11" dur="2000" fill="hold"/>
                                        <p:tgtEl>
                                          <p:spTgt spid="2"/>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1000" fill="hold"/>
                                        <p:tgtEl>
                                          <p:spTgt spid="26"/>
                                        </p:tgtEl>
                                        <p:attrNameLst>
                                          <p:attrName>ppt_x</p:attrName>
                                        </p:attrNameLst>
                                      </p:cBhvr>
                                      <p:tavLst>
                                        <p:tav tm="0">
                                          <p:val>
                                            <p:strVal val="#ppt_x"/>
                                          </p:val>
                                        </p:tav>
                                        <p:tav tm="100000">
                                          <p:val>
                                            <p:strVal val="#ppt_x"/>
                                          </p:val>
                                        </p:tav>
                                      </p:tavLst>
                                    </p:anim>
                                    <p:anim calcmode="lin" valueType="num">
                                      <p:cBhvr additive="base">
                                        <p:cTn id="15" dur="1000" fill="hold"/>
                                        <p:tgtEl>
                                          <p:spTgt spid="26"/>
                                        </p:tgtEl>
                                        <p:attrNameLst>
                                          <p:attrName>ppt_y</p:attrName>
                                        </p:attrNameLst>
                                      </p:cBhvr>
                                      <p:tavLst>
                                        <p:tav tm="0">
                                          <p:val>
                                            <p:strVal val="1+#ppt_h/2"/>
                                          </p:val>
                                        </p:tav>
                                        <p:tav tm="100000">
                                          <p:val>
                                            <p:strVal val="#ppt_y"/>
                                          </p:val>
                                        </p:tav>
                                      </p:tavLst>
                                    </p:anim>
                                  </p:childTnLst>
                                </p:cTn>
                              </p:par>
                            </p:childTnLst>
                          </p:cTn>
                        </p:par>
                        <p:par>
                          <p:cTn id="16" fill="hold">
                            <p:stCondLst>
                              <p:cond delay="2000"/>
                            </p:stCondLst>
                            <p:childTnLst>
                              <p:par>
                                <p:cTn id="17" presetID="2" presetClass="entr" presetSubtype="4"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1000" fill="hold"/>
                                        <p:tgtEl>
                                          <p:spTgt spid="25"/>
                                        </p:tgtEl>
                                        <p:attrNameLst>
                                          <p:attrName>ppt_x</p:attrName>
                                        </p:attrNameLst>
                                      </p:cBhvr>
                                      <p:tavLst>
                                        <p:tav tm="0">
                                          <p:val>
                                            <p:strVal val="#ppt_x"/>
                                          </p:val>
                                        </p:tav>
                                        <p:tav tm="100000">
                                          <p:val>
                                            <p:strVal val="#ppt_x"/>
                                          </p:val>
                                        </p:tav>
                                      </p:tavLst>
                                    </p:anim>
                                    <p:anim calcmode="lin" valueType="num">
                                      <p:cBhvr additive="base">
                                        <p:cTn id="20" dur="1000" fill="hold"/>
                                        <p:tgtEl>
                                          <p:spTgt spid="25"/>
                                        </p:tgtEl>
                                        <p:attrNameLst>
                                          <p:attrName>ppt_y</p:attrName>
                                        </p:attrNameLst>
                                      </p:cBhvr>
                                      <p:tavLst>
                                        <p:tav tm="0">
                                          <p:val>
                                            <p:strVal val="1+#ppt_h/2"/>
                                          </p:val>
                                        </p:tav>
                                        <p:tav tm="100000">
                                          <p:val>
                                            <p:strVal val="#ppt_y"/>
                                          </p:val>
                                        </p:tav>
                                      </p:tavLst>
                                    </p:anim>
                                  </p:childTnLst>
                                </p:cTn>
                              </p:par>
                            </p:childTnLst>
                          </p:cTn>
                        </p:par>
                        <p:par>
                          <p:cTn id="21" fill="hold">
                            <p:stCondLst>
                              <p:cond delay="3000"/>
                            </p:stCondLst>
                            <p:childTnLst>
                              <p:par>
                                <p:cTn id="22" presetID="2" presetClass="entr" presetSubtype="4" fill="hold" nodeType="after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1000" fill="hold"/>
                                        <p:tgtEl>
                                          <p:spTgt spid="24"/>
                                        </p:tgtEl>
                                        <p:attrNameLst>
                                          <p:attrName>ppt_x</p:attrName>
                                        </p:attrNameLst>
                                      </p:cBhvr>
                                      <p:tavLst>
                                        <p:tav tm="0">
                                          <p:val>
                                            <p:strVal val="#ppt_x"/>
                                          </p:val>
                                        </p:tav>
                                        <p:tav tm="100000">
                                          <p:val>
                                            <p:strVal val="#ppt_x"/>
                                          </p:val>
                                        </p:tav>
                                      </p:tavLst>
                                    </p:anim>
                                    <p:anim calcmode="lin" valueType="num">
                                      <p:cBhvr additive="base">
                                        <p:cTn id="25" dur="1000" fill="hold"/>
                                        <p:tgtEl>
                                          <p:spTgt spid="24"/>
                                        </p:tgtEl>
                                        <p:attrNameLst>
                                          <p:attrName>ppt_y</p:attrName>
                                        </p:attrNameLst>
                                      </p:cBhvr>
                                      <p:tavLst>
                                        <p:tav tm="0">
                                          <p:val>
                                            <p:strVal val="1+#ppt_h/2"/>
                                          </p:val>
                                        </p:tav>
                                        <p:tav tm="100000">
                                          <p:val>
                                            <p:strVal val="#ppt_y"/>
                                          </p:val>
                                        </p:tav>
                                      </p:tavLst>
                                    </p:anim>
                                  </p:childTnLst>
                                </p:cTn>
                              </p:par>
                            </p:childTnLst>
                          </p:cTn>
                        </p:par>
                        <p:par>
                          <p:cTn id="26" fill="hold">
                            <p:stCondLst>
                              <p:cond delay="4000"/>
                            </p:stCondLst>
                            <p:childTnLst>
                              <p:par>
                                <p:cTn id="27" presetID="2" presetClass="entr" presetSubtype="4"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1000" fill="hold"/>
                                        <p:tgtEl>
                                          <p:spTgt spid="23"/>
                                        </p:tgtEl>
                                        <p:attrNameLst>
                                          <p:attrName>ppt_x</p:attrName>
                                        </p:attrNameLst>
                                      </p:cBhvr>
                                      <p:tavLst>
                                        <p:tav tm="0">
                                          <p:val>
                                            <p:strVal val="#ppt_x"/>
                                          </p:val>
                                        </p:tav>
                                        <p:tav tm="100000">
                                          <p:val>
                                            <p:strVal val="#ppt_x"/>
                                          </p:val>
                                        </p:tav>
                                      </p:tavLst>
                                    </p:anim>
                                    <p:anim calcmode="lin" valueType="num">
                                      <p:cBhvr additive="base">
                                        <p:cTn id="30" dur="10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P spid="10" grpId="0"/>
      <p:bldP spid="14"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0B0E1A"/>
        </a:solidFill>
        <a:effectLst/>
      </p:bgPr>
    </p:bg>
    <p:spTree>
      <p:nvGrpSpPr>
        <p:cNvPr id="1" name=""/>
        <p:cNvGrpSpPr/>
        <p:nvPr/>
      </p:nvGrpSpPr>
      <p:grpSpPr>
        <a:xfrm>
          <a:off x="0" y="0"/>
          <a:ext cx="0" cy="0"/>
          <a:chOff x="0" y="0"/>
          <a:chExt cx="0" cy="0"/>
        </a:xfrm>
      </p:grpSpPr>
      <p:sp>
        <p:nvSpPr>
          <p:cNvPr id="2" name="GRAD::blueViolet3::blob::s"/>
          <p:cNvSpPr/>
          <p:nvPr/>
        </p:nvSpPr>
        <p:spPr>
          <a:xfrm>
            <a:off x="6858000" y="3200400"/>
            <a:ext cx="5029200" cy="5029200"/>
          </a:xfrm>
          <a:prstGeom prst="ellipse">
            <a:avLst/>
          </a:prstGeom>
          <a:gradFill rotWithShape="1">
            <a:gsLst>
              <a:gs pos="0">
                <a:srgbClr val="4F7CFF">
                  <a:alpha val="42000"/>
                </a:srgbClr>
              </a:gs>
              <a:gs pos="55000">
                <a:srgbClr val="8B5CF6">
                  <a:alpha val="16000"/>
                </a:srgbClr>
              </a:gs>
              <a:gs pos="100000">
                <a:srgbClr val="8B5CF6">
                  <a:alpha val="0"/>
                </a:srgbClr>
              </a:gs>
            </a:gsLst>
            <a:path path="circle">
              <a:fillToRect l="50000" t="50000" r="50000" b="50000"/>
            </a:path>
          </a:gradFill>
          <a:ln/>
          <a:effectLst>
            <a:softEdge rad="380000"/>
          </a:effectLst>
        </p:spPr>
        <p:txBody>
          <a:bodyPr/>
          <a:lstStyle/>
          <a:p>
            <a:endParaRPr lang="fr-FR"/>
          </a:p>
        </p:txBody>
      </p:sp>
      <p:sp>
        <p:nvSpPr>
          <p:cNvPr id="3" name="ANIM::0::ht"/>
          <p:cNvSpPr/>
          <p:nvPr/>
        </p:nvSpPr>
        <p:spPr>
          <a:xfrm>
            <a:off x="502920" y="457200"/>
            <a:ext cx="6400800" cy="54864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MVC Design Pattern</a:t>
            </a:r>
            <a:endParaRPr lang="en-US" sz="2600"/>
          </a:p>
        </p:txBody>
      </p:sp>
      <p:sp>
        <p:nvSpPr>
          <p:cNvPr id="4" name="Text 2"/>
          <p:cNvSpPr/>
          <p:nvPr/>
        </p:nvSpPr>
        <p:spPr>
          <a:xfrm>
            <a:off x="521208" y="987552"/>
            <a:ext cx="6400800" cy="27432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Organizing code by separating data (Model), screens (View), and logic (Controller).</a:t>
            </a:r>
            <a:endParaRPr lang="en-US" sz="1300"/>
          </a:p>
        </p:txBody>
      </p:sp>
      <p:sp>
        <p:nvSpPr>
          <p:cNvPr id="5" name="GRAD::blueViolet::panel::u"/>
          <p:cNvSpPr/>
          <p:nvPr/>
        </p:nvSpPr>
        <p:spPr>
          <a:xfrm>
            <a:off x="525780" y="1435752"/>
            <a:ext cx="2606040" cy="3063240"/>
          </a:xfrm>
          <a:prstGeom prst="roundRect">
            <a:avLst>
              <a:gd name="adj" fmla="val 6316"/>
            </a:avLst>
          </a:prstGeom>
          <a:gradFill rotWithShape="1">
            <a:gsLst>
              <a:gs pos="0">
                <a:srgbClr val="4F7CFF"/>
              </a:gs>
              <a:gs pos="100000">
                <a:srgbClr val="8B5CF6"/>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6" name="Shape 4"/>
          <p:cNvSpPr/>
          <p:nvPr/>
        </p:nvSpPr>
        <p:spPr>
          <a:xfrm>
            <a:off x="731520" y="1706832"/>
            <a:ext cx="640080" cy="640080"/>
          </a:xfrm>
          <a:prstGeom prst="roundRect">
            <a:avLst>
              <a:gd name="adj" fmla="val 22857"/>
            </a:avLst>
          </a:prstGeom>
          <a:solidFill>
            <a:srgbClr val="FFFFFF">
              <a:alpha val="20000"/>
            </a:srgbClr>
          </a:solidFill>
          <a:ln/>
        </p:spPr>
        <p:txBody>
          <a:bodyPr/>
          <a:lstStyle/>
          <a:p>
            <a:endParaRPr lang="fr-FR"/>
          </a:p>
        </p:txBody>
      </p:sp>
      <p:sp>
        <p:nvSpPr>
          <p:cNvPr id="7" name="Text 5"/>
          <p:cNvSpPr/>
          <p:nvPr/>
        </p:nvSpPr>
        <p:spPr>
          <a:xfrm>
            <a:off x="731520" y="1688544"/>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8" name="Text 6"/>
          <p:cNvSpPr/>
          <p:nvPr/>
        </p:nvSpPr>
        <p:spPr>
          <a:xfrm>
            <a:off x="731520" y="2389680"/>
            <a:ext cx="2194560" cy="457200"/>
          </a:xfrm>
          <a:prstGeom prst="rect">
            <a:avLst/>
          </a:prstGeom>
          <a:noFill/>
          <a:ln/>
        </p:spPr>
        <p:txBody>
          <a:bodyPr wrap="square" lIns="0" tIns="0" rIns="0" bIns="0" rtlCol="0" anchor="ctr"/>
          <a:lstStyle/>
          <a:p>
            <a:pPr marL="0" indent="0" algn="l">
              <a:buNone/>
            </a:pPr>
            <a:r>
              <a:rPr lang="en-US" sz="1600" b="1">
                <a:solidFill>
                  <a:srgbClr val="FFFFFF"/>
                </a:solidFill>
                <a:latin typeface="Sora"/>
                <a:ea typeface="Sora"/>
                <a:cs typeface="Sora"/>
              </a:rPr>
              <a:t>Model (Data)</a:t>
            </a:r>
            <a:endParaRPr lang="en-US" sz="1600"/>
          </a:p>
        </p:txBody>
      </p:sp>
      <p:sp>
        <p:nvSpPr>
          <p:cNvPr id="9" name="Text 7"/>
          <p:cNvSpPr/>
          <p:nvPr/>
        </p:nvSpPr>
        <p:spPr>
          <a:xfrm>
            <a:off x="731520" y="2846880"/>
            <a:ext cx="2194560" cy="1377648"/>
          </a:xfrm>
          <a:prstGeom prst="rect">
            <a:avLst/>
          </a:prstGeom>
          <a:noFill/>
          <a:ln/>
        </p:spPr>
        <p:txBody>
          <a:bodyPr wrap="square" lIns="0" tIns="0" rIns="0" bIns="0" rtlCol="0" anchor="ctr"/>
          <a:lstStyle/>
          <a:p>
            <a:pPr marL="228600" indent="-228600">
              <a:lnSpc>
                <a:spcPts val="2000"/>
              </a:lnSpc>
              <a:buSzPct val="100000"/>
              <a:buChar char="•"/>
            </a:pPr>
            <a:r>
              <a:rPr lang="en-US" sz="1050">
                <a:solidFill>
                  <a:schemeClr val="bg1">
                    <a:lumMod val="95000"/>
                  </a:schemeClr>
                </a:solidFill>
                <a:latin typeface="Inter"/>
                <a:ea typeface="Inter"/>
                <a:cs typeface="Inter"/>
              </a:rPr>
              <a:t>Objects that represent our database tables.</a:t>
            </a:r>
            <a:endParaRPr lang="en-US" sz="1050">
              <a:solidFill>
                <a:schemeClr val="bg1">
                  <a:lumMod val="95000"/>
                </a:schemeClr>
              </a:solidFill>
            </a:endParaRPr>
          </a:p>
          <a:p>
            <a:pPr marL="228600" indent="-228600">
              <a:lnSpc>
                <a:spcPts val="2000"/>
              </a:lnSpc>
              <a:buSzPct val="100000"/>
              <a:buChar char="•"/>
            </a:pPr>
            <a:r>
              <a:rPr lang="en-US" sz="1050">
                <a:solidFill>
                  <a:schemeClr val="bg1">
                    <a:lumMod val="95000"/>
                  </a:schemeClr>
                </a:solidFill>
                <a:latin typeface="Inter"/>
                <a:ea typeface="Inter"/>
                <a:cs typeface="Inter"/>
              </a:rPr>
              <a:t>Converting data to and from JSON format.</a:t>
            </a:r>
            <a:endParaRPr lang="en-US" sz="1050">
              <a:solidFill>
                <a:schemeClr val="bg1">
                  <a:lumMod val="95000"/>
                </a:schemeClr>
              </a:solidFill>
            </a:endParaRPr>
          </a:p>
          <a:p>
            <a:pPr marL="228600" indent="-228600">
              <a:lnSpc>
                <a:spcPts val="2000"/>
              </a:lnSpc>
              <a:buSzPct val="100000"/>
              <a:buChar char="•"/>
            </a:pPr>
            <a:r>
              <a:rPr lang="en-US" sz="1050">
                <a:solidFill>
                  <a:schemeClr val="bg1">
                    <a:lumMod val="95000"/>
                  </a:schemeClr>
                </a:solidFill>
                <a:latin typeface="Inter"/>
                <a:ea typeface="Inter"/>
                <a:cs typeface="Inter"/>
              </a:rPr>
              <a:t>Examples: Employee, Attendance, and Leave models.</a:t>
            </a:r>
            <a:endParaRPr lang="en-US" sz="1050">
              <a:solidFill>
                <a:schemeClr val="bg1">
                  <a:lumMod val="95000"/>
                </a:schemeClr>
              </a:solidFill>
            </a:endParaRPr>
          </a:p>
        </p:txBody>
      </p:sp>
      <p:sp>
        <p:nvSpPr>
          <p:cNvPr id="10" name="GRAD::cyanEmerald::panel::v"/>
          <p:cNvSpPr/>
          <p:nvPr/>
        </p:nvSpPr>
        <p:spPr>
          <a:xfrm>
            <a:off x="3364992" y="1417320"/>
            <a:ext cx="2606040" cy="3063240"/>
          </a:xfrm>
          <a:prstGeom prst="roundRect">
            <a:avLst>
              <a:gd name="adj" fmla="val 6316"/>
            </a:avLst>
          </a:prstGeom>
          <a:gradFill rotWithShape="1">
            <a:gsLst>
              <a:gs pos="0">
                <a:srgbClr val="22D3EE"/>
              </a:gs>
              <a:gs pos="100000">
                <a:srgbClr val="10B981"/>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11" name="Shape 9"/>
          <p:cNvSpPr/>
          <p:nvPr/>
        </p:nvSpPr>
        <p:spPr>
          <a:xfrm>
            <a:off x="3593592" y="1691640"/>
            <a:ext cx="640080" cy="640080"/>
          </a:xfrm>
          <a:prstGeom prst="roundRect">
            <a:avLst>
              <a:gd name="adj" fmla="val 22857"/>
            </a:avLst>
          </a:prstGeom>
          <a:solidFill>
            <a:srgbClr val="FFFFFF">
              <a:alpha val="20000"/>
            </a:srgbClr>
          </a:solidFill>
          <a:ln/>
        </p:spPr>
        <p:txBody>
          <a:bodyPr/>
          <a:lstStyle/>
          <a:p>
            <a:endParaRPr lang="fr-FR"/>
          </a:p>
        </p:txBody>
      </p:sp>
      <p:sp>
        <p:nvSpPr>
          <p:cNvPr id="12" name="Text 10"/>
          <p:cNvSpPr/>
          <p:nvPr/>
        </p:nvSpPr>
        <p:spPr>
          <a:xfrm>
            <a:off x="3593592" y="1691640"/>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13" name="Text 11"/>
          <p:cNvSpPr/>
          <p:nvPr/>
        </p:nvSpPr>
        <p:spPr>
          <a:xfrm>
            <a:off x="3593592" y="2389680"/>
            <a:ext cx="2194560" cy="457200"/>
          </a:xfrm>
          <a:prstGeom prst="rect">
            <a:avLst/>
          </a:prstGeom>
          <a:noFill/>
          <a:ln/>
        </p:spPr>
        <p:txBody>
          <a:bodyPr wrap="square" lIns="0" tIns="0" rIns="0" bIns="0" rtlCol="0" anchor="ctr"/>
          <a:lstStyle/>
          <a:p>
            <a:pPr marL="0" indent="0" algn="l">
              <a:buNone/>
            </a:pPr>
            <a:r>
              <a:rPr lang="en-US" sz="1600" b="1">
                <a:solidFill>
                  <a:srgbClr val="FFFFFF"/>
                </a:solidFill>
                <a:latin typeface="Sora"/>
                <a:ea typeface="Sora"/>
                <a:cs typeface="Sora"/>
              </a:rPr>
              <a:t>View (Screens)</a:t>
            </a:r>
            <a:endParaRPr lang="en-US" sz="1600"/>
          </a:p>
        </p:txBody>
      </p:sp>
      <p:sp>
        <p:nvSpPr>
          <p:cNvPr id="14" name="Text 12"/>
          <p:cNvSpPr/>
          <p:nvPr/>
        </p:nvSpPr>
        <p:spPr>
          <a:xfrm>
            <a:off x="3570732" y="2705184"/>
            <a:ext cx="2194560" cy="1407960"/>
          </a:xfrm>
          <a:prstGeom prst="rect">
            <a:avLst/>
          </a:prstGeom>
          <a:noFill/>
          <a:ln/>
        </p:spPr>
        <p:txBody>
          <a:bodyPr wrap="square" lIns="0" tIns="0" rIns="0" bIns="0" rtlCol="0" anchor="ctr"/>
          <a:lstStyle/>
          <a:p>
            <a:pPr marL="228600" indent="-228600">
              <a:lnSpc>
                <a:spcPts val="2000"/>
              </a:lnSpc>
              <a:buSzPct val="100000"/>
              <a:buChar char="•"/>
            </a:pPr>
            <a:r>
              <a:rPr lang="en-US" sz="1050">
                <a:solidFill>
                  <a:schemeClr val="bg1">
                    <a:lumMod val="95000"/>
                  </a:schemeClr>
                </a:solidFill>
                <a:latin typeface="Inter"/>
                <a:ea typeface="Inter"/>
                <a:cs typeface="Inter"/>
              </a:rPr>
              <a:t>Interactive Flutter widgets and screens.</a:t>
            </a:r>
            <a:endParaRPr lang="en-US" sz="1050">
              <a:solidFill>
                <a:schemeClr val="bg1">
                  <a:lumMod val="95000"/>
                </a:schemeClr>
              </a:solidFill>
            </a:endParaRPr>
          </a:p>
          <a:p>
            <a:pPr marL="228600" indent="-228600">
              <a:lnSpc>
                <a:spcPts val="2000"/>
              </a:lnSpc>
              <a:buSzPct val="100000"/>
              <a:buChar char="•"/>
            </a:pPr>
            <a:r>
              <a:rPr lang="en-US" sz="1050">
                <a:solidFill>
                  <a:schemeClr val="bg1">
                    <a:lumMod val="95000"/>
                  </a:schemeClr>
                </a:solidFill>
                <a:latin typeface="Inter"/>
                <a:ea typeface="Inter"/>
                <a:cs typeface="Inter"/>
              </a:rPr>
              <a:t>Listens to changes in the controller.</a:t>
            </a:r>
            <a:endParaRPr lang="en-US" sz="1050">
              <a:solidFill>
                <a:schemeClr val="bg1">
                  <a:lumMod val="95000"/>
                </a:schemeClr>
              </a:solidFill>
            </a:endParaRPr>
          </a:p>
          <a:p>
            <a:pPr marL="228600" indent="-228600">
              <a:lnSpc>
                <a:spcPts val="2000"/>
              </a:lnSpc>
              <a:buSzPct val="100000"/>
              <a:buChar char="•"/>
            </a:pPr>
            <a:r>
              <a:rPr lang="en-US" sz="1050">
                <a:solidFill>
                  <a:schemeClr val="bg1">
                    <a:lumMod val="95000"/>
                  </a:schemeClr>
                </a:solidFill>
                <a:latin typeface="Inter"/>
                <a:ea typeface="Inter"/>
                <a:cs typeface="Inter"/>
              </a:rPr>
              <a:t>Examples: Attendance calendar, Chat screen, PDF page.</a:t>
            </a:r>
            <a:endParaRPr lang="en-US" sz="1050">
              <a:solidFill>
                <a:schemeClr val="bg1">
                  <a:lumMod val="95000"/>
                </a:schemeClr>
              </a:solidFill>
            </a:endParaRPr>
          </a:p>
        </p:txBody>
      </p:sp>
      <p:sp>
        <p:nvSpPr>
          <p:cNvPr id="15" name="GRAD::coralOrange::panel::w"/>
          <p:cNvSpPr/>
          <p:nvPr/>
        </p:nvSpPr>
        <p:spPr>
          <a:xfrm>
            <a:off x="6227064" y="1417320"/>
            <a:ext cx="2606040" cy="3063240"/>
          </a:xfrm>
          <a:prstGeom prst="roundRect">
            <a:avLst>
              <a:gd name="adj" fmla="val 6316"/>
            </a:avLst>
          </a:prstGeom>
          <a:gradFill rotWithShape="1">
            <a:gsLst>
              <a:gs pos="0">
                <a:srgbClr val="FF6B6B"/>
              </a:gs>
              <a:gs pos="100000">
                <a:srgbClr val="F59E0B"/>
              </a:gs>
            </a:gsLst>
            <a:lin ang="2400000" scaled="1"/>
          </a:gradFill>
          <a:ln/>
          <a:effectLst>
            <a:outerShdw blurRad="279400" dist="127000" dir="5400000" algn="bl" rotWithShape="0">
              <a:srgbClr val="000000">
                <a:alpha val="40000"/>
              </a:srgbClr>
            </a:outerShdw>
          </a:effectLst>
        </p:spPr>
        <p:txBody>
          <a:bodyPr/>
          <a:lstStyle/>
          <a:p>
            <a:endParaRPr lang="fr-FR"/>
          </a:p>
        </p:txBody>
      </p:sp>
      <p:sp>
        <p:nvSpPr>
          <p:cNvPr id="16" name="Shape 14"/>
          <p:cNvSpPr/>
          <p:nvPr/>
        </p:nvSpPr>
        <p:spPr>
          <a:xfrm>
            <a:off x="6455664" y="1697472"/>
            <a:ext cx="640080" cy="640080"/>
          </a:xfrm>
          <a:prstGeom prst="roundRect">
            <a:avLst>
              <a:gd name="adj" fmla="val 22857"/>
            </a:avLst>
          </a:prstGeom>
          <a:solidFill>
            <a:srgbClr val="FFFFFF">
              <a:alpha val="20000"/>
            </a:srgbClr>
          </a:solidFill>
          <a:ln/>
        </p:spPr>
        <p:txBody>
          <a:bodyPr/>
          <a:lstStyle/>
          <a:p>
            <a:endParaRPr lang="fr-FR"/>
          </a:p>
        </p:txBody>
      </p:sp>
      <p:sp>
        <p:nvSpPr>
          <p:cNvPr id="17" name="Text 15"/>
          <p:cNvSpPr/>
          <p:nvPr/>
        </p:nvSpPr>
        <p:spPr>
          <a:xfrm>
            <a:off x="6455664" y="1697472"/>
            <a:ext cx="640080" cy="640080"/>
          </a:xfrm>
          <a:prstGeom prst="rect">
            <a:avLst/>
          </a:prstGeom>
          <a:noFill/>
          <a:ln/>
        </p:spPr>
        <p:txBody>
          <a:bodyPr wrap="square" lIns="0" tIns="0" rIns="0" bIns="0" rtlCol="0" anchor="ctr"/>
          <a:lstStyle/>
          <a:p>
            <a:pPr marL="0" indent="0" algn="ctr">
              <a:buNone/>
            </a:pPr>
            <a:r>
              <a:rPr lang="en-US" sz="2600">
                <a:solidFill>
                  <a:srgbClr val="FFFFFF"/>
                </a:solidFill>
              </a:rPr>
              <a:t>◈</a:t>
            </a:r>
            <a:endParaRPr lang="en-US" sz="2600"/>
          </a:p>
        </p:txBody>
      </p:sp>
      <p:sp>
        <p:nvSpPr>
          <p:cNvPr id="18" name="Text 16"/>
          <p:cNvSpPr/>
          <p:nvPr/>
        </p:nvSpPr>
        <p:spPr>
          <a:xfrm>
            <a:off x="6455664" y="2405016"/>
            <a:ext cx="2194560" cy="457200"/>
          </a:xfrm>
          <a:prstGeom prst="rect">
            <a:avLst/>
          </a:prstGeom>
          <a:noFill/>
          <a:ln/>
        </p:spPr>
        <p:txBody>
          <a:bodyPr wrap="square" lIns="0" tIns="0" rIns="0" bIns="0" rtlCol="0" anchor="ctr"/>
          <a:lstStyle/>
          <a:p>
            <a:pPr marL="0" indent="0" algn="l">
              <a:buNone/>
            </a:pPr>
            <a:r>
              <a:rPr lang="en-US" sz="1600" b="1">
                <a:solidFill>
                  <a:srgbClr val="FFFFFF"/>
                </a:solidFill>
                <a:latin typeface="Sora"/>
                <a:ea typeface="Sora"/>
                <a:cs typeface="Sora"/>
              </a:rPr>
              <a:t>Controller (Logic)</a:t>
            </a:r>
            <a:endParaRPr lang="en-US" sz="1600"/>
          </a:p>
        </p:txBody>
      </p:sp>
      <p:sp>
        <p:nvSpPr>
          <p:cNvPr id="19" name="Text 17"/>
          <p:cNvSpPr/>
          <p:nvPr/>
        </p:nvSpPr>
        <p:spPr>
          <a:xfrm>
            <a:off x="6423660" y="2721600"/>
            <a:ext cx="2194560" cy="1598399"/>
          </a:xfrm>
          <a:prstGeom prst="rect">
            <a:avLst/>
          </a:prstGeom>
          <a:noFill/>
          <a:ln/>
        </p:spPr>
        <p:txBody>
          <a:bodyPr wrap="square" lIns="0" tIns="0" rIns="0" bIns="0" rtlCol="0" anchor="ctr"/>
          <a:lstStyle/>
          <a:p>
            <a:pPr marL="228600" indent="-228600">
              <a:lnSpc>
                <a:spcPts val="2000"/>
              </a:lnSpc>
              <a:buSzPct val="100000"/>
              <a:buChar char="•"/>
            </a:pPr>
            <a:r>
              <a:rPr lang="en-US" sz="1050">
                <a:solidFill>
                  <a:schemeClr val="bg1">
                    <a:lumMod val="95000"/>
                  </a:schemeClr>
                </a:solidFill>
                <a:latin typeface="Inter"/>
                <a:ea typeface="Inter"/>
                <a:cs typeface="Inter"/>
              </a:rPr>
              <a:t>Handles user actions and database API calls.</a:t>
            </a:r>
            <a:endParaRPr lang="en-US" sz="1050">
              <a:solidFill>
                <a:schemeClr val="bg1">
                  <a:lumMod val="95000"/>
                </a:schemeClr>
              </a:solidFill>
            </a:endParaRPr>
          </a:p>
          <a:p>
            <a:pPr marL="228600" indent="-228600">
              <a:lnSpc>
                <a:spcPts val="2000"/>
              </a:lnSpc>
              <a:buSzPct val="100000"/>
              <a:buChar char="•"/>
            </a:pPr>
            <a:r>
              <a:rPr lang="en-US" sz="1050">
                <a:solidFill>
                  <a:schemeClr val="bg1">
                    <a:lumMod val="95000"/>
                  </a:schemeClr>
                </a:solidFill>
                <a:latin typeface="Inter"/>
                <a:ea typeface="Inter"/>
                <a:cs typeface="Inter"/>
              </a:rPr>
              <a:t>Manages local storage caching on the phone.</a:t>
            </a:r>
            <a:endParaRPr lang="en-US" sz="1050">
              <a:solidFill>
                <a:schemeClr val="bg1">
                  <a:lumMod val="95000"/>
                </a:schemeClr>
              </a:solidFill>
            </a:endParaRPr>
          </a:p>
          <a:p>
            <a:pPr marL="228600" indent="-228600">
              <a:lnSpc>
                <a:spcPts val="2000"/>
              </a:lnSpc>
              <a:buSzPct val="100000"/>
              <a:buChar char="•"/>
            </a:pPr>
            <a:r>
              <a:rPr lang="en-US" sz="1050">
                <a:solidFill>
                  <a:schemeClr val="bg1">
                    <a:lumMod val="95000"/>
                  </a:schemeClr>
                </a:solidFill>
                <a:latin typeface="Inter"/>
                <a:ea typeface="Inter"/>
                <a:cs typeface="Inter"/>
              </a:rPr>
              <a:t>Notifies the screens to update automatically.</a:t>
            </a:r>
            <a:endParaRPr lang="en-US" sz="1050">
              <a:solidFill>
                <a:schemeClr val="bg1">
                  <a:lumMod val="95000"/>
                </a:schemeClr>
              </a:solidFill>
            </a:endParaRPr>
          </a:p>
        </p:txBody>
      </p:sp>
      <p:sp>
        <p:nvSpPr>
          <p:cNvPr id="20" name="Text 18"/>
          <p:cNvSpPr/>
          <p:nvPr/>
        </p:nvSpPr>
        <p:spPr>
          <a:xfrm>
            <a:off x="502920" y="4716864"/>
            <a:ext cx="8229600" cy="27432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Note: This separation makes the app modular and easy to change without breaking other features.</a:t>
            </a:r>
            <a:endParaRPr lang="en-US" sz="95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ppt_x"/>
                                          </p:val>
                                        </p:tav>
                                        <p:tav tm="100000">
                                          <p:val>
                                            <p:strVal val="#ppt_x"/>
                                          </p:val>
                                        </p:tav>
                                      </p:tavLst>
                                    </p:anim>
                                    <p:anim calcmode="lin" valueType="num">
                                      <p:cBhvr additive="base">
                                        <p:cTn id="6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0B0E1A"/>
        </a:solidFill>
        <a:effectLst/>
      </p:bgPr>
    </p:bg>
    <p:spTree>
      <p:nvGrpSpPr>
        <p:cNvPr id="1" name=""/>
        <p:cNvGrpSpPr/>
        <p:nvPr/>
      </p:nvGrpSpPr>
      <p:grpSpPr>
        <a:xfrm>
          <a:off x="0" y="0"/>
          <a:ext cx="0" cy="0"/>
          <a:chOff x="0" y="0"/>
          <a:chExt cx="0" cy="0"/>
        </a:xfrm>
      </p:grpSpPr>
      <p:sp>
        <p:nvSpPr>
          <p:cNvPr id="2" name="GRAD::coralOrange::blob::e"/>
          <p:cNvSpPr/>
          <p:nvPr/>
        </p:nvSpPr>
        <p:spPr>
          <a:xfrm>
            <a:off x="-2286000" y="-1828800"/>
            <a:ext cx="6400800" cy="6400800"/>
          </a:xfrm>
          <a:prstGeom prst="ellipse">
            <a:avLst/>
          </a:prstGeom>
          <a:gradFill rotWithShape="1">
            <a:gsLst>
              <a:gs pos="0">
                <a:srgbClr val="FF6B6B">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GRAD::coralOrange2::blob::f"/>
          <p:cNvSpPr/>
          <p:nvPr/>
        </p:nvSpPr>
        <p:spPr>
          <a:xfrm>
            <a:off x="5486400" y="1828800"/>
            <a:ext cx="5943600" cy="59436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365760" y="457200"/>
            <a:ext cx="5943600" cy="4206240"/>
          </a:xfrm>
          <a:prstGeom prst="rect">
            <a:avLst/>
          </a:prstGeom>
          <a:noFill/>
          <a:ln/>
        </p:spPr>
        <p:txBody>
          <a:bodyPr wrap="square" lIns="0" tIns="0" rIns="0" bIns="0" rtlCol="0" anchor="ctr"/>
          <a:lstStyle/>
          <a:p>
            <a:pPr algn="l"/>
            <a:r>
              <a:rPr lang="en-US" sz="28000" b="1">
                <a:solidFill>
                  <a:srgbClr val="FFFFFF">
                    <a:alpha val="10000"/>
                  </a:srgbClr>
                </a:solidFill>
                <a:latin typeface="Sora"/>
                <a:ea typeface="Sora"/>
                <a:cs typeface="Sora"/>
              </a:rPr>
              <a:t>04</a:t>
            </a:r>
          </a:p>
        </p:txBody>
      </p:sp>
      <p:sp>
        <p:nvSpPr>
          <p:cNvPr id="5" name="Shape 3"/>
          <p:cNvSpPr/>
          <p:nvPr/>
        </p:nvSpPr>
        <p:spPr>
          <a:xfrm>
            <a:off x="4160520" y="1691640"/>
            <a:ext cx="182880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6" name="Text 4"/>
          <p:cNvSpPr/>
          <p:nvPr/>
        </p:nvSpPr>
        <p:spPr>
          <a:xfrm>
            <a:off x="4160520" y="1691640"/>
            <a:ext cx="1828800" cy="365760"/>
          </a:xfrm>
          <a:prstGeom prst="rect">
            <a:avLst/>
          </a:prstGeom>
          <a:noFill/>
          <a:ln/>
        </p:spPr>
        <p:txBody>
          <a:bodyPr wrap="square" lIns="0" tIns="0" rIns="0" bIns="0" rtlCol="0" anchor="ctr"/>
          <a:lstStyle/>
          <a:p>
            <a:pPr algn="l"/>
            <a:r>
              <a:rPr lang="en-US" sz="1000" b="1" spc="150">
                <a:solidFill>
                  <a:srgbClr val="8890A6"/>
                </a:solidFill>
                <a:latin typeface="Inter"/>
                <a:ea typeface="Inter"/>
                <a:cs typeface="Inter"/>
              </a:rPr>
              <a:t>           CHAPTER 04</a:t>
            </a:r>
          </a:p>
        </p:txBody>
      </p:sp>
      <p:sp>
        <p:nvSpPr>
          <p:cNvPr id="8" name="ANIM::450::subh"/>
          <p:cNvSpPr/>
          <p:nvPr/>
        </p:nvSpPr>
        <p:spPr>
          <a:xfrm>
            <a:off x="4160520" y="3703320"/>
            <a:ext cx="4206240" cy="36576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UML diagrams showing database structures and user flows</a:t>
            </a:r>
            <a:endParaRPr lang="en-US" sz="1300"/>
          </a:p>
        </p:txBody>
      </p:sp>
      <p:sp>
        <p:nvSpPr>
          <p:cNvPr id="14" name="TextBox 13">
            <a:extLst>
              <a:ext uri="{FF2B5EF4-FFF2-40B4-BE49-F238E27FC236}">
                <a16:creationId xmlns:a16="http://schemas.microsoft.com/office/drawing/2014/main" id="{499E0B89-1914-1CD4-91F1-E35BBF36BBB0}"/>
              </a:ext>
            </a:extLst>
          </p:cNvPr>
          <p:cNvSpPr txBox="1"/>
          <p:nvPr/>
        </p:nvSpPr>
        <p:spPr>
          <a:xfrm>
            <a:off x="3867685" y="2560320"/>
            <a:ext cx="4590515" cy="523220"/>
          </a:xfrm>
          <a:prstGeom prst="rect">
            <a:avLst/>
          </a:prstGeom>
          <a:noFill/>
        </p:spPr>
        <p:txBody>
          <a:bodyPr wrap="square">
            <a:spAutoFit/>
          </a:bodyPr>
          <a:lstStyle/>
          <a:p>
            <a:pPr algn="ctr"/>
            <a:r>
              <a:rPr lang="en-US" sz="2800" b="1">
                <a:solidFill>
                  <a:srgbClr val="FFFFFF"/>
                </a:solidFill>
                <a:latin typeface="Sora"/>
                <a:ea typeface="Sora"/>
                <a:cs typeface="Sora"/>
              </a:rPr>
              <a:t>System Design &amp; UML</a:t>
            </a:r>
          </a:p>
        </p:txBody>
      </p:sp>
    </p:spTree>
  </p:cSld>
  <p:clrMapOvr>
    <a:masterClrMapping/>
  </p:clrMapOvr>
  <mc:AlternateContent xmlns:mc="http://schemas.openxmlformats.org/markup-compatibility/2006" xmlns:p14="http://schemas.microsoft.com/office/powerpoint/2010/main">
    <mc:Choice Requires="p14">
      <p:transition spd="slow" p14:dur="1200">
        <p:extLst>
          <p:ext uri="{EAA6730D-07C4-43C0-AC2F-2B797B595A98}">
            <p159:prstTrans xmlns="" xmlns:p159="http://schemas.microsoft.com/office/powerpoint/2015/09/main" prst="morph"/>
          </p:ext>
        </p:extLst>
      </p:transition>
    </mc:Choice>
    <mc:Fallback xmlns="">
      <p:transition spd="slow">
        <p:extLst>
          <p:ext uri="{EAA6730D-07C4-43C0-AC2F-2B797B595A98}">
            <p159:prstTrans xmlns:p159="http://schemas.microsoft.com/office/powerpoint/2015/09/main" xmlns:p14="http://schemas.microsoft.com/office/powerpoint/2010/main" xmlns="" prst="morph"/>
          </p:ext>
        </p:extLs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500"/>
                                        <p:tgtEl>
                                          <p:spTgt spid="14"/>
                                        </p:tgtEl>
                                      </p:cBhvr>
                                    </p:animEffect>
                                  </p:childTnLst>
                                </p:cTn>
                              </p:par>
                              <p:par>
                                <p:cTn id="19" presetID="10" presetClass="entr"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8" grpId="0"/>
      <p:bldP spid="8" grpId="1" animBg="1"/>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E1A"/>
        </a:solidFill>
        <a:effectLst/>
      </p:bgPr>
    </p:bg>
    <p:spTree>
      <p:nvGrpSpPr>
        <p:cNvPr id="1" name=""/>
        <p:cNvGrpSpPr/>
        <p:nvPr/>
      </p:nvGrpSpPr>
      <p:grpSpPr>
        <a:xfrm>
          <a:off x="0" y="0"/>
          <a:ext cx="0" cy="0"/>
          <a:chOff x="0" y="0"/>
          <a:chExt cx="0" cy="0"/>
        </a:xfrm>
      </p:grpSpPr>
      <p:sp>
        <p:nvSpPr>
          <p:cNvPr id="2" name="GRAD::cyanEmerald3::blob::1u"/>
          <p:cNvSpPr/>
          <p:nvPr/>
        </p:nvSpPr>
        <p:spPr>
          <a:xfrm>
            <a:off x="-1632857" y="2340864"/>
            <a:ext cx="5029200" cy="5029200"/>
          </a:xfrm>
          <a:prstGeom prst="ellipse">
            <a:avLst/>
          </a:prstGeom>
          <a:gradFill rotWithShape="1">
            <a:gsLst>
              <a:gs pos="0">
                <a:srgbClr val="22D3EE">
                  <a:alpha val="42000"/>
                </a:srgbClr>
              </a:gs>
              <a:gs pos="55000">
                <a:srgbClr val="10B981">
                  <a:alpha val="16000"/>
                </a:srgbClr>
              </a:gs>
              <a:gs pos="100000">
                <a:srgbClr val="10B981">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86339" y="390906"/>
            <a:ext cx="7772400" cy="86868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Global Use Case Diagram</a:t>
            </a:r>
            <a:endParaRPr lang="en-US" sz="2600"/>
          </a:p>
        </p:txBody>
      </p:sp>
      <p:pic>
        <p:nvPicPr>
          <p:cNvPr id="9" name="Image 0"/>
          <p:cNvPicPr>
            <a:picLocks noChangeAspect="1"/>
          </p:cNvPicPr>
          <p:nvPr/>
        </p:nvPicPr>
        <p:blipFill>
          <a:blip r:embed="rId3"/>
          <a:srcRect/>
          <a:stretch/>
        </p:blipFill>
        <p:spPr>
          <a:xfrm>
            <a:off x="5066070" y="0"/>
            <a:ext cx="4077929" cy="5143500"/>
          </a:xfrm>
          <a:prstGeom prst="rect">
            <a:avLst/>
          </a:prstGeom>
        </p:spPr>
      </p:pic>
      <p:grpSp>
        <p:nvGrpSpPr>
          <p:cNvPr id="19" name="Group 18">
            <a:extLst>
              <a:ext uri="{FF2B5EF4-FFF2-40B4-BE49-F238E27FC236}">
                <a16:creationId xmlns:a16="http://schemas.microsoft.com/office/drawing/2014/main" id="{88DBB61D-1B9B-58E7-7867-323F3803F804}"/>
              </a:ext>
            </a:extLst>
          </p:cNvPr>
          <p:cNvGrpSpPr/>
          <p:nvPr/>
        </p:nvGrpSpPr>
        <p:grpSpPr>
          <a:xfrm>
            <a:off x="1705277" y="1403604"/>
            <a:ext cx="1798320" cy="1060704"/>
            <a:chOff x="1889760" y="1403604"/>
            <a:chExt cx="1798320" cy="1060704"/>
          </a:xfrm>
        </p:grpSpPr>
        <p:sp>
          <p:nvSpPr>
            <p:cNvPr id="10" name="ANIM::0::card1v"/>
            <p:cNvSpPr/>
            <p:nvPr/>
          </p:nvSpPr>
          <p:spPr>
            <a:xfrm>
              <a:off x="1889760" y="1403604"/>
              <a:ext cx="1798320" cy="1060704"/>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1" name="Text 8"/>
            <p:cNvSpPr/>
            <p:nvPr/>
          </p:nvSpPr>
          <p:spPr>
            <a:xfrm>
              <a:off x="1920240" y="1508760"/>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Mobile Use</a:t>
              </a:r>
              <a:endParaRPr lang="en-US" sz="1300"/>
            </a:p>
          </p:txBody>
        </p:sp>
        <p:sp>
          <p:nvSpPr>
            <p:cNvPr id="12" name="Text 9"/>
            <p:cNvSpPr/>
            <p:nvPr/>
          </p:nvSpPr>
          <p:spPr>
            <a:xfrm>
              <a:off x="1920240" y="2039112"/>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Managers log attendance, leaves, employees, and chat</a:t>
              </a:r>
              <a:endParaRPr lang="en-US" sz="950"/>
            </a:p>
          </p:txBody>
        </p:sp>
      </p:grpSp>
      <p:grpSp>
        <p:nvGrpSpPr>
          <p:cNvPr id="20" name="Group 19">
            <a:extLst>
              <a:ext uri="{FF2B5EF4-FFF2-40B4-BE49-F238E27FC236}">
                <a16:creationId xmlns:a16="http://schemas.microsoft.com/office/drawing/2014/main" id="{407F0CA1-3D8E-9641-6620-FE93F7BE1B4A}"/>
              </a:ext>
            </a:extLst>
          </p:cNvPr>
          <p:cNvGrpSpPr/>
          <p:nvPr/>
        </p:nvGrpSpPr>
        <p:grpSpPr>
          <a:xfrm>
            <a:off x="1705277" y="2587752"/>
            <a:ext cx="1798320" cy="1060704"/>
            <a:chOff x="1889760" y="2587752"/>
            <a:chExt cx="1798320" cy="1060704"/>
          </a:xfrm>
        </p:grpSpPr>
        <p:sp>
          <p:nvSpPr>
            <p:cNvPr id="13" name="ANIM::160::card1w"/>
            <p:cNvSpPr/>
            <p:nvPr/>
          </p:nvSpPr>
          <p:spPr>
            <a:xfrm>
              <a:off x="1889760" y="2587752"/>
              <a:ext cx="1798320" cy="1060704"/>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4" name="Text 11"/>
            <p:cNvSpPr/>
            <p:nvPr/>
          </p:nvSpPr>
          <p:spPr>
            <a:xfrm>
              <a:off x="1920240" y="2679192"/>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Web Use</a:t>
              </a:r>
              <a:endParaRPr lang="en-US" sz="1300"/>
            </a:p>
          </p:txBody>
        </p:sp>
        <p:sp>
          <p:nvSpPr>
            <p:cNvPr id="15" name="Text 12"/>
            <p:cNvSpPr/>
            <p:nvPr/>
          </p:nvSpPr>
          <p:spPr>
            <a:xfrm>
              <a:off x="1920240" y="3209544"/>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Consultants register firms, preview files, and export</a:t>
              </a:r>
              <a:endParaRPr lang="en-US" sz="950"/>
            </a:p>
          </p:txBody>
        </p:sp>
      </p:grpSp>
      <p:grpSp>
        <p:nvGrpSpPr>
          <p:cNvPr id="21" name="Group 20">
            <a:extLst>
              <a:ext uri="{FF2B5EF4-FFF2-40B4-BE49-F238E27FC236}">
                <a16:creationId xmlns:a16="http://schemas.microsoft.com/office/drawing/2014/main" id="{FB70F3F9-EAF0-8BE0-B52B-DECD73B533B7}"/>
              </a:ext>
            </a:extLst>
          </p:cNvPr>
          <p:cNvGrpSpPr/>
          <p:nvPr/>
        </p:nvGrpSpPr>
        <p:grpSpPr>
          <a:xfrm>
            <a:off x="1690037" y="3758184"/>
            <a:ext cx="1813560" cy="1005840"/>
            <a:chOff x="1874520" y="3758184"/>
            <a:chExt cx="1813560" cy="1005840"/>
          </a:xfrm>
        </p:grpSpPr>
        <p:sp>
          <p:nvSpPr>
            <p:cNvPr id="16" name="ANIM::320::card1x"/>
            <p:cNvSpPr/>
            <p:nvPr/>
          </p:nvSpPr>
          <p:spPr>
            <a:xfrm>
              <a:off x="1874520" y="3758184"/>
              <a:ext cx="1813560" cy="100584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Text 14"/>
            <p:cNvSpPr/>
            <p:nvPr/>
          </p:nvSpPr>
          <p:spPr>
            <a:xfrm>
              <a:off x="1920240" y="3849624"/>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Common Use</a:t>
              </a:r>
              <a:endParaRPr lang="en-US" sz="1300"/>
            </a:p>
          </p:txBody>
        </p:sp>
        <p:sp>
          <p:nvSpPr>
            <p:cNvPr id="18" name="Text 15"/>
            <p:cNvSpPr/>
            <p:nvPr/>
          </p:nvSpPr>
          <p:spPr>
            <a:xfrm>
              <a:off x="1920240" y="4347892"/>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Secure logins, database rules, and real-time chat</a:t>
              </a:r>
              <a:endParaRPr lang="en-US" sz="95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1+#ppt_w/2"/>
                                          </p:val>
                                        </p:tav>
                                        <p:tav tm="100000">
                                          <p:val>
                                            <p:strVal val="#ppt_x"/>
                                          </p:val>
                                        </p:tav>
                                      </p:tavLst>
                                    </p:anim>
                                    <p:anim calcmode="lin" valueType="num">
                                      <p:cBhvr additive="base">
                                        <p:cTn id="8" dur="17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1500" fill="hold"/>
                                        <p:tgtEl>
                                          <p:spTgt spid="19"/>
                                        </p:tgtEl>
                                        <p:attrNameLst>
                                          <p:attrName>ppt_x</p:attrName>
                                        </p:attrNameLst>
                                      </p:cBhvr>
                                      <p:tavLst>
                                        <p:tav tm="0">
                                          <p:val>
                                            <p:strVal val="#ppt_x"/>
                                          </p:val>
                                        </p:tav>
                                        <p:tav tm="100000">
                                          <p:val>
                                            <p:strVal val="#ppt_x"/>
                                          </p:val>
                                        </p:tav>
                                      </p:tavLst>
                                    </p:anim>
                                    <p:anim calcmode="lin" valueType="num">
                                      <p:cBhvr additive="base">
                                        <p:cTn id="12" dur="1500" fill="hold"/>
                                        <p:tgtEl>
                                          <p:spTgt spid="19"/>
                                        </p:tgtEl>
                                        <p:attrNameLst>
                                          <p:attrName>ppt_y</p:attrName>
                                        </p:attrNameLst>
                                      </p:cBhvr>
                                      <p:tavLst>
                                        <p:tav tm="0">
                                          <p:val>
                                            <p:strVal val="1+#ppt_h/2"/>
                                          </p:val>
                                        </p:tav>
                                        <p:tav tm="100000">
                                          <p:val>
                                            <p:strVal val="#ppt_y"/>
                                          </p:val>
                                        </p:tav>
                                      </p:tavLst>
                                    </p:anim>
                                  </p:childTnLst>
                                </p:cTn>
                              </p:par>
                            </p:childTnLst>
                          </p:cTn>
                        </p:par>
                        <p:par>
                          <p:cTn id="13" fill="hold">
                            <p:stCondLst>
                              <p:cond delay="1750"/>
                            </p:stCondLst>
                            <p:childTnLst>
                              <p:par>
                                <p:cTn id="14" presetID="2" presetClass="entr" presetSubtype="4"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1500" fill="hold"/>
                                        <p:tgtEl>
                                          <p:spTgt spid="20"/>
                                        </p:tgtEl>
                                        <p:attrNameLst>
                                          <p:attrName>ppt_x</p:attrName>
                                        </p:attrNameLst>
                                      </p:cBhvr>
                                      <p:tavLst>
                                        <p:tav tm="0">
                                          <p:val>
                                            <p:strVal val="#ppt_x"/>
                                          </p:val>
                                        </p:tav>
                                        <p:tav tm="100000">
                                          <p:val>
                                            <p:strVal val="#ppt_x"/>
                                          </p:val>
                                        </p:tav>
                                      </p:tavLst>
                                    </p:anim>
                                    <p:anim calcmode="lin" valueType="num">
                                      <p:cBhvr additive="base">
                                        <p:cTn id="17" dur="1500" fill="hold"/>
                                        <p:tgtEl>
                                          <p:spTgt spid="20"/>
                                        </p:tgtEl>
                                        <p:attrNameLst>
                                          <p:attrName>ppt_y</p:attrName>
                                        </p:attrNameLst>
                                      </p:cBhvr>
                                      <p:tavLst>
                                        <p:tav tm="0">
                                          <p:val>
                                            <p:strVal val="1+#ppt_h/2"/>
                                          </p:val>
                                        </p:tav>
                                        <p:tav tm="100000">
                                          <p:val>
                                            <p:strVal val="#ppt_y"/>
                                          </p:val>
                                        </p:tav>
                                      </p:tavLst>
                                    </p:anim>
                                  </p:childTnLst>
                                </p:cTn>
                              </p:par>
                            </p:childTnLst>
                          </p:cTn>
                        </p:par>
                        <p:par>
                          <p:cTn id="18" fill="hold">
                            <p:stCondLst>
                              <p:cond delay="3250"/>
                            </p:stCondLst>
                            <p:childTnLst>
                              <p:par>
                                <p:cTn id="19" presetID="2" presetClass="entr" presetSubtype="4"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1500" fill="hold"/>
                                        <p:tgtEl>
                                          <p:spTgt spid="21"/>
                                        </p:tgtEl>
                                        <p:attrNameLst>
                                          <p:attrName>ppt_x</p:attrName>
                                        </p:attrNameLst>
                                      </p:cBhvr>
                                      <p:tavLst>
                                        <p:tav tm="0">
                                          <p:val>
                                            <p:strVal val="#ppt_x"/>
                                          </p:val>
                                        </p:tav>
                                        <p:tav tm="100000">
                                          <p:val>
                                            <p:strVal val="#ppt_x"/>
                                          </p:val>
                                        </p:tav>
                                      </p:tavLst>
                                    </p:anim>
                                    <p:anim calcmode="lin" valueType="num">
                                      <p:cBhvr additive="base">
                                        <p:cTn id="22" dur="1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3"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B0E1A"/>
        </a:solidFill>
        <a:effectLst/>
      </p:bgPr>
    </p:bg>
    <p:spTree>
      <p:nvGrpSpPr>
        <p:cNvPr id="1" name=""/>
        <p:cNvGrpSpPr/>
        <p:nvPr/>
      </p:nvGrpSpPr>
      <p:grpSpPr>
        <a:xfrm>
          <a:off x="0" y="0"/>
          <a:ext cx="0" cy="0"/>
          <a:chOff x="0" y="0"/>
          <a:chExt cx="0" cy="0"/>
        </a:xfrm>
      </p:grpSpPr>
      <p:sp>
        <p:nvSpPr>
          <p:cNvPr id="2" name="GRAD::cyanEmerald3::blob::1u"/>
          <p:cNvSpPr/>
          <p:nvPr/>
        </p:nvSpPr>
        <p:spPr>
          <a:xfrm>
            <a:off x="-1861457" y="-2000250"/>
            <a:ext cx="5029200" cy="5029200"/>
          </a:xfrm>
          <a:prstGeom prst="ellipse">
            <a:avLst/>
          </a:prstGeom>
          <a:gradFill rotWithShape="1">
            <a:gsLst>
              <a:gs pos="0">
                <a:srgbClr val="22D3EE">
                  <a:alpha val="42000"/>
                </a:srgbClr>
              </a:gs>
              <a:gs pos="55000">
                <a:srgbClr val="10B981">
                  <a:alpha val="16000"/>
                </a:srgbClr>
              </a:gs>
              <a:gs pos="100000">
                <a:srgbClr val="10B981">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411480"/>
            <a:ext cx="7772400" cy="86868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Global Class Diagram</a:t>
            </a:r>
            <a:endParaRPr lang="en-US" sz="2600"/>
          </a:p>
        </p:txBody>
      </p:sp>
      <p:pic>
        <p:nvPicPr>
          <p:cNvPr id="9" name="Image 0"/>
          <p:cNvPicPr>
            <a:picLocks noChangeAspect="1"/>
          </p:cNvPicPr>
          <p:nvPr/>
        </p:nvPicPr>
        <p:blipFill>
          <a:blip r:embed="rId3"/>
          <a:srcRect/>
          <a:stretch/>
        </p:blipFill>
        <p:spPr>
          <a:xfrm>
            <a:off x="417576" y="1420429"/>
            <a:ext cx="6126480" cy="3243011"/>
          </a:xfrm>
          <a:prstGeom prst="rect">
            <a:avLst/>
          </a:prstGeom>
        </p:spPr>
      </p:pic>
      <p:grpSp>
        <p:nvGrpSpPr>
          <p:cNvPr id="19" name="Group 18">
            <a:extLst>
              <a:ext uri="{FF2B5EF4-FFF2-40B4-BE49-F238E27FC236}">
                <a16:creationId xmlns:a16="http://schemas.microsoft.com/office/drawing/2014/main" id="{4FB242D4-1E42-E5E6-41C5-C844849914A4}"/>
              </a:ext>
            </a:extLst>
          </p:cNvPr>
          <p:cNvGrpSpPr/>
          <p:nvPr/>
        </p:nvGrpSpPr>
        <p:grpSpPr>
          <a:xfrm>
            <a:off x="6890004" y="1344168"/>
            <a:ext cx="1882140" cy="1037844"/>
            <a:chOff x="6890004" y="1344168"/>
            <a:chExt cx="1882140" cy="1037844"/>
          </a:xfrm>
        </p:grpSpPr>
        <p:sp>
          <p:nvSpPr>
            <p:cNvPr id="10" name="ANIM::0::card1v"/>
            <p:cNvSpPr/>
            <p:nvPr/>
          </p:nvSpPr>
          <p:spPr>
            <a:xfrm>
              <a:off x="6890004" y="1344168"/>
              <a:ext cx="1882140" cy="1037844"/>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1" name="Text 8"/>
            <p:cNvSpPr/>
            <p:nvPr/>
          </p:nvSpPr>
          <p:spPr>
            <a:xfrm>
              <a:off x="6962394" y="1385316"/>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Root Table</a:t>
              </a:r>
              <a:endParaRPr lang="en-US" sz="1300"/>
            </a:p>
          </p:txBody>
        </p:sp>
        <p:sp>
          <p:nvSpPr>
            <p:cNvPr id="12" name="Text 9"/>
            <p:cNvSpPr/>
            <p:nvPr/>
          </p:nvSpPr>
          <p:spPr>
            <a:xfrm>
              <a:off x="6962394" y="1926336"/>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Company table holds general client company info</a:t>
              </a:r>
              <a:endParaRPr lang="en-US" sz="950"/>
            </a:p>
          </p:txBody>
        </p:sp>
      </p:grpSp>
      <p:grpSp>
        <p:nvGrpSpPr>
          <p:cNvPr id="20" name="Group 19">
            <a:extLst>
              <a:ext uri="{FF2B5EF4-FFF2-40B4-BE49-F238E27FC236}">
                <a16:creationId xmlns:a16="http://schemas.microsoft.com/office/drawing/2014/main" id="{0A4AA9F5-42AE-8352-53A0-DB04D5C98B5B}"/>
              </a:ext>
            </a:extLst>
          </p:cNvPr>
          <p:cNvGrpSpPr/>
          <p:nvPr/>
        </p:nvGrpSpPr>
        <p:grpSpPr>
          <a:xfrm>
            <a:off x="6890004" y="2498598"/>
            <a:ext cx="1882140" cy="1053846"/>
            <a:chOff x="6890004" y="2498598"/>
            <a:chExt cx="1882140" cy="1053846"/>
          </a:xfrm>
        </p:grpSpPr>
        <p:sp>
          <p:nvSpPr>
            <p:cNvPr id="13" name="ANIM::160::card1w"/>
            <p:cNvSpPr/>
            <p:nvPr/>
          </p:nvSpPr>
          <p:spPr>
            <a:xfrm>
              <a:off x="6890004" y="2514600"/>
              <a:ext cx="1882140" cy="1037844"/>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4" name="Text 11"/>
            <p:cNvSpPr/>
            <p:nvPr/>
          </p:nvSpPr>
          <p:spPr>
            <a:xfrm>
              <a:off x="6962394" y="2498598"/>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References</a:t>
              </a:r>
              <a:endParaRPr lang="en-US" sz="1300"/>
            </a:p>
          </p:txBody>
        </p:sp>
        <p:sp>
          <p:nvSpPr>
            <p:cNvPr id="15" name="Text 12"/>
            <p:cNvSpPr/>
            <p:nvPr/>
          </p:nvSpPr>
          <p:spPr>
            <a:xfrm>
              <a:off x="6962394" y="3028950"/>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Attendance, leaves, and documents link to employees</a:t>
              </a:r>
              <a:endParaRPr lang="en-US" sz="950"/>
            </a:p>
          </p:txBody>
        </p:sp>
      </p:grpSp>
      <p:grpSp>
        <p:nvGrpSpPr>
          <p:cNvPr id="21" name="Group 20">
            <a:extLst>
              <a:ext uri="{FF2B5EF4-FFF2-40B4-BE49-F238E27FC236}">
                <a16:creationId xmlns:a16="http://schemas.microsoft.com/office/drawing/2014/main" id="{72388203-754B-EE04-8C35-627487B44DB5}"/>
              </a:ext>
            </a:extLst>
          </p:cNvPr>
          <p:cNvGrpSpPr/>
          <p:nvPr/>
        </p:nvGrpSpPr>
        <p:grpSpPr>
          <a:xfrm>
            <a:off x="6890004" y="3685032"/>
            <a:ext cx="1882140" cy="1046988"/>
            <a:chOff x="6890004" y="3685032"/>
            <a:chExt cx="1882140" cy="1046988"/>
          </a:xfrm>
        </p:grpSpPr>
        <p:sp>
          <p:nvSpPr>
            <p:cNvPr id="16" name="ANIM::320::card1x"/>
            <p:cNvSpPr/>
            <p:nvPr/>
          </p:nvSpPr>
          <p:spPr>
            <a:xfrm>
              <a:off x="6890004" y="3685032"/>
              <a:ext cx="1882140" cy="1046988"/>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Text 14"/>
            <p:cNvSpPr/>
            <p:nvPr/>
          </p:nvSpPr>
          <p:spPr>
            <a:xfrm>
              <a:off x="6962394" y="3705606"/>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Rules</a:t>
              </a:r>
              <a:endParaRPr lang="en-US" sz="1300"/>
            </a:p>
          </p:txBody>
        </p:sp>
        <p:sp>
          <p:nvSpPr>
            <p:cNvPr id="18" name="Text 15"/>
            <p:cNvSpPr/>
            <p:nvPr/>
          </p:nvSpPr>
          <p:spPr>
            <a:xfrm>
              <a:off x="6962394" y="4171950"/>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Database settings clean up old logs automatically</a:t>
              </a:r>
              <a:endParaRPr lang="en-US" sz="95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1500" fill="hold"/>
                                        <p:tgtEl>
                                          <p:spTgt spid="19"/>
                                        </p:tgtEl>
                                        <p:attrNameLst>
                                          <p:attrName>ppt_x</p:attrName>
                                        </p:attrNameLst>
                                      </p:cBhvr>
                                      <p:tavLst>
                                        <p:tav tm="0">
                                          <p:val>
                                            <p:strVal val="1+#ppt_w/2"/>
                                          </p:val>
                                        </p:tav>
                                        <p:tav tm="100000">
                                          <p:val>
                                            <p:strVal val="#ppt_x"/>
                                          </p:val>
                                        </p:tav>
                                      </p:tavLst>
                                    </p:anim>
                                    <p:anim calcmode="lin" valueType="num">
                                      <p:cBhvr additive="base">
                                        <p:cTn id="12" dur="1500" fill="hold"/>
                                        <p:tgtEl>
                                          <p:spTgt spid="19"/>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 presetClass="entr" presetSubtype="2"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1500" fill="hold"/>
                                        <p:tgtEl>
                                          <p:spTgt spid="20"/>
                                        </p:tgtEl>
                                        <p:attrNameLst>
                                          <p:attrName>ppt_x</p:attrName>
                                        </p:attrNameLst>
                                      </p:cBhvr>
                                      <p:tavLst>
                                        <p:tav tm="0">
                                          <p:val>
                                            <p:strVal val="1+#ppt_w/2"/>
                                          </p:val>
                                        </p:tav>
                                        <p:tav tm="100000">
                                          <p:val>
                                            <p:strVal val="#ppt_x"/>
                                          </p:val>
                                        </p:tav>
                                      </p:tavLst>
                                    </p:anim>
                                    <p:anim calcmode="lin" valueType="num">
                                      <p:cBhvr additive="base">
                                        <p:cTn id="17" dur="1500" fill="hold"/>
                                        <p:tgtEl>
                                          <p:spTgt spid="20"/>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ID="2" presetClass="entr" presetSubtype="2"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1500" fill="hold"/>
                                        <p:tgtEl>
                                          <p:spTgt spid="21"/>
                                        </p:tgtEl>
                                        <p:attrNameLst>
                                          <p:attrName>ppt_x</p:attrName>
                                        </p:attrNameLst>
                                      </p:cBhvr>
                                      <p:tavLst>
                                        <p:tav tm="0">
                                          <p:val>
                                            <p:strVal val="1+#ppt_w/2"/>
                                          </p:val>
                                        </p:tav>
                                        <p:tav tm="100000">
                                          <p:val>
                                            <p:strVal val="#ppt_x"/>
                                          </p:val>
                                        </p:tav>
                                      </p:tavLst>
                                    </p:anim>
                                    <p:anim calcmode="lin" valueType="num">
                                      <p:cBhvr additive="base">
                                        <p:cTn id="22" dur="1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3"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B0E1A"/>
        </a:solidFill>
        <a:effectLst/>
      </p:bgPr>
    </p:bg>
    <p:spTree>
      <p:nvGrpSpPr>
        <p:cNvPr id="1" name=""/>
        <p:cNvGrpSpPr/>
        <p:nvPr/>
      </p:nvGrpSpPr>
      <p:grpSpPr>
        <a:xfrm>
          <a:off x="0" y="0"/>
          <a:ext cx="0" cy="0"/>
          <a:chOff x="0" y="0"/>
          <a:chExt cx="0" cy="0"/>
        </a:xfrm>
      </p:grpSpPr>
      <p:sp>
        <p:nvSpPr>
          <p:cNvPr id="2" name="GRAD::cyanEmerald3::blob::1u"/>
          <p:cNvSpPr/>
          <p:nvPr/>
        </p:nvSpPr>
        <p:spPr>
          <a:xfrm>
            <a:off x="-1462812" y="2032948"/>
            <a:ext cx="5029200" cy="5029200"/>
          </a:xfrm>
          <a:prstGeom prst="ellipse">
            <a:avLst/>
          </a:prstGeom>
          <a:gradFill rotWithShape="1">
            <a:gsLst>
              <a:gs pos="0">
                <a:srgbClr val="22D3EE">
                  <a:alpha val="42000"/>
                </a:srgbClr>
              </a:gs>
              <a:gs pos="55000">
                <a:srgbClr val="10B981">
                  <a:alpha val="16000"/>
                </a:srgbClr>
              </a:gs>
              <a:gs pos="100000">
                <a:srgbClr val="10B981">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411480"/>
            <a:ext cx="7772400" cy="86868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Dynamic Sequence Diagrams</a:t>
            </a:r>
            <a:endParaRPr lang="en-US" sz="2600"/>
          </a:p>
        </p:txBody>
      </p:sp>
      <p:pic>
        <p:nvPicPr>
          <p:cNvPr id="9" name="Image 0"/>
          <p:cNvPicPr>
            <a:picLocks noChangeAspect="1"/>
          </p:cNvPicPr>
          <p:nvPr/>
        </p:nvPicPr>
        <p:blipFill>
          <a:blip r:embed="rId3"/>
          <a:srcRect/>
          <a:stretch/>
        </p:blipFill>
        <p:spPr>
          <a:xfrm>
            <a:off x="3418237" y="1624757"/>
            <a:ext cx="3145328" cy="1310380"/>
          </a:xfrm>
          <a:prstGeom prst="rect">
            <a:avLst/>
          </a:prstGeom>
        </p:spPr>
      </p:pic>
      <p:grpSp>
        <p:nvGrpSpPr>
          <p:cNvPr id="19" name="Group 18">
            <a:extLst>
              <a:ext uri="{FF2B5EF4-FFF2-40B4-BE49-F238E27FC236}">
                <a16:creationId xmlns:a16="http://schemas.microsoft.com/office/drawing/2014/main" id="{3E4965CB-2602-C11D-F401-9DB93DF866C3}"/>
              </a:ext>
            </a:extLst>
          </p:cNvPr>
          <p:cNvGrpSpPr/>
          <p:nvPr/>
        </p:nvGrpSpPr>
        <p:grpSpPr>
          <a:xfrm>
            <a:off x="6751320" y="1103930"/>
            <a:ext cx="1889760" cy="1165860"/>
            <a:chOff x="6751320" y="1103930"/>
            <a:chExt cx="1889760" cy="1165860"/>
          </a:xfrm>
        </p:grpSpPr>
        <p:sp>
          <p:nvSpPr>
            <p:cNvPr id="10" name="ANIM::0::card1v"/>
            <p:cNvSpPr/>
            <p:nvPr/>
          </p:nvSpPr>
          <p:spPr>
            <a:xfrm>
              <a:off x="6751320" y="1103930"/>
              <a:ext cx="1889760" cy="116586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1" name="Text 8"/>
            <p:cNvSpPr/>
            <p:nvPr/>
          </p:nvSpPr>
          <p:spPr>
            <a:xfrm>
              <a:off x="6751320" y="1275380"/>
              <a:ext cx="1889760" cy="58293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Login Flow</a:t>
              </a:r>
              <a:endParaRPr lang="en-US" sz="1300"/>
            </a:p>
          </p:txBody>
        </p:sp>
        <p:sp>
          <p:nvSpPr>
            <p:cNvPr id="12" name="Text 9"/>
            <p:cNvSpPr/>
            <p:nvPr/>
          </p:nvSpPr>
          <p:spPr>
            <a:xfrm>
              <a:off x="6835140" y="1842100"/>
              <a:ext cx="1733287" cy="317962"/>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Sending OTP code and logging the user in automatically</a:t>
              </a:r>
              <a:endParaRPr lang="en-US" sz="950"/>
            </a:p>
          </p:txBody>
        </p:sp>
      </p:grpSp>
      <p:grpSp>
        <p:nvGrpSpPr>
          <p:cNvPr id="20" name="Group 19">
            <a:extLst>
              <a:ext uri="{FF2B5EF4-FFF2-40B4-BE49-F238E27FC236}">
                <a16:creationId xmlns:a16="http://schemas.microsoft.com/office/drawing/2014/main" id="{CB3A56F5-C0AE-A1F0-F70C-970815816D92}"/>
              </a:ext>
            </a:extLst>
          </p:cNvPr>
          <p:cNvGrpSpPr/>
          <p:nvPr/>
        </p:nvGrpSpPr>
        <p:grpSpPr>
          <a:xfrm>
            <a:off x="6751320" y="2420250"/>
            <a:ext cx="1889760" cy="1165860"/>
            <a:chOff x="6751320" y="2420250"/>
            <a:chExt cx="1889760" cy="1165860"/>
          </a:xfrm>
        </p:grpSpPr>
        <p:sp>
          <p:nvSpPr>
            <p:cNvPr id="13" name="ANIM::160::card1w"/>
            <p:cNvSpPr/>
            <p:nvPr/>
          </p:nvSpPr>
          <p:spPr>
            <a:xfrm>
              <a:off x="6751320" y="2420250"/>
              <a:ext cx="1889760" cy="116586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4" name="Text 11"/>
            <p:cNvSpPr/>
            <p:nvPr/>
          </p:nvSpPr>
          <p:spPr>
            <a:xfrm>
              <a:off x="6751320" y="2542343"/>
              <a:ext cx="1889760" cy="58293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Leave Flow</a:t>
              </a:r>
              <a:endParaRPr lang="en-US" sz="1300"/>
            </a:p>
          </p:txBody>
        </p:sp>
        <p:sp>
          <p:nvSpPr>
            <p:cNvPr id="15" name="Text 12"/>
            <p:cNvSpPr/>
            <p:nvPr/>
          </p:nvSpPr>
          <p:spPr>
            <a:xfrm>
              <a:off x="6751320" y="3117168"/>
              <a:ext cx="1817107" cy="317962"/>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Creating a leave request and checking database security</a:t>
              </a:r>
              <a:endParaRPr lang="en-US" sz="950"/>
            </a:p>
          </p:txBody>
        </p:sp>
      </p:grpSp>
      <p:grpSp>
        <p:nvGrpSpPr>
          <p:cNvPr id="21" name="Group 20">
            <a:extLst>
              <a:ext uri="{FF2B5EF4-FFF2-40B4-BE49-F238E27FC236}">
                <a16:creationId xmlns:a16="http://schemas.microsoft.com/office/drawing/2014/main" id="{E6627613-543D-DA42-7707-37315CC6C566}"/>
              </a:ext>
            </a:extLst>
          </p:cNvPr>
          <p:cNvGrpSpPr/>
          <p:nvPr/>
        </p:nvGrpSpPr>
        <p:grpSpPr>
          <a:xfrm>
            <a:off x="6751320" y="3736570"/>
            <a:ext cx="1889760" cy="1165860"/>
            <a:chOff x="6751320" y="3736570"/>
            <a:chExt cx="1889760" cy="1165860"/>
          </a:xfrm>
        </p:grpSpPr>
        <p:sp>
          <p:nvSpPr>
            <p:cNvPr id="16" name="ANIM::320::card1x"/>
            <p:cNvSpPr/>
            <p:nvPr/>
          </p:nvSpPr>
          <p:spPr>
            <a:xfrm>
              <a:off x="6751320" y="3736570"/>
              <a:ext cx="1889760" cy="116586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Text 14"/>
            <p:cNvSpPr/>
            <p:nvPr/>
          </p:nvSpPr>
          <p:spPr>
            <a:xfrm>
              <a:off x="6751320" y="3850594"/>
              <a:ext cx="1889760" cy="58293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Chat Flow</a:t>
              </a:r>
              <a:endParaRPr lang="en-US" sz="1300"/>
            </a:p>
          </p:txBody>
        </p:sp>
        <p:sp>
          <p:nvSpPr>
            <p:cNvPr id="18" name="Text 15"/>
            <p:cNvSpPr/>
            <p:nvPr/>
          </p:nvSpPr>
          <p:spPr>
            <a:xfrm>
              <a:off x="6835140" y="4388567"/>
              <a:ext cx="1733287" cy="317962"/>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Pushing new chat messages to the screens instantly</a:t>
              </a:r>
              <a:endParaRPr lang="en-US" sz="950"/>
            </a:p>
          </p:txBody>
        </p:sp>
      </p:grpSp>
      <p:pic>
        <p:nvPicPr>
          <p:cNvPr id="5" name="Image 0">
            <a:extLst>
              <a:ext uri="{FF2B5EF4-FFF2-40B4-BE49-F238E27FC236}">
                <a16:creationId xmlns:a16="http://schemas.microsoft.com/office/drawing/2014/main" id="{74F0A69D-686B-C202-38DF-C46CDF42F9E0}"/>
              </a:ext>
            </a:extLst>
          </p:cNvPr>
          <p:cNvPicPr>
            <a:picLocks noChangeAspect="1"/>
          </p:cNvPicPr>
          <p:nvPr/>
        </p:nvPicPr>
        <p:blipFill>
          <a:blip r:embed="rId4"/>
          <a:srcRect/>
          <a:stretch/>
        </p:blipFill>
        <p:spPr>
          <a:xfrm>
            <a:off x="85154" y="1624757"/>
            <a:ext cx="3145328" cy="2634124"/>
          </a:xfrm>
          <a:prstGeom prst="rect">
            <a:avLst/>
          </a:prstGeom>
        </p:spPr>
      </p:pic>
      <p:pic>
        <p:nvPicPr>
          <p:cNvPr id="7" name="Image 0">
            <a:extLst>
              <a:ext uri="{FF2B5EF4-FFF2-40B4-BE49-F238E27FC236}">
                <a16:creationId xmlns:a16="http://schemas.microsoft.com/office/drawing/2014/main" id="{6798FD8A-E728-705D-00D2-D6733928231D}"/>
              </a:ext>
            </a:extLst>
          </p:cNvPr>
          <p:cNvPicPr>
            <a:picLocks noChangeAspect="1"/>
          </p:cNvPicPr>
          <p:nvPr/>
        </p:nvPicPr>
        <p:blipFill>
          <a:blip r:embed="rId5"/>
          <a:srcRect/>
          <a:stretch/>
        </p:blipFill>
        <p:spPr>
          <a:xfrm>
            <a:off x="3418236" y="3214258"/>
            <a:ext cx="3145328" cy="1044623"/>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1250" fill="hold"/>
                                        <p:tgtEl>
                                          <p:spTgt spid="19"/>
                                        </p:tgtEl>
                                        <p:attrNameLst>
                                          <p:attrName>ppt_x</p:attrName>
                                        </p:attrNameLst>
                                      </p:cBhvr>
                                      <p:tavLst>
                                        <p:tav tm="0">
                                          <p:val>
                                            <p:strVal val="1+#ppt_w/2"/>
                                          </p:val>
                                        </p:tav>
                                        <p:tav tm="100000">
                                          <p:val>
                                            <p:strVal val="#ppt_x"/>
                                          </p:val>
                                        </p:tav>
                                      </p:tavLst>
                                    </p:anim>
                                    <p:anim calcmode="lin" valueType="num">
                                      <p:cBhvr additive="base">
                                        <p:cTn id="12" dur="1250" fill="hold"/>
                                        <p:tgtEl>
                                          <p:spTgt spid="19"/>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 presetClass="entr" presetSubtype="2"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1250" fill="hold"/>
                                        <p:tgtEl>
                                          <p:spTgt spid="20"/>
                                        </p:tgtEl>
                                        <p:attrNameLst>
                                          <p:attrName>ppt_x</p:attrName>
                                        </p:attrNameLst>
                                      </p:cBhvr>
                                      <p:tavLst>
                                        <p:tav tm="0">
                                          <p:val>
                                            <p:strVal val="1+#ppt_w/2"/>
                                          </p:val>
                                        </p:tav>
                                        <p:tav tm="100000">
                                          <p:val>
                                            <p:strVal val="#ppt_x"/>
                                          </p:val>
                                        </p:tav>
                                      </p:tavLst>
                                    </p:anim>
                                    <p:anim calcmode="lin" valueType="num">
                                      <p:cBhvr additive="base">
                                        <p:cTn id="17" dur="1250" fill="hold"/>
                                        <p:tgtEl>
                                          <p:spTgt spid="20"/>
                                        </p:tgtEl>
                                        <p:attrNameLst>
                                          <p:attrName>ppt_y</p:attrName>
                                        </p:attrNameLst>
                                      </p:cBhvr>
                                      <p:tavLst>
                                        <p:tav tm="0">
                                          <p:val>
                                            <p:strVal val="#ppt_y"/>
                                          </p:val>
                                        </p:tav>
                                        <p:tav tm="100000">
                                          <p:val>
                                            <p:strVal val="#ppt_y"/>
                                          </p:val>
                                        </p:tav>
                                      </p:tavLst>
                                    </p:anim>
                                  </p:childTnLst>
                                </p:cTn>
                              </p:par>
                            </p:childTnLst>
                          </p:cTn>
                        </p:par>
                        <p:par>
                          <p:cTn id="18" fill="hold">
                            <p:stCondLst>
                              <p:cond delay="2750"/>
                            </p:stCondLst>
                            <p:childTnLst>
                              <p:par>
                                <p:cTn id="19" presetID="2" presetClass="entr" presetSubtype="2"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1250" fill="hold"/>
                                        <p:tgtEl>
                                          <p:spTgt spid="21"/>
                                        </p:tgtEl>
                                        <p:attrNameLst>
                                          <p:attrName>ppt_x</p:attrName>
                                        </p:attrNameLst>
                                      </p:cBhvr>
                                      <p:tavLst>
                                        <p:tav tm="0">
                                          <p:val>
                                            <p:strVal val="1+#ppt_w/2"/>
                                          </p:val>
                                        </p:tav>
                                        <p:tav tm="100000">
                                          <p:val>
                                            <p:strVal val="#ppt_x"/>
                                          </p:val>
                                        </p:tav>
                                      </p:tavLst>
                                    </p:anim>
                                    <p:anim calcmode="lin" valueType="num">
                                      <p:cBhvr additive="base">
                                        <p:cTn id="22" dur="125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3"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0B0E1A"/>
        </a:solidFill>
        <a:effectLst/>
      </p:bgPr>
    </p:bg>
    <p:spTree>
      <p:nvGrpSpPr>
        <p:cNvPr id="1" name=""/>
        <p:cNvGrpSpPr/>
        <p:nvPr/>
      </p:nvGrpSpPr>
      <p:grpSpPr>
        <a:xfrm>
          <a:off x="0" y="0"/>
          <a:ext cx="0" cy="0"/>
          <a:chOff x="0" y="0"/>
          <a:chExt cx="0" cy="0"/>
        </a:xfrm>
      </p:grpSpPr>
      <p:sp>
        <p:nvSpPr>
          <p:cNvPr id="2" name="GRAD::coralOrange::blob::e"/>
          <p:cNvSpPr/>
          <p:nvPr/>
        </p:nvSpPr>
        <p:spPr>
          <a:xfrm>
            <a:off x="-2286000" y="-1828800"/>
            <a:ext cx="6400800" cy="6400800"/>
          </a:xfrm>
          <a:prstGeom prst="ellipse">
            <a:avLst/>
          </a:prstGeom>
          <a:gradFill rotWithShape="1">
            <a:gsLst>
              <a:gs pos="0">
                <a:srgbClr val="FF6B6B">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GRAD::coralOrange2::blob::f"/>
          <p:cNvSpPr/>
          <p:nvPr/>
        </p:nvSpPr>
        <p:spPr>
          <a:xfrm>
            <a:off x="5486400" y="1828800"/>
            <a:ext cx="5943600" cy="59436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365760" y="457200"/>
            <a:ext cx="5943600" cy="4206240"/>
          </a:xfrm>
          <a:prstGeom prst="rect">
            <a:avLst/>
          </a:prstGeom>
          <a:noFill/>
          <a:ln/>
        </p:spPr>
        <p:txBody>
          <a:bodyPr wrap="square" lIns="0" tIns="0" rIns="0" bIns="0" rtlCol="0" anchor="ctr"/>
          <a:lstStyle/>
          <a:p>
            <a:pPr algn="l"/>
            <a:r>
              <a:rPr lang="en-US" sz="28000" b="1">
                <a:solidFill>
                  <a:srgbClr val="FFFFFF">
                    <a:alpha val="10000"/>
                  </a:srgbClr>
                </a:solidFill>
                <a:latin typeface="Sora"/>
                <a:ea typeface="Sora"/>
                <a:cs typeface="Sora"/>
              </a:rPr>
              <a:t>05</a:t>
            </a:r>
          </a:p>
        </p:txBody>
      </p:sp>
      <p:sp>
        <p:nvSpPr>
          <p:cNvPr id="5" name="Shape 3"/>
          <p:cNvSpPr/>
          <p:nvPr/>
        </p:nvSpPr>
        <p:spPr>
          <a:xfrm>
            <a:off x="4160520" y="1691640"/>
            <a:ext cx="182880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6" name="Text 4"/>
          <p:cNvSpPr/>
          <p:nvPr/>
        </p:nvSpPr>
        <p:spPr>
          <a:xfrm>
            <a:off x="4160520" y="1691640"/>
            <a:ext cx="1828800" cy="365760"/>
          </a:xfrm>
          <a:prstGeom prst="rect">
            <a:avLst/>
          </a:prstGeom>
          <a:noFill/>
          <a:ln/>
        </p:spPr>
        <p:txBody>
          <a:bodyPr wrap="square" lIns="0" tIns="0" rIns="0" bIns="0" rtlCol="0" anchor="ctr"/>
          <a:lstStyle/>
          <a:p>
            <a:pPr algn="l"/>
            <a:r>
              <a:rPr lang="en-US" sz="1000" b="1" spc="150">
                <a:solidFill>
                  <a:srgbClr val="8890A6"/>
                </a:solidFill>
                <a:latin typeface="Inter"/>
                <a:ea typeface="Inter"/>
                <a:cs typeface="Inter"/>
              </a:rPr>
              <a:t>           CHAPTER 05</a:t>
            </a:r>
          </a:p>
        </p:txBody>
      </p:sp>
      <p:sp>
        <p:nvSpPr>
          <p:cNvPr id="8" name="ANIM::450::subh"/>
          <p:cNvSpPr/>
          <p:nvPr/>
        </p:nvSpPr>
        <p:spPr>
          <a:xfrm>
            <a:off x="4160520" y="3703320"/>
            <a:ext cx="4206240" cy="36576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How we built the web and mobile features over 4 sprints</a:t>
            </a:r>
            <a:endParaRPr lang="en-US" sz="1300"/>
          </a:p>
        </p:txBody>
      </p:sp>
      <p:sp>
        <p:nvSpPr>
          <p:cNvPr id="12" name="TextBox 11">
            <a:extLst>
              <a:ext uri="{FF2B5EF4-FFF2-40B4-BE49-F238E27FC236}">
                <a16:creationId xmlns:a16="http://schemas.microsoft.com/office/drawing/2014/main" id="{23385DCB-5B07-4322-43B6-449E6C6835FC}"/>
              </a:ext>
            </a:extLst>
          </p:cNvPr>
          <p:cNvSpPr txBox="1"/>
          <p:nvPr/>
        </p:nvSpPr>
        <p:spPr>
          <a:xfrm>
            <a:off x="3825240" y="2605998"/>
            <a:ext cx="4419600" cy="523220"/>
          </a:xfrm>
          <a:prstGeom prst="rect">
            <a:avLst/>
          </a:prstGeom>
          <a:noFill/>
        </p:spPr>
        <p:txBody>
          <a:bodyPr wrap="square">
            <a:spAutoFit/>
          </a:bodyPr>
          <a:lstStyle/>
          <a:p>
            <a:pPr algn="ctr"/>
            <a:r>
              <a:rPr lang="en-US" sz="2800" b="1">
                <a:solidFill>
                  <a:srgbClr val="FFFFFF"/>
                </a:solidFill>
                <a:latin typeface="Sora"/>
                <a:ea typeface="Sora"/>
                <a:cs typeface="Sora"/>
              </a:rPr>
              <a:t>Realization &amp; Sprints</a:t>
            </a:r>
          </a:p>
        </p:txBody>
      </p:sp>
    </p:spTree>
  </p:cSld>
  <p:clrMapOvr>
    <a:masterClrMapping/>
  </p:clrMapOvr>
  <mc:AlternateContent xmlns:mc="http://schemas.openxmlformats.org/markup-compatibility/2006" xmlns:p14="http://schemas.microsoft.com/office/powerpoint/2010/main">
    <mc:Choice Requires="p14">
      <p:transition spd="slow" p14:dur="1200">
        <p:extLst>
          <p:ext uri="{EAA6730D-07C4-43C0-AC2F-2B797B595A98}">
            <p159:prstTrans xmlns="" xmlns:p159="http://schemas.microsoft.com/office/powerpoint/2015/09/main" prst="morph"/>
          </p:ext>
        </p:extLst>
      </p:transition>
    </mc:Choice>
    <mc:Fallback xmlns="">
      <p:transition spd="slow">
        <p:extLst>
          <p:ext uri="{EAA6730D-07C4-43C0-AC2F-2B797B595A98}">
            <p159:prstTrans xmlns:p159="http://schemas.microsoft.com/office/powerpoint/2015/09/main" xmlns:p14="http://schemas.microsoft.com/office/powerpoint/2010/main" xmlns="" prst="morph"/>
          </p:ext>
        </p:extLs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0-#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500"/>
                                        <p:tgtEl>
                                          <p:spTgt spid="12"/>
                                        </p:tgtEl>
                                      </p:cBhvr>
                                    </p:animEffect>
                                  </p:childTnLst>
                                </p:cTn>
                              </p:par>
                              <p:par>
                                <p:cTn id="16" presetID="10" presetClass="entr" presetSubtype="0" fill="hold" grpId="1"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p:bldP spid="8" grpId="1" animBg="1"/>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0B0E1A"/>
        </a:solidFill>
        <a:effectLst/>
      </p:bgPr>
    </p:bg>
    <p:spTree>
      <p:nvGrpSpPr>
        <p:cNvPr id="1" name=""/>
        <p:cNvGrpSpPr/>
        <p:nvPr/>
      </p:nvGrpSpPr>
      <p:grpSpPr>
        <a:xfrm>
          <a:off x="0" y="0"/>
          <a:ext cx="0" cy="0"/>
          <a:chOff x="0" y="0"/>
          <a:chExt cx="0" cy="0"/>
        </a:xfrm>
      </p:grpSpPr>
      <p:sp>
        <p:nvSpPr>
          <p:cNvPr id="2" name="GRAD::blueViolet4::blob::1d"/>
          <p:cNvSpPr/>
          <p:nvPr/>
        </p:nvSpPr>
        <p:spPr>
          <a:xfrm>
            <a:off x="3228703" y="-910047"/>
            <a:ext cx="6274526" cy="6245790"/>
          </a:xfrm>
          <a:prstGeom prst="ellipse">
            <a:avLst/>
          </a:prstGeom>
          <a:gradFill rotWithShape="1">
            <a:gsLst>
              <a:gs pos="0">
                <a:srgbClr val="4F7CFF">
                  <a:alpha val="38000"/>
                </a:srgbClr>
              </a:gs>
              <a:gs pos="55000">
                <a:srgbClr val="8B5CF6">
                  <a:alpha val="13000"/>
                </a:srgbClr>
              </a:gs>
              <a:gs pos="100000">
                <a:srgbClr val="8B5CF6">
                  <a:alpha val="0"/>
                </a:srgbClr>
              </a:gs>
            </a:gsLst>
            <a:path path="circle">
              <a:fillToRect l="50000" t="50000" r="50000" b="50000"/>
            </a:path>
          </a:gradFill>
          <a:ln/>
          <a:effectLst>
            <a:softEdge rad="380000"/>
          </a:effectLst>
        </p:spPr>
        <p:txBody>
          <a:bodyPr/>
          <a:lstStyle/>
          <a:p>
            <a:endParaRPr lang="fr-FR"/>
          </a:p>
        </p:txBody>
      </p:sp>
      <p:sp>
        <p:nvSpPr>
          <p:cNvPr id="3" name="ANIM::0::h1e"/>
          <p:cNvSpPr/>
          <p:nvPr/>
        </p:nvSpPr>
        <p:spPr>
          <a:xfrm>
            <a:off x="502920" y="502920"/>
            <a:ext cx="4114800" cy="1280160"/>
          </a:xfrm>
          <a:prstGeom prst="rect">
            <a:avLst/>
          </a:prstGeom>
          <a:noFill/>
          <a:ln/>
        </p:spPr>
        <p:txBody>
          <a:bodyPr wrap="square" lIns="0" tIns="0" rIns="0" bIns="0" rtlCol="0" anchor="ctr"/>
          <a:lstStyle/>
          <a:p>
            <a:pPr marL="0" indent="0" algn="l">
              <a:buNone/>
            </a:pPr>
            <a:r>
              <a:rPr lang="en-US" sz="2600" b="1">
                <a:solidFill>
                  <a:srgbClr val="FFFFFF"/>
                </a:solidFill>
                <a:latin typeface="Sora" pitchFamily="34" charset="0"/>
                <a:ea typeface="Sora" pitchFamily="34" charset="-122"/>
                <a:cs typeface="Sora" pitchFamily="34" charset="-120"/>
              </a:rPr>
              <a:t>Sign in, select,</a:t>
            </a:r>
            <a:endParaRPr lang="en-US" sz="2600"/>
          </a:p>
          <a:p>
            <a:pPr marL="0" indent="0" algn="l">
              <a:buNone/>
            </a:pPr>
            <a:r>
              <a:rPr lang="en-US" sz="2600" b="1">
                <a:solidFill>
                  <a:srgbClr val="FFFFFF"/>
                </a:solidFill>
                <a:latin typeface="Sora" pitchFamily="34" charset="0"/>
                <a:ea typeface="Sora" pitchFamily="34" charset="-122"/>
                <a:cs typeface="Sora" pitchFamily="34" charset="-120"/>
              </a:rPr>
              <a:t>see what matters</a:t>
            </a:r>
            <a:endParaRPr lang="en-US" sz="2600"/>
          </a:p>
        </p:txBody>
      </p:sp>
      <p:grpSp>
        <p:nvGrpSpPr>
          <p:cNvPr id="18" name="Group 17">
            <a:extLst>
              <a:ext uri="{FF2B5EF4-FFF2-40B4-BE49-F238E27FC236}">
                <a16:creationId xmlns:a16="http://schemas.microsoft.com/office/drawing/2014/main" id="{2C52503F-031F-370F-A696-6BC0391C66A1}"/>
              </a:ext>
            </a:extLst>
          </p:cNvPr>
          <p:cNvGrpSpPr/>
          <p:nvPr/>
        </p:nvGrpSpPr>
        <p:grpSpPr>
          <a:xfrm>
            <a:off x="548640" y="1847088"/>
            <a:ext cx="3794760" cy="365760"/>
            <a:chOff x="548640" y="1847088"/>
            <a:chExt cx="3794760" cy="365760"/>
          </a:xfrm>
        </p:grpSpPr>
        <p:sp>
          <p:nvSpPr>
            <p:cNvPr id="4" name="Shape 2"/>
            <p:cNvSpPr/>
            <p:nvPr/>
          </p:nvSpPr>
          <p:spPr>
            <a:xfrm>
              <a:off x="548640" y="1965960"/>
              <a:ext cx="82296" cy="82296"/>
            </a:xfrm>
            <a:prstGeom prst="ellipse">
              <a:avLst/>
            </a:prstGeom>
            <a:solidFill>
              <a:srgbClr val="22D3EE"/>
            </a:solidFill>
            <a:ln/>
          </p:spPr>
          <p:txBody>
            <a:bodyPr/>
            <a:lstStyle/>
            <a:p>
              <a:endParaRPr lang="fr-FR"/>
            </a:p>
          </p:txBody>
        </p:sp>
        <p:sp>
          <p:nvSpPr>
            <p:cNvPr id="5" name="Text 3"/>
            <p:cNvSpPr/>
            <p:nvPr/>
          </p:nvSpPr>
          <p:spPr>
            <a:xfrm>
              <a:off x="777240" y="1847088"/>
              <a:ext cx="3566160" cy="365760"/>
            </a:xfrm>
            <a:prstGeom prst="rect">
              <a:avLst/>
            </a:prstGeom>
            <a:noFill/>
            <a:ln/>
          </p:spPr>
          <p:txBody>
            <a:bodyPr wrap="square" lIns="0" tIns="0" rIns="0" bIns="0" rtlCol="0" anchor="ctr"/>
            <a:lstStyle/>
            <a:p>
              <a:pPr marL="0" indent="0" algn="l">
                <a:buNone/>
              </a:pPr>
              <a:r>
                <a:rPr lang="en-US" sz="1150">
                  <a:solidFill>
                    <a:srgbClr val="C7CCDA"/>
                  </a:solidFill>
                  <a:latin typeface="Inter" pitchFamily="34" charset="0"/>
                  <a:ea typeface="Inter" pitchFamily="34" charset="-122"/>
                  <a:cs typeface="Inter" pitchFamily="34" charset="-120"/>
                </a:rPr>
                <a:t>OTP-based authentication via Supabase Auth</a:t>
              </a:r>
              <a:endParaRPr lang="en-US" sz="1150"/>
            </a:p>
          </p:txBody>
        </p:sp>
      </p:grpSp>
      <p:grpSp>
        <p:nvGrpSpPr>
          <p:cNvPr id="19" name="Group 18">
            <a:extLst>
              <a:ext uri="{FF2B5EF4-FFF2-40B4-BE49-F238E27FC236}">
                <a16:creationId xmlns:a16="http://schemas.microsoft.com/office/drawing/2014/main" id="{6D5B0011-769C-81D7-B44A-647009622893}"/>
              </a:ext>
            </a:extLst>
          </p:cNvPr>
          <p:cNvGrpSpPr/>
          <p:nvPr/>
        </p:nvGrpSpPr>
        <p:grpSpPr>
          <a:xfrm>
            <a:off x="548640" y="2359152"/>
            <a:ext cx="3794760" cy="365760"/>
            <a:chOff x="548640" y="2359152"/>
            <a:chExt cx="3794760" cy="365760"/>
          </a:xfrm>
        </p:grpSpPr>
        <p:sp>
          <p:nvSpPr>
            <p:cNvPr id="6" name="Shape 4"/>
            <p:cNvSpPr/>
            <p:nvPr/>
          </p:nvSpPr>
          <p:spPr>
            <a:xfrm>
              <a:off x="548640" y="2478024"/>
              <a:ext cx="82296" cy="82296"/>
            </a:xfrm>
            <a:prstGeom prst="ellipse">
              <a:avLst/>
            </a:prstGeom>
            <a:solidFill>
              <a:srgbClr val="10B981"/>
            </a:solidFill>
            <a:ln/>
          </p:spPr>
          <p:txBody>
            <a:bodyPr/>
            <a:lstStyle/>
            <a:p>
              <a:endParaRPr lang="fr-FR"/>
            </a:p>
          </p:txBody>
        </p:sp>
        <p:sp>
          <p:nvSpPr>
            <p:cNvPr id="7" name="Text 5"/>
            <p:cNvSpPr/>
            <p:nvPr/>
          </p:nvSpPr>
          <p:spPr>
            <a:xfrm>
              <a:off x="777240" y="2359152"/>
              <a:ext cx="3566160" cy="365760"/>
            </a:xfrm>
            <a:prstGeom prst="rect">
              <a:avLst/>
            </a:prstGeom>
            <a:noFill/>
            <a:ln/>
          </p:spPr>
          <p:txBody>
            <a:bodyPr wrap="square" lIns="0" tIns="0" rIns="0" bIns="0" rtlCol="0" anchor="ctr"/>
            <a:lstStyle/>
            <a:p>
              <a:pPr marL="0" indent="0" algn="l">
                <a:buNone/>
              </a:pPr>
              <a:r>
                <a:rPr lang="en-US" sz="1150">
                  <a:solidFill>
                    <a:srgbClr val="C7CCDA"/>
                  </a:solidFill>
                  <a:latin typeface="Inter" pitchFamily="34" charset="0"/>
                  <a:ea typeface="Inter" pitchFamily="34" charset="-122"/>
                  <a:cs typeface="Inter" pitchFamily="34" charset="-120"/>
                </a:rPr>
                <a:t>Multi-company selector — one account, many firms</a:t>
              </a:r>
              <a:endParaRPr lang="en-US" sz="1150"/>
            </a:p>
          </p:txBody>
        </p:sp>
      </p:grpSp>
      <p:grpSp>
        <p:nvGrpSpPr>
          <p:cNvPr id="20" name="Group 19">
            <a:extLst>
              <a:ext uri="{FF2B5EF4-FFF2-40B4-BE49-F238E27FC236}">
                <a16:creationId xmlns:a16="http://schemas.microsoft.com/office/drawing/2014/main" id="{0CB9C3BF-2059-F238-475D-25007D7D5F14}"/>
              </a:ext>
            </a:extLst>
          </p:cNvPr>
          <p:cNvGrpSpPr/>
          <p:nvPr/>
        </p:nvGrpSpPr>
        <p:grpSpPr>
          <a:xfrm>
            <a:off x="548640" y="2871216"/>
            <a:ext cx="3794760" cy="365760"/>
            <a:chOff x="548640" y="2871216"/>
            <a:chExt cx="3794760" cy="365760"/>
          </a:xfrm>
        </p:grpSpPr>
        <p:sp>
          <p:nvSpPr>
            <p:cNvPr id="8" name="Shape 6"/>
            <p:cNvSpPr/>
            <p:nvPr/>
          </p:nvSpPr>
          <p:spPr>
            <a:xfrm>
              <a:off x="548640" y="2990088"/>
              <a:ext cx="82296" cy="82296"/>
            </a:xfrm>
            <a:prstGeom prst="ellipse">
              <a:avLst/>
            </a:prstGeom>
            <a:solidFill>
              <a:srgbClr val="8B5CF6"/>
            </a:solidFill>
            <a:ln/>
          </p:spPr>
          <p:txBody>
            <a:bodyPr/>
            <a:lstStyle/>
            <a:p>
              <a:endParaRPr lang="fr-FR"/>
            </a:p>
          </p:txBody>
        </p:sp>
        <p:sp>
          <p:nvSpPr>
            <p:cNvPr id="9" name="Text 7"/>
            <p:cNvSpPr/>
            <p:nvPr/>
          </p:nvSpPr>
          <p:spPr>
            <a:xfrm>
              <a:off x="777240" y="2871216"/>
              <a:ext cx="3566160" cy="365760"/>
            </a:xfrm>
            <a:prstGeom prst="rect">
              <a:avLst/>
            </a:prstGeom>
            <a:noFill/>
            <a:ln/>
          </p:spPr>
          <p:txBody>
            <a:bodyPr wrap="square" lIns="0" tIns="0" rIns="0" bIns="0" rtlCol="0" anchor="ctr"/>
            <a:lstStyle/>
            <a:p>
              <a:pPr marL="0" indent="0" algn="l">
                <a:buNone/>
              </a:pPr>
              <a:r>
                <a:rPr lang="en-US" sz="1150">
                  <a:solidFill>
                    <a:srgbClr val="C7CCDA"/>
                  </a:solidFill>
                  <a:latin typeface="Inter" pitchFamily="34" charset="0"/>
                  <a:ea typeface="Inter" pitchFamily="34" charset="-122"/>
                  <a:cs typeface="Inter" pitchFamily="34" charset="-120"/>
                </a:rPr>
                <a:t>Dashboard surfaces unpointed staff &amp; reminders</a:t>
              </a:r>
              <a:endParaRPr lang="en-US" sz="1150"/>
            </a:p>
          </p:txBody>
        </p:sp>
      </p:grpSp>
      <p:grpSp>
        <p:nvGrpSpPr>
          <p:cNvPr id="21" name="Group 20">
            <a:extLst>
              <a:ext uri="{FF2B5EF4-FFF2-40B4-BE49-F238E27FC236}">
                <a16:creationId xmlns:a16="http://schemas.microsoft.com/office/drawing/2014/main" id="{E1263E9B-DEC0-B6D4-68AB-231ED453437B}"/>
              </a:ext>
            </a:extLst>
          </p:cNvPr>
          <p:cNvGrpSpPr/>
          <p:nvPr/>
        </p:nvGrpSpPr>
        <p:grpSpPr>
          <a:xfrm>
            <a:off x="548640" y="3383280"/>
            <a:ext cx="3794760" cy="365760"/>
            <a:chOff x="548640" y="3383280"/>
            <a:chExt cx="3794760" cy="365760"/>
          </a:xfrm>
        </p:grpSpPr>
        <p:sp>
          <p:nvSpPr>
            <p:cNvPr id="10" name="Shape 8"/>
            <p:cNvSpPr/>
            <p:nvPr/>
          </p:nvSpPr>
          <p:spPr>
            <a:xfrm>
              <a:off x="548640" y="3502152"/>
              <a:ext cx="82296" cy="82296"/>
            </a:xfrm>
            <a:prstGeom prst="ellipse">
              <a:avLst/>
            </a:prstGeom>
            <a:solidFill>
              <a:srgbClr val="FF6B6B"/>
            </a:solidFill>
            <a:ln/>
          </p:spPr>
          <p:txBody>
            <a:bodyPr/>
            <a:lstStyle/>
            <a:p>
              <a:endParaRPr lang="fr-FR"/>
            </a:p>
          </p:txBody>
        </p:sp>
        <p:sp>
          <p:nvSpPr>
            <p:cNvPr id="11" name="Text 9"/>
            <p:cNvSpPr/>
            <p:nvPr/>
          </p:nvSpPr>
          <p:spPr>
            <a:xfrm>
              <a:off x="777240" y="3383280"/>
              <a:ext cx="3566160" cy="365760"/>
            </a:xfrm>
            <a:prstGeom prst="rect">
              <a:avLst/>
            </a:prstGeom>
            <a:noFill/>
            <a:ln/>
          </p:spPr>
          <p:txBody>
            <a:bodyPr wrap="square" lIns="0" tIns="0" rIns="0" bIns="0" rtlCol="0" anchor="ctr"/>
            <a:lstStyle/>
            <a:p>
              <a:pPr marL="0" indent="0" algn="l">
                <a:buNone/>
              </a:pPr>
              <a:r>
                <a:rPr lang="en-US" sz="1150">
                  <a:solidFill>
                    <a:srgbClr val="C7CCDA"/>
                  </a:solidFill>
                  <a:latin typeface="Inter" pitchFamily="34" charset="0"/>
                  <a:ea typeface="Inter" pitchFamily="34" charset="-122"/>
                  <a:cs typeface="Inter" pitchFamily="34" charset="-120"/>
                </a:rPr>
                <a:t>Bilingual FR/EN · Light &amp; Dark theme</a:t>
              </a:r>
              <a:endParaRPr lang="en-US" sz="1150"/>
            </a:p>
          </p:txBody>
        </p:sp>
      </p:grpSp>
      <p:sp>
        <p:nvSpPr>
          <p:cNvPr id="12" name="Shape 10"/>
          <p:cNvSpPr/>
          <p:nvPr/>
        </p:nvSpPr>
        <p:spPr>
          <a:xfrm rot="-360000">
            <a:off x="4370832" y="713232"/>
            <a:ext cx="1426464" cy="3013456"/>
          </a:xfrm>
          <a:prstGeom prst="roundRect">
            <a:avLst>
              <a:gd name="adj" fmla="val 14103"/>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13" name="Image 0" descr="preencoded.png"/>
          <p:cNvPicPr>
            <a:picLocks noChangeAspect="1"/>
          </p:cNvPicPr>
          <p:nvPr/>
        </p:nvPicPr>
        <p:blipFill>
          <a:blip r:embed="rId3"/>
          <a:stretch>
            <a:fillRect/>
          </a:stretch>
        </p:blipFill>
        <p:spPr>
          <a:xfrm rot="-360000">
            <a:off x="4434840" y="777240"/>
            <a:ext cx="1298448" cy="2885440"/>
          </a:xfrm>
          <a:prstGeom prst="rect">
            <a:avLst/>
          </a:prstGeom>
        </p:spPr>
      </p:pic>
      <p:sp>
        <p:nvSpPr>
          <p:cNvPr id="14" name="Shape 11"/>
          <p:cNvSpPr/>
          <p:nvPr/>
        </p:nvSpPr>
        <p:spPr>
          <a:xfrm rot="180000">
            <a:off x="5742432" y="438912"/>
            <a:ext cx="1426464" cy="3013456"/>
          </a:xfrm>
          <a:prstGeom prst="roundRect">
            <a:avLst>
              <a:gd name="adj" fmla="val 14103"/>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15" name="Image 1" descr="preencoded.png"/>
          <p:cNvPicPr>
            <a:picLocks noChangeAspect="1"/>
          </p:cNvPicPr>
          <p:nvPr/>
        </p:nvPicPr>
        <p:blipFill>
          <a:blip r:embed="rId4"/>
          <a:stretch>
            <a:fillRect/>
          </a:stretch>
        </p:blipFill>
        <p:spPr>
          <a:xfrm rot="180000">
            <a:off x="5806440" y="502920"/>
            <a:ext cx="1298448" cy="2885440"/>
          </a:xfrm>
          <a:prstGeom prst="rect">
            <a:avLst/>
          </a:prstGeom>
        </p:spPr>
      </p:pic>
      <p:sp>
        <p:nvSpPr>
          <p:cNvPr id="16" name="Shape 12"/>
          <p:cNvSpPr/>
          <p:nvPr/>
        </p:nvSpPr>
        <p:spPr>
          <a:xfrm rot="-180000">
            <a:off x="7114032" y="804672"/>
            <a:ext cx="1426464" cy="3013456"/>
          </a:xfrm>
          <a:prstGeom prst="roundRect">
            <a:avLst>
              <a:gd name="adj" fmla="val 14103"/>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17" name="Image 2" descr="preencoded.png"/>
          <p:cNvPicPr>
            <a:picLocks noChangeAspect="1"/>
          </p:cNvPicPr>
          <p:nvPr/>
        </p:nvPicPr>
        <p:blipFill>
          <a:blip r:embed="rId5"/>
          <a:stretch>
            <a:fillRect/>
          </a:stretch>
        </p:blipFill>
        <p:spPr>
          <a:xfrm rot="-180000">
            <a:off x="7178040" y="868680"/>
            <a:ext cx="1298448" cy="288544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2000"/>
                                        <p:tgtEl>
                                          <p:spTgt spid="2"/>
                                        </p:tgtEl>
                                      </p:cBhvr>
                                    </p:animEffect>
                                  </p:childTnLst>
                                </p:cTn>
                              </p:par>
                              <p:par>
                                <p:cTn id="8" presetID="2" presetClass="entr" presetSubtype="4"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1250" fill="hold"/>
                                        <p:tgtEl>
                                          <p:spTgt spid="18"/>
                                        </p:tgtEl>
                                        <p:attrNameLst>
                                          <p:attrName>ppt_x</p:attrName>
                                        </p:attrNameLst>
                                      </p:cBhvr>
                                      <p:tavLst>
                                        <p:tav tm="0">
                                          <p:val>
                                            <p:strVal val="#ppt_x"/>
                                          </p:val>
                                        </p:tav>
                                        <p:tav tm="100000">
                                          <p:val>
                                            <p:strVal val="#ppt_x"/>
                                          </p:val>
                                        </p:tav>
                                      </p:tavLst>
                                    </p:anim>
                                    <p:anim calcmode="lin" valueType="num">
                                      <p:cBhvr additive="base">
                                        <p:cTn id="11" dur="1250" fill="hold"/>
                                        <p:tgtEl>
                                          <p:spTgt spid="18"/>
                                        </p:tgtEl>
                                        <p:attrNameLst>
                                          <p:attrName>ppt_y</p:attrName>
                                        </p:attrNameLst>
                                      </p:cBhvr>
                                      <p:tavLst>
                                        <p:tav tm="0">
                                          <p:val>
                                            <p:strVal val="1+#ppt_h/2"/>
                                          </p:val>
                                        </p:tav>
                                        <p:tav tm="100000">
                                          <p:val>
                                            <p:strVal val="#ppt_y"/>
                                          </p:val>
                                        </p:tav>
                                      </p:tavLst>
                                    </p:anim>
                                  </p:childTnLst>
                                </p:cTn>
                              </p:par>
                            </p:childTnLst>
                          </p:cTn>
                        </p:par>
                        <p:par>
                          <p:cTn id="12" fill="hold">
                            <p:stCondLst>
                              <p:cond delay="2000"/>
                            </p:stCondLst>
                            <p:childTnLst>
                              <p:par>
                                <p:cTn id="13" presetID="2" presetClass="entr" presetSubtype="4"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250" fill="hold"/>
                                        <p:tgtEl>
                                          <p:spTgt spid="19"/>
                                        </p:tgtEl>
                                        <p:attrNameLst>
                                          <p:attrName>ppt_x</p:attrName>
                                        </p:attrNameLst>
                                      </p:cBhvr>
                                      <p:tavLst>
                                        <p:tav tm="0">
                                          <p:val>
                                            <p:strVal val="#ppt_x"/>
                                          </p:val>
                                        </p:tav>
                                        <p:tav tm="100000">
                                          <p:val>
                                            <p:strVal val="#ppt_x"/>
                                          </p:val>
                                        </p:tav>
                                      </p:tavLst>
                                    </p:anim>
                                    <p:anim calcmode="lin" valueType="num">
                                      <p:cBhvr additive="base">
                                        <p:cTn id="16" dur="1250" fill="hold"/>
                                        <p:tgtEl>
                                          <p:spTgt spid="19"/>
                                        </p:tgtEl>
                                        <p:attrNameLst>
                                          <p:attrName>ppt_y</p:attrName>
                                        </p:attrNameLst>
                                      </p:cBhvr>
                                      <p:tavLst>
                                        <p:tav tm="0">
                                          <p:val>
                                            <p:strVal val="1+#ppt_h/2"/>
                                          </p:val>
                                        </p:tav>
                                        <p:tav tm="100000">
                                          <p:val>
                                            <p:strVal val="#ppt_y"/>
                                          </p:val>
                                        </p:tav>
                                      </p:tavLst>
                                    </p:anim>
                                  </p:childTnLst>
                                </p:cTn>
                              </p:par>
                            </p:childTnLst>
                          </p:cTn>
                        </p:par>
                        <p:par>
                          <p:cTn id="17" fill="hold">
                            <p:stCondLst>
                              <p:cond delay="3250"/>
                            </p:stCondLst>
                            <p:childTnLst>
                              <p:par>
                                <p:cTn id="18" presetID="2" presetClass="entr" presetSubtype="4"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1250" fill="hold"/>
                                        <p:tgtEl>
                                          <p:spTgt spid="20"/>
                                        </p:tgtEl>
                                        <p:attrNameLst>
                                          <p:attrName>ppt_x</p:attrName>
                                        </p:attrNameLst>
                                      </p:cBhvr>
                                      <p:tavLst>
                                        <p:tav tm="0">
                                          <p:val>
                                            <p:strVal val="#ppt_x"/>
                                          </p:val>
                                        </p:tav>
                                        <p:tav tm="100000">
                                          <p:val>
                                            <p:strVal val="#ppt_x"/>
                                          </p:val>
                                        </p:tav>
                                      </p:tavLst>
                                    </p:anim>
                                    <p:anim calcmode="lin" valueType="num">
                                      <p:cBhvr additive="base">
                                        <p:cTn id="21" dur="1250" fill="hold"/>
                                        <p:tgtEl>
                                          <p:spTgt spid="20"/>
                                        </p:tgtEl>
                                        <p:attrNameLst>
                                          <p:attrName>ppt_y</p:attrName>
                                        </p:attrNameLst>
                                      </p:cBhvr>
                                      <p:tavLst>
                                        <p:tav tm="0">
                                          <p:val>
                                            <p:strVal val="1+#ppt_h/2"/>
                                          </p:val>
                                        </p:tav>
                                        <p:tav tm="100000">
                                          <p:val>
                                            <p:strVal val="#ppt_y"/>
                                          </p:val>
                                        </p:tav>
                                      </p:tavLst>
                                    </p:anim>
                                  </p:childTnLst>
                                </p:cTn>
                              </p:par>
                            </p:childTnLst>
                          </p:cTn>
                        </p:par>
                        <p:par>
                          <p:cTn id="22" fill="hold">
                            <p:stCondLst>
                              <p:cond delay="4500"/>
                            </p:stCondLst>
                            <p:childTnLst>
                              <p:par>
                                <p:cTn id="23" presetID="2" presetClass="entr" presetSubtype="4"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1250" fill="hold"/>
                                        <p:tgtEl>
                                          <p:spTgt spid="21"/>
                                        </p:tgtEl>
                                        <p:attrNameLst>
                                          <p:attrName>ppt_x</p:attrName>
                                        </p:attrNameLst>
                                      </p:cBhvr>
                                      <p:tavLst>
                                        <p:tav tm="0">
                                          <p:val>
                                            <p:strVal val="#ppt_x"/>
                                          </p:val>
                                        </p:tav>
                                        <p:tav tm="100000">
                                          <p:val>
                                            <p:strVal val="#ppt_x"/>
                                          </p:val>
                                        </p:tav>
                                      </p:tavLst>
                                    </p:anim>
                                    <p:anim calcmode="lin" valueType="num">
                                      <p:cBhvr additive="base">
                                        <p:cTn id="26" dur="125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0B0E1A"/>
        </a:solidFill>
        <a:effectLst/>
      </p:bgPr>
    </p:bg>
    <p:spTree>
      <p:nvGrpSpPr>
        <p:cNvPr id="1" name=""/>
        <p:cNvGrpSpPr/>
        <p:nvPr/>
      </p:nvGrpSpPr>
      <p:grpSpPr>
        <a:xfrm>
          <a:off x="0" y="0"/>
          <a:ext cx="0" cy="0"/>
          <a:chOff x="0" y="0"/>
          <a:chExt cx="0" cy="0"/>
        </a:xfrm>
      </p:grpSpPr>
      <p:sp>
        <p:nvSpPr>
          <p:cNvPr id="2" name="GRAD::emeraldCyan::blob::1f"/>
          <p:cNvSpPr/>
          <p:nvPr/>
        </p:nvSpPr>
        <p:spPr>
          <a:xfrm>
            <a:off x="-992978" y="-783772"/>
            <a:ext cx="6159338" cy="6020671"/>
          </a:xfrm>
          <a:prstGeom prst="ellipse">
            <a:avLst/>
          </a:prstGeom>
          <a:gradFill rotWithShape="1">
            <a:gsLst>
              <a:gs pos="0">
                <a:srgbClr val="10B981">
                  <a:alpha val="50000"/>
                </a:srgbClr>
              </a:gs>
              <a:gs pos="55000">
                <a:srgbClr val="22D3EE">
                  <a:alpha val="22000"/>
                </a:srgbClr>
              </a:gs>
              <a:gs pos="100000">
                <a:srgbClr val="22D3EE">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74920" y="457200"/>
            <a:ext cx="3657600" cy="1143000"/>
          </a:xfrm>
          <a:prstGeom prst="rect">
            <a:avLst/>
          </a:prstGeom>
          <a:noFill/>
          <a:ln/>
        </p:spPr>
        <p:txBody>
          <a:bodyPr wrap="square" lIns="0" tIns="0" rIns="0" bIns="0" rtlCol="0" anchor="ctr"/>
          <a:lstStyle/>
          <a:p>
            <a:pPr marL="0" indent="0" algn="l">
              <a:buNone/>
            </a:pPr>
            <a:r>
              <a:rPr lang="en-US" sz="2100" b="1">
                <a:solidFill>
                  <a:srgbClr val="FFFFFF"/>
                </a:solidFill>
                <a:latin typeface="Sora" pitchFamily="34" charset="0"/>
                <a:ea typeface="Sora" pitchFamily="34" charset="-122"/>
                <a:cs typeface="Sora" pitchFamily="34" charset="-120"/>
              </a:rPr>
              <a:t>Attendance that</a:t>
            </a:r>
            <a:r>
              <a:rPr lang="en-US" sz="2100"/>
              <a:t> </a:t>
            </a:r>
            <a:r>
              <a:rPr lang="en-US" sz="2100" b="1">
                <a:solidFill>
                  <a:srgbClr val="FFFFFF"/>
                </a:solidFill>
                <a:latin typeface="Sora" pitchFamily="34" charset="0"/>
                <a:ea typeface="Sora" pitchFamily="34" charset="-122"/>
                <a:cs typeface="Sora" pitchFamily="34" charset="-120"/>
              </a:rPr>
              <a:t>works offline</a:t>
            </a:r>
            <a:endParaRPr lang="en-US" sz="2100"/>
          </a:p>
        </p:txBody>
      </p:sp>
      <p:sp>
        <p:nvSpPr>
          <p:cNvPr id="4" name="Shape 2"/>
          <p:cNvSpPr/>
          <p:nvPr/>
        </p:nvSpPr>
        <p:spPr>
          <a:xfrm rot="-120000">
            <a:off x="393192" y="530352"/>
            <a:ext cx="1545336" cy="3277616"/>
          </a:xfrm>
          <a:prstGeom prst="roundRect">
            <a:avLst>
              <a:gd name="adj" fmla="val 13018"/>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5" name="Image 0" descr="preencoded.png"/>
          <p:cNvPicPr>
            <a:picLocks noChangeAspect="1"/>
          </p:cNvPicPr>
          <p:nvPr/>
        </p:nvPicPr>
        <p:blipFill>
          <a:blip r:embed="rId3"/>
          <a:stretch>
            <a:fillRect/>
          </a:stretch>
        </p:blipFill>
        <p:spPr>
          <a:xfrm rot="-120000">
            <a:off x="457200" y="594360"/>
            <a:ext cx="1417320" cy="3149600"/>
          </a:xfrm>
          <a:prstGeom prst="rect">
            <a:avLst/>
          </a:prstGeom>
        </p:spPr>
      </p:pic>
      <p:sp>
        <p:nvSpPr>
          <p:cNvPr id="6" name="Shape 3"/>
          <p:cNvSpPr/>
          <p:nvPr/>
        </p:nvSpPr>
        <p:spPr>
          <a:xfrm rot="120000">
            <a:off x="1947672" y="804672"/>
            <a:ext cx="1545336" cy="3277616"/>
          </a:xfrm>
          <a:prstGeom prst="roundRect">
            <a:avLst>
              <a:gd name="adj" fmla="val 13018"/>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7" name="Image 1" descr="preencoded.png"/>
          <p:cNvPicPr>
            <a:picLocks noChangeAspect="1"/>
          </p:cNvPicPr>
          <p:nvPr/>
        </p:nvPicPr>
        <p:blipFill>
          <a:blip r:embed="rId4"/>
          <a:stretch>
            <a:fillRect/>
          </a:stretch>
        </p:blipFill>
        <p:spPr>
          <a:xfrm rot="120000">
            <a:off x="2011680" y="868680"/>
            <a:ext cx="1417320" cy="3149600"/>
          </a:xfrm>
          <a:prstGeom prst="rect">
            <a:avLst/>
          </a:prstGeom>
        </p:spPr>
      </p:pic>
      <p:graphicFrame>
        <p:nvGraphicFramePr>
          <p:cNvPr id="8" name="Chart 0"/>
          <p:cNvGraphicFramePr/>
          <p:nvPr>
            <p:extLst>
              <p:ext uri="{D42A27DB-BD31-4B8C-83A1-F6EECF244321}">
                <p14:modId xmlns:p14="http://schemas.microsoft.com/office/powerpoint/2010/main" val="3038513541"/>
              </p:ext>
            </p:extLst>
          </p:nvPr>
        </p:nvGraphicFramePr>
        <p:xfrm>
          <a:off x="4940138" y="1501140"/>
          <a:ext cx="1620682" cy="156972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4"/>
          <p:cNvSpPr/>
          <p:nvPr/>
        </p:nvSpPr>
        <p:spPr>
          <a:xfrm>
            <a:off x="5166360" y="2048256"/>
            <a:ext cx="1188720" cy="356616"/>
          </a:xfrm>
          <a:prstGeom prst="rect">
            <a:avLst/>
          </a:prstGeom>
          <a:noFill/>
          <a:ln/>
        </p:spPr>
        <p:txBody>
          <a:bodyPr wrap="square" lIns="0" tIns="0" rIns="0" bIns="0" rtlCol="0" anchor="ctr"/>
          <a:lstStyle/>
          <a:p>
            <a:pPr marL="0" indent="0" algn="ctr">
              <a:buNone/>
            </a:pPr>
            <a:r>
              <a:rPr lang="en-US" sz="1755" b="1">
                <a:solidFill>
                  <a:srgbClr val="FFFFFF"/>
                </a:solidFill>
                <a:latin typeface="Sora" pitchFamily="34" charset="0"/>
                <a:ea typeface="Sora" pitchFamily="34" charset="-122"/>
                <a:cs typeface="Sora" pitchFamily="34" charset="-120"/>
              </a:rPr>
              <a:t>100%</a:t>
            </a:r>
            <a:endParaRPr lang="en-US" sz="1755"/>
          </a:p>
        </p:txBody>
      </p:sp>
      <p:sp>
        <p:nvSpPr>
          <p:cNvPr id="10" name="Text 5"/>
          <p:cNvSpPr/>
          <p:nvPr/>
        </p:nvSpPr>
        <p:spPr>
          <a:xfrm>
            <a:off x="5166360" y="2357323"/>
            <a:ext cx="1188720" cy="190195"/>
          </a:xfrm>
          <a:prstGeom prst="rect">
            <a:avLst/>
          </a:prstGeom>
          <a:noFill/>
          <a:ln/>
        </p:spPr>
        <p:txBody>
          <a:bodyPr wrap="square" lIns="0" tIns="0" rIns="0" bIns="0" rtlCol="0" anchor="t"/>
          <a:lstStyle/>
          <a:p>
            <a:pPr marL="0" indent="0" algn="ctr">
              <a:buNone/>
            </a:pPr>
            <a:r>
              <a:rPr lang="en-US" sz="900" b="1">
                <a:solidFill>
                  <a:srgbClr val="C7CCDA"/>
                </a:solidFill>
                <a:latin typeface="Inter" pitchFamily="34" charset="0"/>
                <a:ea typeface="Inter" pitchFamily="34" charset="-122"/>
                <a:cs typeface="Inter" pitchFamily="34" charset="-120"/>
              </a:rPr>
              <a:t>Offline-cached</a:t>
            </a:r>
            <a:endParaRPr lang="en-US" sz="900"/>
          </a:p>
        </p:txBody>
      </p:sp>
      <p:grpSp>
        <p:nvGrpSpPr>
          <p:cNvPr id="20" name="Group 19">
            <a:extLst>
              <a:ext uri="{FF2B5EF4-FFF2-40B4-BE49-F238E27FC236}">
                <a16:creationId xmlns:a16="http://schemas.microsoft.com/office/drawing/2014/main" id="{EEB7CB31-C9FF-2473-CB6A-0992B1BBA7DE}"/>
              </a:ext>
            </a:extLst>
          </p:cNvPr>
          <p:cNvGrpSpPr/>
          <p:nvPr/>
        </p:nvGrpSpPr>
        <p:grpSpPr>
          <a:xfrm>
            <a:off x="6537960" y="1691640"/>
            <a:ext cx="2194560" cy="914400"/>
            <a:chOff x="6537960" y="1691640"/>
            <a:chExt cx="2194560" cy="914400"/>
          </a:xfrm>
        </p:grpSpPr>
        <p:sp>
          <p:nvSpPr>
            <p:cNvPr id="11" name="ANIM::0::card1g"/>
            <p:cNvSpPr/>
            <p:nvPr/>
          </p:nvSpPr>
          <p:spPr>
            <a:xfrm>
              <a:off x="6537960" y="1691640"/>
              <a:ext cx="2194560" cy="914400"/>
            </a:xfrm>
            <a:prstGeom prst="roundRect">
              <a:avLst>
                <a:gd name="adj" fmla="val 16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2" name="Text 7"/>
            <p:cNvSpPr/>
            <p:nvPr/>
          </p:nvSpPr>
          <p:spPr>
            <a:xfrm>
              <a:off x="6720840" y="1801368"/>
              <a:ext cx="1828800" cy="274320"/>
            </a:xfrm>
            <a:prstGeom prst="rect">
              <a:avLst/>
            </a:prstGeom>
            <a:noFill/>
            <a:ln/>
          </p:spPr>
          <p:txBody>
            <a:bodyPr wrap="square" lIns="0" tIns="0" rIns="0" bIns="0" rtlCol="0" anchor="ctr"/>
            <a:lstStyle/>
            <a:p>
              <a:pPr marL="0" indent="0" algn="l">
                <a:buNone/>
              </a:pPr>
              <a:r>
                <a:rPr lang="en-US" sz="1100" b="1">
                  <a:solidFill>
                    <a:srgbClr val="FFFFFF"/>
                  </a:solidFill>
                  <a:latin typeface="Sora" pitchFamily="34" charset="0"/>
                  <a:ea typeface="Sora" pitchFamily="34" charset="-122"/>
                  <a:cs typeface="Sora" pitchFamily="34" charset="-120"/>
                </a:rPr>
                <a:t>Interactive calendar</a:t>
              </a:r>
              <a:endParaRPr lang="en-US" sz="1100"/>
            </a:p>
          </p:txBody>
        </p:sp>
        <p:sp>
          <p:nvSpPr>
            <p:cNvPr id="13" name="Text 8"/>
            <p:cNvSpPr/>
            <p:nvPr/>
          </p:nvSpPr>
          <p:spPr>
            <a:xfrm>
              <a:off x="6720840" y="2075688"/>
              <a:ext cx="1828800" cy="457200"/>
            </a:xfrm>
            <a:prstGeom prst="rect">
              <a:avLst/>
            </a:prstGeom>
            <a:noFill/>
            <a:ln/>
          </p:spPr>
          <p:txBody>
            <a:bodyPr wrap="square" lIns="0" tIns="0" rIns="0" bIns="0" rtlCol="0" anchor="ctr"/>
            <a:lstStyle/>
            <a:p>
              <a:pPr marL="0" indent="0" algn="l">
                <a:buNone/>
              </a:pPr>
              <a:r>
                <a:rPr lang="en-US" sz="850">
                  <a:solidFill>
                    <a:srgbClr val="8890A6"/>
                  </a:solidFill>
                  <a:latin typeface="Inter" pitchFamily="34" charset="0"/>
                  <a:ea typeface="Inter" pitchFamily="34" charset="-122"/>
                  <a:cs typeface="Inter" pitchFamily="34" charset="-120"/>
                </a:rPr>
                <a:t>Color-coded daily status</a:t>
              </a:r>
              <a:endParaRPr lang="en-US" sz="850"/>
            </a:p>
          </p:txBody>
        </p:sp>
      </p:grpSp>
      <p:grpSp>
        <p:nvGrpSpPr>
          <p:cNvPr id="21" name="Group 20">
            <a:extLst>
              <a:ext uri="{FF2B5EF4-FFF2-40B4-BE49-F238E27FC236}">
                <a16:creationId xmlns:a16="http://schemas.microsoft.com/office/drawing/2014/main" id="{B7420174-E1FF-CC3C-A81F-F653AA51AB2F}"/>
              </a:ext>
            </a:extLst>
          </p:cNvPr>
          <p:cNvGrpSpPr/>
          <p:nvPr/>
        </p:nvGrpSpPr>
        <p:grpSpPr>
          <a:xfrm>
            <a:off x="6537960" y="2770632"/>
            <a:ext cx="2194560" cy="914400"/>
            <a:chOff x="6537960" y="2770632"/>
            <a:chExt cx="2194560" cy="914400"/>
          </a:xfrm>
        </p:grpSpPr>
        <p:sp>
          <p:nvSpPr>
            <p:cNvPr id="14" name="ANIM::150::card1h"/>
            <p:cNvSpPr/>
            <p:nvPr/>
          </p:nvSpPr>
          <p:spPr>
            <a:xfrm>
              <a:off x="6537960" y="2770632"/>
              <a:ext cx="2194560" cy="914400"/>
            </a:xfrm>
            <a:prstGeom prst="roundRect">
              <a:avLst>
                <a:gd name="adj" fmla="val 16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5" name="Text 10"/>
            <p:cNvSpPr/>
            <p:nvPr/>
          </p:nvSpPr>
          <p:spPr>
            <a:xfrm>
              <a:off x="6720840" y="2880360"/>
              <a:ext cx="1828800" cy="274320"/>
            </a:xfrm>
            <a:prstGeom prst="rect">
              <a:avLst/>
            </a:prstGeom>
            <a:noFill/>
            <a:ln/>
          </p:spPr>
          <p:txBody>
            <a:bodyPr wrap="square" lIns="0" tIns="0" rIns="0" bIns="0" rtlCol="0" anchor="ctr"/>
            <a:lstStyle/>
            <a:p>
              <a:pPr marL="0" indent="0" algn="l">
                <a:buNone/>
              </a:pPr>
              <a:r>
                <a:rPr lang="en-US" sz="1100" b="1">
                  <a:solidFill>
                    <a:srgbClr val="FFFFFF"/>
                  </a:solidFill>
                  <a:latin typeface="Sora" pitchFamily="34" charset="0"/>
                  <a:ea typeface="Sora" pitchFamily="34" charset="-122"/>
                  <a:cs typeface="Sora" pitchFamily="34" charset="-120"/>
                </a:rPr>
                <a:t>Grid or list view</a:t>
              </a:r>
              <a:endParaRPr lang="en-US" sz="1100"/>
            </a:p>
          </p:txBody>
        </p:sp>
        <p:sp>
          <p:nvSpPr>
            <p:cNvPr id="16" name="Text 11"/>
            <p:cNvSpPr/>
            <p:nvPr/>
          </p:nvSpPr>
          <p:spPr>
            <a:xfrm>
              <a:off x="6720840" y="3154680"/>
              <a:ext cx="1828800" cy="457200"/>
            </a:xfrm>
            <a:prstGeom prst="rect">
              <a:avLst/>
            </a:prstGeom>
            <a:noFill/>
            <a:ln/>
          </p:spPr>
          <p:txBody>
            <a:bodyPr wrap="square" lIns="0" tIns="0" rIns="0" bIns="0" rtlCol="0" anchor="ctr"/>
            <a:lstStyle/>
            <a:p>
              <a:pPr marL="0" indent="0" algn="l">
                <a:buNone/>
              </a:pPr>
              <a:r>
                <a:rPr lang="en-US" sz="850">
                  <a:solidFill>
                    <a:srgbClr val="8890A6"/>
                  </a:solidFill>
                  <a:latin typeface="Inter" pitchFamily="34" charset="0"/>
                  <a:ea typeface="Inter" pitchFamily="34" charset="-122"/>
                  <a:cs typeface="Inter" pitchFamily="34" charset="-120"/>
                </a:rPr>
                <a:t>Inline present/absent + notes</a:t>
              </a:r>
              <a:endParaRPr lang="en-US" sz="850"/>
            </a:p>
          </p:txBody>
        </p:sp>
      </p:grpSp>
      <p:grpSp>
        <p:nvGrpSpPr>
          <p:cNvPr id="22" name="Group 21">
            <a:extLst>
              <a:ext uri="{FF2B5EF4-FFF2-40B4-BE49-F238E27FC236}">
                <a16:creationId xmlns:a16="http://schemas.microsoft.com/office/drawing/2014/main" id="{1CCCDCB6-9847-7FCA-BF9C-FA467E329DB2}"/>
              </a:ext>
            </a:extLst>
          </p:cNvPr>
          <p:cNvGrpSpPr/>
          <p:nvPr/>
        </p:nvGrpSpPr>
        <p:grpSpPr>
          <a:xfrm>
            <a:off x="6537960" y="3849624"/>
            <a:ext cx="2194560" cy="914400"/>
            <a:chOff x="6537960" y="3849624"/>
            <a:chExt cx="2194560" cy="914400"/>
          </a:xfrm>
        </p:grpSpPr>
        <p:sp>
          <p:nvSpPr>
            <p:cNvPr id="17" name="ANIM::300::card1i"/>
            <p:cNvSpPr/>
            <p:nvPr/>
          </p:nvSpPr>
          <p:spPr>
            <a:xfrm>
              <a:off x="6537960" y="3849624"/>
              <a:ext cx="2194560" cy="914400"/>
            </a:xfrm>
            <a:prstGeom prst="roundRect">
              <a:avLst>
                <a:gd name="adj" fmla="val 16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8" name="Text 13"/>
            <p:cNvSpPr/>
            <p:nvPr/>
          </p:nvSpPr>
          <p:spPr>
            <a:xfrm>
              <a:off x="6720840" y="3959352"/>
              <a:ext cx="1828800" cy="274320"/>
            </a:xfrm>
            <a:prstGeom prst="rect">
              <a:avLst/>
            </a:prstGeom>
            <a:noFill/>
            <a:ln/>
          </p:spPr>
          <p:txBody>
            <a:bodyPr wrap="square" lIns="0" tIns="0" rIns="0" bIns="0" rtlCol="0" anchor="ctr"/>
            <a:lstStyle/>
            <a:p>
              <a:pPr marL="0" indent="0" algn="l">
                <a:buNone/>
              </a:pPr>
              <a:r>
                <a:rPr lang="en-US" sz="1100" b="1">
                  <a:solidFill>
                    <a:srgbClr val="FFFFFF"/>
                  </a:solidFill>
                  <a:latin typeface="Sora" pitchFamily="34" charset="0"/>
                  <a:ea typeface="Sora" pitchFamily="34" charset="-122"/>
                  <a:cs typeface="Sora" pitchFamily="34" charset="-120"/>
                </a:rPr>
                <a:t>SQLite offline cache</a:t>
              </a:r>
              <a:endParaRPr lang="en-US" sz="1100"/>
            </a:p>
          </p:txBody>
        </p:sp>
        <p:sp>
          <p:nvSpPr>
            <p:cNvPr id="19" name="Text 14"/>
            <p:cNvSpPr/>
            <p:nvPr/>
          </p:nvSpPr>
          <p:spPr>
            <a:xfrm>
              <a:off x="6720840" y="4233672"/>
              <a:ext cx="1828800" cy="457200"/>
            </a:xfrm>
            <a:prstGeom prst="rect">
              <a:avLst/>
            </a:prstGeom>
            <a:noFill/>
            <a:ln/>
          </p:spPr>
          <p:txBody>
            <a:bodyPr wrap="square" lIns="0" tIns="0" rIns="0" bIns="0" rtlCol="0" anchor="ctr"/>
            <a:lstStyle/>
            <a:p>
              <a:pPr marL="0" indent="0" algn="l">
                <a:buNone/>
              </a:pPr>
              <a:r>
                <a:rPr lang="en-US" sz="850">
                  <a:solidFill>
                    <a:srgbClr val="8890A6"/>
                  </a:solidFill>
                  <a:latin typeface="Inter" pitchFamily="34" charset="0"/>
                  <a:ea typeface="Inter" pitchFamily="34" charset="-122"/>
                  <a:cs typeface="Inter" pitchFamily="34" charset="-120"/>
                </a:rPr>
                <a:t>Auto-sync on reconnect</a:t>
              </a:r>
              <a:endParaRPr lang="en-US" sz="85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1500"/>
                                        <p:tgtEl>
                                          <p:spTgt spid="2"/>
                                        </p:tgtEl>
                                      </p:cBhvr>
                                    </p:animEffect>
                                  </p:childTnLst>
                                </p:cTn>
                              </p:par>
                              <p:par>
                                <p:cTn id="8" presetID="2" presetClass="entr" presetSubtype="2"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 calcmode="lin" valueType="num">
                                      <p:cBhvr additive="base">
                                        <p:cTn id="10" dur="1000" fill="hold"/>
                                        <p:tgtEl>
                                          <p:spTgt spid="20"/>
                                        </p:tgtEl>
                                        <p:attrNameLst>
                                          <p:attrName>ppt_x</p:attrName>
                                        </p:attrNameLst>
                                      </p:cBhvr>
                                      <p:tavLst>
                                        <p:tav tm="0">
                                          <p:val>
                                            <p:strVal val="1+#ppt_w/2"/>
                                          </p:val>
                                        </p:tav>
                                        <p:tav tm="100000">
                                          <p:val>
                                            <p:strVal val="#ppt_x"/>
                                          </p:val>
                                        </p:tav>
                                      </p:tavLst>
                                    </p:anim>
                                    <p:anim calcmode="lin" valueType="num">
                                      <p:cBhvr additive="base">
                                        <p:cTn id="11" dur="1000" fill="hold"/>
                                        <p:tgtEl>
                                          <p:spTgt spid="20"/>
                                        </p:tgtEl>
                                        <p:attrNameLst>
                                          <p:attrName>ppt_y</p:attrName>
                                        </p:attrNameLst>
                                      </p:cBhvr>
                                      <p:tavLst>
                                        <p:tav tm="0">
                                          <p:val>
                                            <p:strVal val="#ppt_y"/>
                                          </p:val>
                                        </p:tav>
                                        <p:tav tm="100000">
                                          <p:val>
                                            <p:strVal val="#ppt_y"/>
                                          </p:val>
                                        </p:tav>
                                      </p:tavLst>
                                    </p:anim>
                                  </p:childTnLst>
                                </p:cTn>
                              </p:par>
                            </p:childTnLst>
                          </p:cTn>
                        </p:par>
                        <p:par>
                          <p:cTn id="12" fill="hold">
                            <p:stCondLst>
                              <p:cond delay="1500"/>
                            </p:stCondLst>
                            <p:childTnLst>
                              <p:par>
                                <p:cTn id="13" presetID="2" presetClass="entr" presetSubtype="2"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1000" fill="hold"/>
                                        <p:tgtEl>
                                          <p:spTgt spid="21"/>
                                        </p:tgtEl>
                                        <p:attrNameLst>
                                          <p:attrName>ppt_x</p:attrName>
                                        </p:attrNameLst>
                                      </p:cBhvr>
                                      <p:tavLst>
                                        <p:tav tm="0">
                                          <p:val>
                                            <p:strVal val="1+#ppt_w/2"/>
                                          </p:val>
                                        </p:tav>
                                        <p:tav tm="100000">
                                          <p:val>
                                            <p:strVal val="#ppt_x"/>
                                          </p:val>
                                        </p:tav>
                                      </p:tavLst>
                                    </p:anim>
                                    <p:anim calcmode="lin" valueType="num">
                                      <p:cBhvr additive="base">
                                        <p:cTn id="16" dur="1000" fill="hold"/>
                                        <p:tgtEl>
                                          <p:spTgt spid="21"/>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2" presetClass="entr" presetSubtype="2"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1000" fill="hold"/>
                                        <p:tgtEl>
                                          <p:spTgt spid="22"/>
                                        </p:tgtEl>
                                        <p:attrNameLst>
                                          <p:attrName>ppt_x</p:attrName>
                                        </p:attrNameLst>
                                      </p:cBhvr>
                                      <p:tavLst>
                                        <p:tav tm="0">
                                          <p:val>
                                            <p:strVal val="1+#ppt_w/2"/>
                                          </p:val>
                                        </p:tav>
                                        <p:tav tm="100000">
                                          <p:val>
                                            <p:strVal val="#ppt_x"/>
                                          </p:val>
                                        </p:tav>
                                      </p:tavLst>
                                    </p:anim>
                                    <p:anim calcmode="lin" valueType="num">
                                      <p:cBhvr additive="base">
                                        <p:cTn id="21" dur="10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14"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0B0E1A"/>
        </a:solidFill>
        <a:effectLst/>
      </p:bgPr>
    </p:bg>
    <p:spTree>
      <p:nvGrpSpPr>
        <p:cNvPr id="1" name=""/>
        <p:cNvGrpSpPr/>
        <p:nvPr/>
      </p:nvGrpSpPr>
      <p:grpSpPr>
        <a:xfrm>
          <a:off x="0" y="0"/>
          <a:ext cx="0" cy="0"/>
          <a:chOff x="0" y="0"/>
          <a:chExt cx="0" cy="0"/>
        </a:xfrm>
      </p:grpSpPr>
      <p:sp>
        <p:nvSpPr>
          <p:cNvPr id="2" name="GRAD::pinkOrange::blob::1j"/>
          <p:cNvSpPr/>
          <p:nvPr/>
        </p:nvSpPr>
        <p:spPr>
          <a:xfrm>
            <a:off x="6564086" y="1103504"/>
            <a:ext cx="5486400" cy="5486400"/>
          </a:xfrm>
          <a:prstGeom prst="ellipse">
            <a:avLst/>
          </a:prstGeom>
          <a:gradFill rotWithShape="1">
            <a:gsLst>
              <a:gs pos="0">
                <a:srgbClr val="EC4899">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457200"/>
            <a:ext cx="5029200" cy="1188720"/>
          </a:xfrm>
          <a:prstGeom prst="rect">
            <a:avLst/>
          </a:prstGeom>
          <a:noFill/>
          <a:ln/>
        </p:spPr>
        <p:txBody>
          <a:bodyPr wrap="square" lIns="0" tIns="0" rIns="0" bIns="0" rtlCol="0" anchor="ctr"/>
          <a:lstStyle/>
          <a:p>
            <a:pPr marL="0" indent="0" algn="l">
              <a:buNone/>
            </a:pPr>
            <a:r>
              <a:rPr lang="en-US" sz="2400" b="1">
                <a:solidFill>
                  <a:srgbClr val="FFFFFF"/>
                </a:solidFill>
                <a:latin typeface="Sora" pitchFamily="34" charset="0"/>
                <a:ea typeface="Sora" pitchFamily="34" charset="-122"/>
                <a:cs typeface="Sora" pitchFamily="34" charset="-120"/>
              </a:rPr>
              <a:t>Talk, share, scan —</a:t>
            </a:r>
            <a:endParaRPr lang="en-US" sz="2400"/>
          </a:p>
          <a:p>
            <a:pPr marL="0" indent="0" algn="l">
              <a:buNone/>
            </a:pPr>
            <a:r>
              <a:rPr lang="en-US" sz="2400" b="1">
                <a:solidFill>
                  <a:srgbClr val="FFFFFF"/>
                </a:solidFill>
                <a:latin typeface="Sora" pitchFamily="34" charset="0"/>
                <a:ea typeface="Sora" pitchFamily="34" charset="-122"/>
                <a:cs typeface="Sora" pitchFamily="34" charset="-120"/>
              </a:rPr>
              <a:t>without leaving the app</a:t>
            </a:r>
            <a:endParaRPr lang="en-US" sz="2400"/>
          </a:p>
        </p:txBody>
      </p:sp>
      <p:grpSp>
        <p:nvGrpSpPr>
          <p:cNvPr id="23" name="Group 22">
            <a:extLst>
              <a:ext uri="{FF2B5EF4-FFF2-40B4-BE49-F238E27FC236}">
                <a16:creationId xmlns:a16="http://schemas.microsoft.com/office/drawing/2014/main" id="{93473014-580D-66C9-41DE-A07C00A6FD09}"/>
              </a:ext>
            </a:extLst>
          </p:cNvPr>
          <p:cNvGrpSpPr/>
          <p:nvPr/>
        </p:nvGrpSpPr>
        <p:grpSpPr>
          <a:xfrm>
            <a:off x="502920" y="1828800"/>
            <a:ext cx="4846320" cy="914400"/>
            <a:chOff x="502920" y="1828800"/>
            <a:chExt cx="4846320" cy="914400"/>
          </a:xfrm>
        </p:grpSpPr>
        <p:sp>
          <p:nvSpPr>
            <p:cNvPr id="4" name="ANIM::0::card1k"/>
            <p:cNvSpPr/>
            <p:nvPr/>
          </p:nvSpPr>
          <p:spPr>
            <a:xfrm>
              <a:off x="502920" y="1828800"/>
              <a:ext cx="4846320" cy="914400"/>
            </a:xfrm>
            <a:prstGeom prst="roundRect">
              <a:avLst>
                <a:gd name="adj" fmla="val 16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5" name="Shape 3"/>
            <p:cNvSpPr/>
            <p:nvPr/>
          </p:nvSpPr>
          <p:spPr>
            <a:xfrm>
              <a:off x="713232" y="2029968"/>
              <a:ext cx="512064" cy="512064"/>
            </a:xfrm>
            <a:prstGeom prst="ellipse">
              <a:avLst/>
            </a:prstGeom>
            <a:solidFill>
              <a:srgbClr val="EC4899">
                <a:alpha val="88000"/>
              </a:srgbClr>
            </a:solidFill>
            <a:ln/>
          </p:spPr>
          <p:txBody>
            <a:bodyPr/>
            <a:lstStyle/>
            <a:p>
              <a:endParaRPr lang="fr-FR"/>
            </a:p>
          </p:txBody>
        </p:sp>
        <p:sp>
          <p:nvSpPr>
            <p:cNvPr id="6" name="Text 4"/>
            <p:cNvSpPr/>
            <p:nvPr/>
          </p:nvSpPr>
          <p:spPr>
            <a:xfrm>
              <a:off x="713232" y="2029968"/>
              <a:ext cx="512064" cy="512064"/>
            </a:xfrm>
            <a:prstGeom prst="rect">
              <a:avLst/>
            </a:prstGeom>
            <a:noFill/>
            <a:ln/>
          </p:spPr>
          <p:txBody>
            <a:bodyPr wrap="square" lIns="0" tIns="0" rIns="0" bIns="0" rtlCol="0" anchor="ctr"/>
            <a:lstStyle/>
            <a:p>
              <a:pPr marL="0" indent="0" algn="ctr">
                <a:buNone/>
              </a:pPr>
              <a:r>
                <a:rPr lang="en-US" sz="2000" b="1">
                  <a:solidFill>
                    <a:srgbClr val="0B0E1A"/>
                  </a:solidFill>
                </a:rPr>
                <a:t>◔</a:t>
              </a:r>
              <a:endParaRPr lang="en-US" sz="2000"/>
            </a:p>
          </p:txBody>
        </p:sp>
        <p:sp>
          <p:nvSpPr>
            <p:cNvPr id="7" name="Text 5"/>
            <p:cNvSpPr/>
            <p:nvPr/>
          </p:nvSpPr>
          <p:spPr>
            <a:xfrm>
              <a:off x="1371600" y="1920240"/>
              <a:ext cx="3840480" cy="274320"/>
            </a:xfrm>
            <a:prstGeom prst="rect">
              <a:avLst/>
            </a:prstGeom>
            <a:noFill/>
            <a:ln/>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Real-Time Chat</a:t>
              </a:r>
              <a:endParaRPr lang="en-US" sz="1300"/>
            </a:p>
          </p:txBody>
        </p:sp>
        <p:sp>
          <p:nvSpPr>
            <p:cNvPr id="8" name="Text 6"/>
            <p:cNvSpPr/>
            <p:nvPr/>
          </p:nvSpPr>
          <p:spPr>
            <a:xfrm>
              <a:off x="1371600" y="2212848"/>
              <a:ext cx="3840480" cy="45720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WebSocket messaging, instant delivery on both sides</a:t>
              </a:r>
              <a:endParaRPr lang="en-US" sz="950"/>
            </a:p>
          </p:txBody>
        </p:sp>
      </p:grpSp>
      <p:grpSp>
        <p:nvGrpSpPr>
          <p:cNvPr id="24" name="Group 23">
            <a:extLst>
              <a:ext uri="{FF2B5EF4-FFF2-40B4-BE49-F238E27FC236}">
                <a16:creationId xmlns:a16="http://schemas.microsoft.com/office/drawing/2014/main" id="{D5E0FF43-82CF-57CF-2942-3D3BDF853CB2}"/>
              </a:ext>
            </a:extLst>
          </p:cNvPr>
          <p:cNvGrpSpPr/>
          <p:nvPr/>
        </p:nvGrpSpPr>
        <p:grpSpPr>
          <a:xfrm>
            <a:off x="502920" y="2880360"/>
            <a:ext cx="4846320" cy="914400"/>
            <a:chOff x="502920" y="2880360"/>
            <a:chExt cx="4846320" cy="914400"/>
          </a:xfrm>
        </p:grpSpPr>
        <p:sp>
          <p:nvSpPr>
            <p:cNvPr id="9" name="ANIM::160::card1l"/>
            <p:cNvSpPr/>
            <p:nvPr/>
          </p:nvSpPr>
          <p:spPr>
            <a:xfrm>
              <a:off x="502920" y="2880360"/>
              <a:ext cx="4846320" cy="914400"/>
            </a:xfrm>
            <a:prstGeom prst="roundRect">
              <a:avLst>
                <a:gd name="adj" fmla="val 16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0" name="Shape 8"/>
            <p:cNvSpPr/>
            <p:nvPr/>
          </p:nvSpPr>
          <p:spPr>
            <a:xfrm>
              <a:off x="713232" y="3081528"/>
              <a:ext cx="512064" cy="512064"/>
            </a:xfrm>
            <a:prstGeom prst="ellipse">
              <a:avLst/>
            </a:prstGeom>
            <a:solidFill>
              <a:srgbClr val="F59E0B">
                <a:alpha val="88000"/>
              </a:srgbClr>
            </a:solidFill>
            <a:ln/>
          </p:spPr>
          <p:txBody>
            <a:bodyPr/>
            <a:lstStyle/>
            <a:p>
              <a:endParaRPr lang="fr-FR"/>
            </a:p>
          </p:txBody>
        </p:sp>
        <p:sp>
          <p:nvSpPr>
            <p:cNvPr id="11" name="Text 9"/>
            <p:cNvSpPr/>
            <p:nvPr/>
          </p:nvSpPr>
          <p:spPr>
            <a:xfrm>
              <a:off x="713232" y="3081528"/>
              <a:ext cx="512064" cy="512064"/>
            </a:xfrm>
            <a:prstGeom prst="rect">
              <a:avLst/>
            </a:prstGeom>
            <a:noFill/>
            <a:ln/>
          </p:spPr>
          <p:txBody>
            <a:bodyPr wrap="square" lIns="0" tIns="0" rIns="0" bIns="0" rtlCol="0" anchor="ctr"/>
            <a:lstStyle/>
            <a:p>
              <a:pPr marL="0" indent="0" algn="ctr">
                <a:buNone/>
              </a:pPr>
              <a:r>
                <a:rPr lang="en-US" sz="2000" b="1">
                  <a:solidFill>
                    <a:srgbClr val="0B0E1A"/>
                  </a:solidFill>
                </a:rPr>
                <a:t>▥</a:t>
              </a:r>
              <a:endParaRPr lang="en-US" sz="2000"/>
            </a:p>
          </p:txBody>
        </p:sp>
        <p:sp>
          <p:nvSpPr>
            <p:cNvPr id="12" name="Text 10"/>
            <p:cNvSpPr/>
            <p:nvPr/>
          </p:nvSpPr>
          <p:spPr>
            <a:xfrm>
              <a:off x="1371600" y="2971800"/>
              <a:ext cx="3840480" cy="274320"/>
            </a:xfrm>
            <a:prstGeom prst="rect">
              <a:avLst/>
            </a:prstGeom>
            <a:noFill/>
            <a:ln/>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Document Upload</a:t>
              </a:r>
              <a:endParaRPr lang="en-US" sz="1300"/>
            </a:p>
          </p:txBody>
        </p:sp>
        <p:sp>
          <p:nvSpPr>
            <p:cNvPr id="13" name="Text 11"/>
            <p:cNvSpPr/>
            <p:nvPr/>
          </p:nvSpPr>
          <p:spPr>
            <a:xfrm>
              <a:off x="1371600" y="3264408"/>
              <a:ext cx="3840480" cy="45720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KBIS, VAT, RIB — straight into Supabase Storage</a:t>
              </a:r>
              <a:endParaRPr lang="en-US" sz="950"/>
            </a:p>
          </p:txBody>
        </p:sp>
      </p:grpSp>
      <p:grpSp>
        <p:nvGrpSpPr>
          <p:cNvPr id="25" name="Group 24">
            <a:extLst>
              <a:ext uri="{FF2B5EF4-FFF2-40B4-BE49-F238E27FC236}">
                <a16:creationId xmlns:a16="http://schemas.microsoft.com/office/drawing/2014/main" id="{6B2A8F55-DAA9-9BEE-118D-7492D23CFCF6}"/>
              </a:ext>
            </a:extLst>
          </p:cNvPr>
          <p:cNvGrpSpPr/>
          <p:nvPr/>
        </p:nvGrpSpPr>
        <p:grpSpPr>
          <a:xfrm>
            <a:off x="502920" y="3931920"/>
            <a:ext cx="4846320" cy="914400"/>
            <a:chOff x="502920" y="3931920"/>
            <a:chExt cx="4846320" cy="914400"/>
          </a:xfrm>
        </p:grpSpPr>
        <p:sp>
          <p:nvSpPr>
            <p:cNvPr id="14" name="ANIM::320::card1m"/>
            <p:cNvSpPr/>
            <p:nvPr/>
          </p:nvSpPr>
          <p:spPr>
            <a:xfrm>
              <a:off x="502920" y="3931920"/>
              <a:ext cx="4846320" cy="914400"/>
            </a:xfrm>
            <a:prstGeom prst="roundRect">
              <a:avLst>
                <a:gd name="adj" fmla="val 16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5" name="Shape 13"/>
            <p:cNvSpPr/>
            <p:nvPr/>
          </p:nvSpPr>
          <p:spPr>
            <a:xfrm>
              <a:off x="713232" y="4133088"/>
              <a:ext cx="512064" cy="512064"/>
            </a:xfrm>
            <a:prstGeom prst="ellipse">
              <a:avLst/>
            </a:prstGeom>
            <a:solidFill>
              <a:srgbClr val="22D3EE">
                <a:alpha val="88000"/>
              </a:srgbClr>
            </a:solidFill>
            <a:ln/>
          </p:spPr>
          <p:txBody>
            <a:bodyPr/>
            <a:lstStyle/>
            <a:p>
              <a:endParaRPr lang="fr-FR"/>
            </a:p>
          </p:txBody>
        </p:sp>
        <p:sp>
          <p:nvSpPr>
            <p:cNvPr id="16" name="Text 14"/>
            <p:cNvSpPr/>
            <p:nvPr/>
          </p:nvSpPr>
          <p:spPr>
            <a:xfrm>
              <a:off x="713232" y="4133088"/>
              <a:ext cx="512064" cy="512064"/>
            </a:xfrm>
            <a:prstGeom prst="rect">
              <a:avLst/>
            </a:prstGeom>
            <a:noFill/>
            <a:ln/>
          </p:spPr>
          <p:txBody>
            <a:bodyPr wrap="square" lIns="0" tIns="0" rIns="0" bIns="0" rtlCol="0" anchor="ctr"/>
            <a:lstStyle/>
            <a:p>
              <a:pPr marL="0" indent="0" algn="ctr">
                <a:buNone/>
              </a:pPr>
              <a:r>
                <a:rPr lang="en-US" sz="2000" b="1">
                  <a:solidFill>
                    <a:srgbClr val="0B0E1A"/>
                  </a:solidFill>
                </a:rPr>
                <a:t>▧</a:t>
              </a:r>
              <a:endParaRPr lang="en-US" sz="2000"/>
            </a:p>
          </p:txBody>
        </p:sp>
        <p:sp>
          <p:nvSpPr>
            <p:cNvPr id="17" name="Text 15"/>
            <p:cNvSpPr/>
            <p:nvPr/>
          </p:nvSpPr>
          <p:spPr>
            <a:xfrm>
              <a:off x="1371600" y="4023360"/>
              <a:ext cx="3840480" cy="274320"/>
            </a:xfrm>
            <a:prstGeom prst="rect">
              <a:avLst/>
            </a:prstGeom>
            <a:noFill/>
            <a:ln/>
          </p:spPr>
          <p:txBody>
            <a:bodyPr wrap="square" lIns="0" tIns="0" rIns="0" bIns="0" rtlCol="0" anchor="ctr"/>
            <a:lstStyle/>
            <a:p>
              <a:pPr marL="0" indent="0" algn="l">
                <a:buNone/>
              </a:pPr>
              <a:r>
                <a:rPr lang="en-US" sz="1300" b="1">
                  <a:solidFill>
                    <a:srgbClr val="FFFFFF"/>
                  </a:solidFill>
                  <a:latin typeface="Sora" pitchFamily="34" charset="0"/>
                  <a:ea typeface="Sora" pitchFamily="34" charset="-122"/>
                  <a:cs typeface="Sora" pitchFamily="34" charset="-120"/>
                </a:rPr>
                <a:t>Document Scanner</a:t>
              </a:r>
              <a:endParaRPr lang="en-US" sz="1300"/>
            </a:p>
          </p:txBody>
        </p:sp>
        <p:sp>
          <p:nvSpPr>
            <p:cNvPr id="18" name="Text 16"/>
            <p:cNvSpPr/>
            <p:nvPr/>
          </p:nvSpPr>
          <p:spPr>
            <a:xfrm>
              <a:off x="1371600" y="4315968"/>
              <a:ext cx="3840480" cy="45720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Camera → crop → filter → PDF, sent as attachment</a:t>
              </a:r>
              <a:endParaRPr lang="en-US" sz="950"/>
            </a:p>
          </p:txBody>
        </p:sp>
      </p:grpSp>
      <p:sp>
        <p:nvSpPr>
          <p:cNvPr id="19" name="Shape 17"/>
          <p:cNvSpPr/>
          <p:nvPr/>
        </p:nvSpPr>
        <p:spPr>
          <a:xfrm rot="-420000">
            <a:off x="5650992" y="1444752"/>
            <a:ext cx="1499616" cy="3176016"/>
          </a:xfrm>
          <a:prstGeom prst="roundRect">
            <a:avLst>
              <a:gd name="adj" fmla="val 13415"/>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20" name="Image 0" descr="preencoded.png"/>
          <p:cNvPicPr>
            <a:picLocks noChangeAspect="1"/>
          </p:cNvPicPr>
          <p:nvPr/>
        </p:nvPicPr>
        <p:blipFill>
          <a:blip r:embed="rId3"/>
          <a:stretch>
            <a:fillRect/>
          </a:stretch>
        </p:blipFill>
        <p:spPr>
          <a:xfrm rot="-420000">
            <a:off x="5715000" y="1508760"/>
            <a:ext cx="1371600" cy="3048000"/>
          </a:xfrm>
          <a:prstGeom prst="rect">
            <a:avLst/>
          </a:prstGeom>
        </p:spPr>
      </p:pic>
      <p:sp>
        <p:nvSpPr>
          <p:cNvPr id="21" name="Shape 18"/>
          <p:cNvSpPr/>
          <p:nvPr/>
        </p:nvSpPr>
        <p:spPr>
          <a:xfrm rot="300000">
            <a:off x="7205472" y="804672"/>
            <a:ext cx="1499616" cy="3176016"/>
          </a:xfrm>
          <a:prstGeom prst="roundRect">
            <a:avLst>
              <a:gd name="adj" fmla="val 13415"/>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22" name="Image 1" descr="preencoded.png"/>
          <p:cNvPicPr>
            <a:picLocks noChangeAspect="1"/>
          </p:cNvPicPr>
          <p:nvPr/>
        </p:nvPicPr>
        <p:blipFill>
          <a:blip r:embed="rId4"/>
          <a:stretch>
            <a:fillRect/>
          </a:stretch>
        </p:blipFill>
        <p:spPr>
          <a:xfrm rot="300000">
            <a:off x="7269480" y="868680"/>
            <a:ext cx="1371600" cy="304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2000"/>
                                        <p:tgtEl>
                                          <p:spTgt spid="2"/>
                                        </p:tgtEl>
                                      </p:cBhvr>
                                    </p:animEffect>
                                  </p:childTnLst>
                                </p:cTn>
                              </p:par>
                              <p:par>
                                <p:cTn id="8" presetID="2" presetClass="entr" presetSubtype="4"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 calcmode="lin" valueType="num">
                                      <p:cBhvr additive="base">
                                        <p:cTn id="10" dur="1000" fill="hold"/>
                                        <p:tgtEl>
                                          <p:spTgt spid="23"/>
                                        </p:tgtEl>
                                        <p:attrNameLst>
                                          <p:attrName>ppt_x</p:attrName>
                                        </p:attrNameLst>
                                      </p:cBhvr>
                                      <p:tavLst>
                                        <p:tav tm="0">
                                          <p:val>
                                            <p:strVal val="#ppt_x"/>
                                          </p:val>
                                        </p:tav>
                                        <p:tav tm="100000">
                                          <p:val>
                                            <p:strVal val="#ppt_x"/>
                                          </p:val>
                                        </p:tav>
                                      </p:tavLst>
                                    </p:anim>
                                    <p:anim calcmode="lin" valueType="num">
                                      <p:cBhvr additive="base">
                                        <p:cTn id="11" dur="1000" fill="hold"/>
                                        <p:tgtEl>
                                          <p:spTgt spid="23"/>
                                        </p:tgtEl>
                                        <p:attrNameLst>
                                          <p:attrName>ppt_y</p:attrName>
                                        </p:attrNameLst>
                                      </p:cBhvr>
                                      <p:tavLst>
                                        <p:tav tm="0">
                                          <p:val>
                                            <p:strVal val="1+#ppt_h/2"/>
                                          </p:val>
                                        </p:tav>
                                        <p:tav tm="100000">
                                          <p:val>
                                            <p:strVal val="#ppt_y"/>
                                          </p:val>
                                        </p:tav>
                                      </p:tavLst>
                                    </p:anim>
                                  </p:childTnLst>
                                </p:cTn>
                              </p:par>
                            </p:childTnLst>
                          </p:cTn>
                        </p:par>
                        <p:par>
                          <p:cTn id="12" fill="hold">
                            <p:stCondLst>
                              <p:cond delay="20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1000" fill="hold"/>
                                        <p:tgtEl>
                                          <p:spTgt spid="24"/>
                                        </p:tgtEl>
                                        <p:attrNameLst>
                                          <p:attrName>ppt_x</p:attrName>
                                        </p:attrNameLst>
                                      </p:cBhvr>
                                      <p:tavLst>
                                        <p:tav tm="0">
                                          <p:val>
                                            <p:strVal val="#ppt_x"/>
                                          </p:val>
                                        </p:tav>
                                        <p:tav tm="100000">
                                          <p:val>
                                            <p:strVal val="#ppt_x"/>
                                          </p:val>
                                        </p:tav>
                                      </p:tavLst>
                                    </p:anim>
                                    <p:anim calcmode="lin" valueType="num">
                                      <p:cBhvr additive="base">
                                        <p:cTn id="16" dur="1000" fill="hold"/>
                                        <p:tgtEl>
                                          <p:spTgt spid="24"/>
                                        </p:tgtEl>
                                        <p:attrNameLst>
                                          <p:attrName>ppt_y</p:attrName>
                                        </p:attrNameLst>
                                      </p:cBhvr>
                                      <p:tavLst>
                                        <p:tav tm="0">
                                          <p:val>
                                            <p:strVal val="1+#ppt_h/2"/>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1000" fill="hold"/>
                                        <p:tgtEl>
                                          <p:spTgt spid="25"/>
                                        </p:tgtEl>
                                        <p:attrNameLst>
                                          <p:attrName>ppt_x</p:attrName>
                                        </p:attrNameLst>
                                      </p:cBhvr>
                                      <p:tavLst>
                                        <p:tav tm="0">
                                          <p:val>
                                            <p:strVal val="#ppt_x"/>
                                          </p:val>
                                        </p:tav>
                                        <p:tav tm="100000">
                                          <p:val>
                                            <p:strVal val="#ppt_x"/>
                                          </p:val>
                                        </p:tav>
                                      </p:tavLst>
                                    </p:anim>
                                    <p:anim calcmode="lin" valueType="num">
                                      <p:cBhvr additive="base">
                                        <p:cTn id="21" dur="10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9"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B0E1A"/>
        </a:solidFill>
        <a:effectLst/>
      </p:bgPr>
    </p:bg>
    <p:spTree>
      <p:nvGrpSpPr>
        <p:cNvPr id="1" name=""/>
        <p:cNvGrpSpPr/>
        <p:nvPr/>
      </p:nvGrpSpPr>
      <p:grpSpPr>
        <a:xfrm>
          <a:off x="0" y="0"/>
          <a:ext cx="0" cy="0"/>
          <a:chOff x="0" y="0"/>
          <a:chExt cx="0" cy="0"/>
        </a:xfrm>
      </p:grpSpPr>
      <p:sp>
        <p:nvSpPr>
          <p:cNvPr id="2" name="GRAD::violetCoral::blob::1n"/>
          <p:cNvSpPr/>
          <p:nvPr/>
        </p:nvSpPr>
        <p:spPr>
          <a:xfrm>
            <a:off x="-2011680" y="-1371600"/>
            <a:ext cx="5486400" cy="5486400"/>
          </a:xfrm>
          <a:prstGeom prst="ellipse">
            <a:avLst/>
          </a:prstGeom>
          <a:gradFill rotWithShape="1">
            <a:gsLst>
              <a:gs pos="0">
                <a:srgbClr val="8B5CF6">
                  <a:alpha val="50000"/>
                </a:srgbClr>
              </a:gs>
              <a:gs pos="55000">
                <a:srgbClr val="FF6B6B">
                  <a:alpha val="22000"/>
                </a:srgbClr>
              </a:gs>
              <a:gs pos="100000">
                <a:srgbClr val="FF6B6B">
                  <a:alpha val="0"/>
                </a:srgbClr>
              </a:gs>
            </a:gsLst>
            <a:path path="circle">
              <a:fillToRect l="50000" t="50000" r="50000" b="50000"/>
            </a:path>
          </a:gradFill>
          <a:ln/>
          <a:effectLst>
            <a:softEdge rad="380000"/>
          </a:effectLst>
        </p:spPr>
        <p:txBody>
          <a:bodyPr/>
          <a:lstStyle/>
          <a:p>
            <a:endParaRPr lang="fr-FR"/>
          </a:p>
        </p:txBody>
      </p:sp>
      <p:sp>
        <p:nvSpPr>
          <p:cNvPr id="3" name="Shape 1"/>
          <p:cNvSpPr/>
          <p:nvPr/>
        </p:nvSpPr>
        <p:spPr>
          <a:xfrm rot="-240000">
            <a:off x="438912" y="713232"/>
            <a:ext cx="1609344" cy="3419856"/>
          </a:xfrm>
          <a:prstGeom prst="roundRect">
            <a:avLst>
              <a:gd name="adj" fmla="val 12500"/>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4" name="Image 0" descr="preencoded.png"/>
          <p:cNvPicPr>
            <a:picLocks noChangeAspect="1"/>
          </p:cNvPicPr>
          <p:nvPr/>
        </p:nvPicPr>
        <p:blipFill>
          <a:blip r:embed="rId3"/>
          <a:stretch>
            <a:fillRect/>
          </a:stretch>
        </p:blipFill>
        <p:spPr>
          <a:xfrm rot="-240000">
            <a:off x="502920" y="777240"/>
            <a:ext cx="1481328" cy="3291840"/>
          </a:xfrm>
          <a:prstGeom prst="rect">
            <a:avLst/>
          </a:prstGeom>
        </p:spPr>
      </p:pic>
      <p:sp>
        <p:nvSpPr>
          <p:cNvPr id="5" name="Shape 2"/>
          <p:cNvSpPr/>
          <p:nvPr/>
        </p:nvSpPr>
        <p:spPr>
          <a:xfrm rot="240000">
            <a:off x="2084832" y="438912"/>
            <a:ext cx="1609344" cy="3419856"/>
          </a:xfrm>
          <a:prstGeom prst="roundRect">
            <a:avLst>
              <a:gd name="adj" fmla="val 12500"/>
            </a:avLst>
          </a:prstGeom>
          <a:solidFill>
            <a:srgbClr val="05060B"/>
          </a:solidFill>
          <a:ln w="9525">
            <a:solidFill>
              <a:srgbClr val="FFFFFF">
                <a:alpha val="20000"/>
              </a:srgbClr>
            </a:solidFill>
            <a:prstDash val="solid"/>
          </a:ln>
          <a:effectLst>
            <a:outerShdw blurRad="330200" dist="177800" dir="5400000" algn="bl" rotWithShape="0">
              <a:srgbClr val="000000">
                <a:alpha val="55000"/>
              </a:srgbClr>
            </a:outerShdw>
          </a:effectLst>
        </p:spPr>
        <p:txBody>
          <a:bodyPr/>
          <a:lstStyle/>
          <a:p>
            <a:endParaRPr lang="fr-FR"/>
          </a:p>
        </p:txBody>
      </p:sp>
      <p:pic>
        <p:nvPicPr>
          <p:cNvPr id="6" name="Image 1" descr="preencoded.png"/>
          <p:cNvPicPr>
            <a:picLocks noChangeAspect="1"/>
          </p:cNvPicPr>
          <p:nvPr/>
        </p:nvPicPr>
        <p:blipFill>
          <a:blip r:embed="rId4"/>
          <a:stretch>
            <a:fillRect/>
          </a:stretch>
        </p:blipFill>
        <p:spPr>
          <a:xfrm rot="240000">
            <a:off x="2148840" y="502920"/>
            <a:ext cx="1481328" cy="3291840"/>
          </a:xfrm>
          <a:prstGeom prst="rect">
            <a:avLst/>
          </a:prstGeom>
        </p:spPr>
      </p:pic>
      <p:sp>
        <p:nvSpPr>
          <p:cNvPr id="7" name="Text 3"/>
          <p:cNvSpPr/>
          <p:nvPr/>
        </p:nvSpPr>
        <p:spPr>
          <a:xfrm>
            <a:off x="5074920" y="548640"/>
            <a:ext cx="3657600" cy="1508760"/>
          </a:xfrm>
          <a:prstGeom prst="rect">
            <a:avLst/>
          </a:prstGeom>
          <a:noFill/>
          <a:ln/>
        </p:spPr>
        <p:txBody>
          <a:bodyPr wrap="square" lIns="0" tIns="0" rIns="0" bIns="0" rtlCol="0" anchor="ctr"/>
          <a:lstStyle/>
          <a:p>
            <a:pPr marL="0" indent="0" algn="l">
              <a:lnSpc>
                <a:spcPct val="105000"/>
              </a:lnSpc>
              <a:buNone/>
            </a:pPr>
            <a:r>
              <a:rPr lang="en-US" sz="2400" b="1">
                <a:solidFill>
                  <a:srgbClr val="FFFFFF"/>
                </a:solidFill>
                <a:latin typeface="Sora" pitchFamily="34" charset="0"/>
                <a:ea typeface="Sora" pitchFamily="34" charset="-122"/>
                <a:cs typeface="Sora" pitchFamily="34" charset="-120"/>
              </a:rPr>
              <a:t>Every employee.</a:t>
            </a:r>
            <a:endParaRPr lang="en-US" sz="2400"/>
          </a:p>
          <a:p>
            <a:pPr marL="0" indent="0" algn="l">
              <a:lnSpc>
                <a:spcPct val="105000"/>
              </a:lnSpc>
              <a:buNone/>
            </a:pPr>
            <a:r>
              <a:rPr lang="en-US" sz="2400" b="1">
                <a:solidFill>
                  <a:srgbClr val="FFFFFF"/>
                </a:solidFill>
                <a:latin typeface="Sora" pitchFamily="34" charset="0"/>
                <a:ea typeface="Sora" pitchFamily="34" charset="-122"/>
                <a:cs typeface="Sora" pitchFamily="34" charset="-120"/>
              </a:rPr>
              <a:t>Every warning.</a:t>
            </a:r>
            <a:endParaRPr lang="en-US" sz="2400"/>
          </a:p>
          <a:p>
            <a:pPr marL="0" indent="0" algn="l">
              <a:lnSpc>
                <a:spcPct val="105000"/>
              </a:lnSpc>
              <a:buNone/>
            </a:pPr>
            <a:r>
              <a:rPr lang="en-US" sz="2400" b="1">
                <a:solidFill>
                  <a:srgbClr val="FFFFFF"/>
                </a:solidFill>
                <a:latin typeface="Sora" pitchFamily="34" charset="0"/>
                <a:ea typeface="Sora" pitchFamily="34" charset="-122"/>
                <a:cs typeface="Sora" pitchFamily="34" charset="-120"/>
              </a:rPr>
              <a:t>One tap away.</a:t>
            </a:r>
            <a:endParaRPr lang="en-US" sz="2400"/>
          </a:p>
        </p:txBody>
      </p:sp>
      <p:grpSp>
        <p:nvGrpSpPr>
          <p:cNvPr id="14" name="Group 13">
            <a:extLst>
              <a:ext uri="{FF2B5EF4-FFF2-40B4-BE49-F238E27FC236}">
                <a16:creationId xmlns:a16="http://schemas.microsoft.com/office/drawing/2014/main" id="{EC55122C-6F41-A414-68F1-FA842D374256}"/>
              </a:ext>
            </a:extLst>
          </p:cNvPr>
          <p:cNvGrpSpPr/>
          <p:nvPr/>
        </p:nvGrpSpPr>
        <p:grpSpPr>
          <a:xfrm>
            <a:off x="5074920" y="2331720"/>
            <a:ext cx="3657600" cy="1051560"/>
            <a:chOff x="5074920" y="2331720"/>
            <a:chExt cx="3657600" cy="1051560"/>
          </a:xfrm>
        </p:grpSpPr>
        <p:sp>
          <p:nvSpPr>
            <p:cNvPr id="8" name="ANIM::100::card1o"/>
            <p:cNvSpPr/>
            <p:nvPr/>
          </p:nvSpPr>
          <p:spPr>
            <a:xfrm>
              <a:off x="5074920" y="2331720"/>
              <a:ext cx="3657600" cy="1051560"/>
            </a:xfrm>
            <a:prstGeom prst="roundRect">
              <a:avLst>
                <a:gd name="adj" fmla="val 13913"/>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9" name="Text 5"/>
            <p:cNvSpPr/>
            <p:nvPr/>
          </p:nvSpPr>
          <p:spPr>
            <a:xfrm>
              <a:off x="5285232" y="2468880"/>
              <a:ext cx="3291840" cy="274320"/>
            </a:xfrm>
            <a:prstGeom prst="rect">
              <a:avLst/>
            </a:prstGeom>
            <a:noFill/>
            <a:ln/>
          </p:spPr>
          <p:txBody>
            <a:bodyPr wrap="square" lIns="0" tIns="0" rIns="0" bIns="0" rtlCol="0" anchor="ctr"/>
            <a:lstStyle/>
            <a:p>
              <a:pPr marL="0" indent="0" algn="l">
                <a:buNone/>
              </a:pPr>
              <a:r>
                <a:rPr lang="en-US" sz="1250" b="1">
                  <a:solidFill>
                    <a:srgbClr val="FFFFFF"/>
                  </a:solidFill>
                  <a:latin typeface="Sora" pitchFamily="34" charset="0"/>
                  <a:ea typeface="Sora" pitchFamily="34" charset="-122"/>
                  <a:cs typeface="Sora" pitchFamily="34" charset="-120"/>
                </a:rPr>
                <a:t>Employee Directory</a:t>
              </a:r>
              <a:endParaRPr lang="en-US" sz="1250"/>
            </a:p>
          </p:txBody>
        </p:sp>
        <p:sp>
          <p:nvSpPr>
            <p:cNvPr id="10" name="Text 6"/>
            <p:cNvSpPr/>
            <p:nvPr/>
          </p:nvSpPr>
          <p:spPr>
            <a:xfrm>
              <a:off x="5285232" y="2761488"/>
              <a:ext cx="3291840" cy="50292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Full profile: contract, SSN, documents — grid or list.</a:t>
              </a:r>
              <a:endParaRPr lang="en-US" sz="950"/>
            </a:p>
          </p:txBody>
        </p:sp>
      </p:grpSp>
      <p:grpSp>
        <p:nvGrpSpPr>
          <p:cNvPr id="15" name="Group 14">
            <a:extLst>
              <a:ext uri="{FF2B5EF4-FFF2-40B4-BE49-F238E27FC236}">
                <a16:creationId xmlns:a16="http://schemas.microsoft.com/office/drawing/2014/main" id="{DE60B48A-C2E0-2A31-2FDD-3E495EB7CA69}"/>
              </a:ext>
            </a:extLst>
          </p:cNvPr>
          <p:cNvGrpSpPr/>
          <p:nvPr/>
        </p:nvGrpSpPr>
        <p:grpSpPr>
          <a:xfrm>
            <a:off x="5074920" y="3520440"/>
            <a:ext cx="3657600" cy="1188720"/>
            <a:chOff x="5074920" y="3520440"/>
            <a:chExt cx="3657600" cy="1188720"/>
          </a:xfrm>
        </p:grpSpPr>
        <p:sp>
          <p:nvSpPr>
            <p:cNvPr id="11" name="ANIM::250::card1p"/>
            <p:cNvSpPr/>
            <p:nvPr/>
          </p:nvSpPr>
          <p:spPr>
            <a:xfrm>
              <a:off x="5074920" y="3520440"/>
              <a:ext cx="3657600" cy="1188720"/>
            </a:xfrm>
            <a:prstGeom prst="roundRect">
              <a:avLst>
                <a:gd name="adj" fmla="val 12308"/>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2" name="Text 8"/>
            <p:cNvSpPr/>
            <p:nvPr/>
          </p:nvSpPr>
          <p:spPr>
            <a:xfrm>
              <a:off x="5285232" y="3657600"/>
              <a:ext cx="3291840" cy="274320"/>
            </a:xfrm>
            <a:prstGeom prst="rect">
              <a:avLst/>
            </a:prstGeom>
            <a:noFill/>
            <a:ln/>
          </p:spPr>
          <p:txBody>
            <a:bodyPr wrap="square" lIns="0" tIns="0" rIns="0" bIns="0" rtlCol="0" anchor="ctr"/>
            <a:lstStyle/>
            <a:p>
              <a:pPr marL="0" indent="0" algn="l">
                <a:buNone/>
              </a:pPr>
              <a:r>
                <a:rPr lang="en-US" sz="1250" b="1">
                  <a:solidFill>
                    <a:srgbClr val="FFFFFF"/>
                  </a:solidFill>
                  <a:latin typeface="Sora" pitchFamily="34" charset="0"/>
                  <a:ea typeface="Sora" pitchFamily="34" charset="-122"/>
                  <a:cs typeface="Sora" pitchFamily="34" charset="-120"/>
                </a:rPr>
                <a:t>Disciplinary Warnings</a:t>
              </a:r>
              <a:endParaRPr lang="en-US" sz="1250"/>
            </a:p>
          </p:txBody>
        </p:sp>
        <p:sp>
          <p:nvSpPr>
            <p:cNvPr id="13" name="Text 9"/>
            <p:cNvSpPr/>
            <p:nvPr/>
          </p:nvSpPr>
          <p:spPr>
            <a:xfrm>
              <a:off x="5285232" y="3950208"/>
              <a:ext cx="3291840" cy="64008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3 categories · 5 templates each. Edit → select recipients → Gmail opens pre-filled.</a:t>
              </a:r>
              <a:endParaRPr lang="en-US" sz="95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250" fill="hold"/>
                                        <p:tgtEl>
                                          <p:spTgt spid="2"/>
                                        </p:tgtEl>
                                        <p:attrNameLst>
                                          <p:attrName>ppt_x</p:attrName>
                                        </p:attrNameLst>
                                      </p:cBhvr>
                                      <p:tavLst>
                                        <p:tav tm="0">
                                          <p:val>
                                            <p:strVal val="1+#ppt_w/2"/>
                                          </p:val>
                                        </p:tav>
                                        <p:tav tm="100000">
                                          <p:val>
                                            <p:strVal val="#ppt_x"/>
                                          </p:val>
                                        </p:tav>
                                      </p:tavLst>
                                    </p:anim>
                                    <p:anim calcmode="lin" valueType="num">
                                      <p:cBhvr additive="base">
                                        <p:cTn id="8" dur="125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fill="hold"/>
                                        <p:tgtEl>
                                          <p:spTgt spid="14"/>
                                        </p:tgtEl>
                                        <p:attrNameLst>
                                          <p:attrName>ppt_x</p:attrName>
                                        </p:attrNameLst>
                                      </p:cBhvr>
                                      <p:tavLst>
                                        <p:tav tm="0">
                                          <p:val>
                                            <p:strVal val="#ppt_x"/>
                                          </p:val>
                                        </p:tav>
                                        <p:tav tm="100000">
                                          <p:val>
                                            <p:strVal val="#ppt_x"/>
                                          </p:val>
                                        </p:tav>
                                      </p:tavLst>
                                    </p:anim>
                                    <p:anim calcmode="lin" valueType="num">
                                      <p:cBhvr additive="base">
                                        <p:cTn id="12" dur="1000" fill="hold"/>
                                        <p:tgtEl>
                                          <p:spTgt spid="14"/>
                                        </p:tgtEl>
                                        <p:attrNameLst>
                                          <p:attrName>ppt_y</p:attrName>
                                        </p:attrNameLst>
                                      </p:cBhvr>
                                      <p:tavLst>
                                        <p:tav tm="0">
                                          <p:val>
                                            <p:strVal val="1+#ppt_h/2"/>
                                          </p:val>
                                        </p:tav>
                                        <p:tav tm="100000">
                                          <p:val>
                                            <p:strVal val="#ppt_y"/>
                                          </p:val>
                                        </p:tav>
                                      </p:tavLst>
                                    </p:anim>
                                  </p:childTnLst>
                                </p:cTn>
                              </p:par>
                            </p:childTnLst>
                          </p:cTn>
                        </p:par>
                        <p:par>
                          <p:cTn id="13" fill="hold">
                            <p:stCondLst>
                              <p:cond delay="1250"/>
                            </p:stCondLst>
                            <p:childTnLst>
                              <p:par>
                                <p:cTn id="14" presetID="2" presetClass="entr" presetSubtype="4"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1000" fill="hold"/>
                                        <p:tgtEl>
                                          <p:spTgt spid="15"/>
                                        </p:tgtEl>
                                        <p:attrNameLst>
                                          <p:attrName>ppt_x</p:attrName>
                                        </p:attrNameLst>
                                      </p:cBhvr>
                                      <p:tavLst>
                                        <p:tav tm="0">
                                          <p:val>
                                            <p:strVal val="#ppt_x"/>
                                          </p:val>
                                        </p:tav>
                                        <p:tav tm="100000">
                                          <p:val>
                                            <p:strVal val="#ppt_x"/>
                                          </p:val>
                                        </p:tav>
                                      </p:tavLst>
                                    </p:anim>
                                    <p:anim calcmode="lin" valueType="num">
                                      <p:cBhvr additive="base">
                                        <p:cTn id="17" dur="10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0B0E1A"/>
        </a:solidFill>
        <a:effectLst/>
      </p:bgPr>
    </p:bg>
    <p:spTree>
      <p:nvGrpSpPr>
        <p:cNvPr id="1" name=""/>
        <p:cNvGrpSpPr/>
        <p:nvPr/>
      </p:nvGrpSpPr>
      <p:grpSpPr>
        <a:xfrm>
          <a:off x="0" y="0"/>
          <a:ext cx="0" cy="0"/>
          <a:chOff x="0" y="0"/>
          <a:chExt cx="0" cy="0"/>
        </a:xfrm>
      </p:grpSpPr>
      <p:sp>
        <p:nvSpPr>
          <p:cNvPr id="2" name="GRAD::cyanEmerald3::blob::1u"/>
          <p:cNvSpPr/>
          <p:nvPr/>
        </p:nvSpPr>
        <p:spPr>
          <a:xfrm>
            <a:off x="-1371600" y="2743200"/>
            <a:ext cx="5029200" cy="5029200"/>
          </a:xfrm>
          <a:prstGeom prst="ellipse">
            <a:avLst/>
          </a:prstGeom>
          <a:gradFill rotWithShape="1">
            <a:gsLst>
              <a:gs pos="0">
                <a:srgbClr val="22D3EE">
                  <a:alpha val="42000"/>
                </a:srgbClr>
              </a:gs>
              <a:gs pos="55000">
                <a:srgbClr val="10B981">
                  <a:alpha val="16000"/>
                </a:srgbClr>
              </a:gs>
              <a:gs pos="100000">
                <a:srgbClr val="10B981">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411480"/>
            <a:ext cx="8641080" cy="868680"/>
          </a:xfrm>
          <a:prstGeom prst="rect">
            <a:avLst/>
          </a:prstGeom>
          <a:noFill/>
          <a:ln/>
        </p:spPr>
        <p:txBody>
          <a:bodyPr wrap="square" lIns="0" tIns="0" rIns="0" bIns="0" rtlCol="0" anchor="ctr"/>
          <a:lstStyle/>
          <a:p>
            <a:r>
              <a:rPr lang="fr-FR" sz="2400">
                <a:solidFill>
                  <a:schemeClr val="bg1">
                    <a:lumMod val="95000"/>
                  </a:schemeClr>
                </a:solidFill>
              </a:rPr>
              <a:t>+100 </a:t>
            </a:r>
            <a:r>
              <a:rPr lang="en-US" sz="2400" b="1">
                <a:solidFill>
                  <a:srgbClr val="FFFFFF"/>
                </a:solidFill>
                <a:latin typeface="Sora" pitchFamily="34" charset="0"/>
                <a:ea typeface="Sora" pitchFamily="34" charset="-122"/>
                <a:cs typeface="Sora" pitchFamily="34" charset="-120"/>
              </a:rPr>
              <a:t>companies ,</a:t>
            </a:r>
            <a:r>
              <a:rPr lang="fr-FR" sz="2400"/>
              <a:t> </a:t>
            </a:r>
            <a:r>
              <a:rPr lang="fr-FR" sz="2400">
                <a:solidFill>
                  <a:schemeClr val="bg1">
                    <a:lumMod val="95000"/>
                  </a:schemeClr>
                </a:solidFill>
              </a:rPr>
              <a:t>+500</a:t>
            </a:r>
            <a:r>
              <a:rPr lang="en-US" sz="2400" b="1">
                <a:solidFill>
                  <a:schemeClr val="bg1">
                    <a:lumMod val="95000"/>
                  </a:schemeClr>
                </a:solidFill>
                <a:latin typeface="Sora" pitchFamily="34" charset="0"/>
                <a:ea typeface="Sora" pitchFamily="34" charset="-122"/>
                <a:cs typeface="Sora" pitchFamily="34" charset="-120"/>
              </a:rPr>
              <a:t> </a:t>
            </a:r>
            <a:r>
              <a:rPr lang="en-US" sz="2400" b="1">
                <a:solidFill>
                  <a:srgbClr val="FFFFFF"/>
                </a:solidFill>
                <a:latin typeface="Sora" pitchFamily="34" charset="0"/>
                <a:ea typeface="Sora" pitchFamily="34" charset="-122"/>
                <a:cs typeface="Sora" pitchFamily="34" charset="-120"/>
              </a:rPr>
              <a:t>employees, One dashboard.</a:t>
            </a:r>
            <a:endParaRPr lang="en-US" sz="2400"/>
          </a:p>
        </p:txBody>
      </p:sp>
      <p:sp>
        <p:nvSpPr>
          <p:cNvPr id="4" name="Shape 2"/>
          <p:cNvSpPr/>
          <p:nvPr/>
        </p:nvSpPr>
        <p:spPr>
          <a:xfrm>
            <a:off x="466344" y="1399032"/>
            <a:ext cx="5401056" cy="3529584"/>
          </a:xfrm>
          <a:prstGeom prst="roundRect">
            <a:avLst>
              <a:gd name="adj" fmla="val 1970"/>
            </a:avLst>
          </a:prstGeom>
          <a:solidFill>
            <a:srgbClr val="12131C"/>
          </a:solidFill>
          <a:ln w="9525">
            <a:solidFill>
              <a:srgbClr val="FFFFFF">
                <a:alpha val="18000"/>
              </a:srgbClr>
            </a:solidFill>
            <a:prstDash val="solid"/>
          </a:ln>
          <a:effectLst>
            <a:outerShdw blurRad="355600" dist="177800" dir="5400000" algn="bl" rotWithShape="0">
              <a:srgbClr val="000000">
                <a:alpha val="55000"/>
              </a:srgbClr>
            </a:outerShdw>
          </a:effectLst>
        </p:spPr>
        <p:txBody>
          <a:bodyPr/>
          <a:lstStyle/>
          <a:p>
            <a:endParaRPr lang="fr-FR"/>
          </a:p>
        </p:txBody>
      </p:sp>
      <p:sp>
        <p:nvSpPr>
          <p:cNvPr id="5" name="Shape 3"/>
          <p:cNvSpPr/>
          <p:nvPr/>
        </p:nvSpPr>
        <p:spPr>
          <a:xfrm>
            <a:off x="466344" y="1399032"/>
            <a:ext cx="5401056" cy="216373"/>
          </a:xfrm>
          <a:prstGeom prst="roundRect">
            <a:avLst/>
          </a:prstGeom>
          <a:solidFill>
            <a:srgbClr val="1B1D2B"/>
          </a:solidFill>
          <a:ln/>
        </p:spPr>
        <p:txBody>
          <a:bodyPr/>
          <a:lstStyle/>
          <a:p>
            <a:endParaRPr lang="fr-FR"/>
          </a:p>
        </p:txBody>
      </p:sp>
      <p:sp>
        <p:nvSpPr>
          <p:cNvPr id="6" name="Shape 4"/>
          <p:cNvSpPr/>
          <p:nvPr/>
        </p:nvSpPr>
        <p:spPr>
          <a:xfrm>
            <a:off x="550354" y="1447472"/>
            <a:ext cx="125349" cy="123790"/>
          </a:xfrm>
          <a:prstGeom prst="ellipse">
            <a:avLst/>
          </a:prstGeom>
          <a:solidFill>
            <a:srgbClr val="FF6B6B"/>
          </a:solidFill>
          <a:ln/>
        </p:spPr>
        <p:txBody>
          <a:bodyPr/>
          <a:lstStyle/>
          <a:p>
            <a:endParaRPr lang="fr-FR"/>
          </a:p>
        </p:txBody>
      </p:sp>
      <p:sp>
        <p:nvSpPr>
          <p:cNvPr id="7" name="Shape 5"/>
          <p:cNvSpPr/>
          <p:nvPr/>
        </p:nvSpPr>
        <p:spPr>
          <a:xfrm>
            <a:off x="732757" y="1449740"/>
            <a:ext cx="125349" cy="123790"/>
          </a:xfrm>
          <a:prstGeom prst="ellipse">
            <a:avLst/>
          </a:prstGeom>
          <a:solidFill>
            <a:srgbClr val="F59E0B"/>
          </a:solidFill>
          <a:ln/>
        </p:spPr>
        <p:txBody>
          <a:bodyPr/>
          <a:lstStyle/>
          <a:p>
            <a:endParaRPr lang="fr-FR"/>
          </a:p>
        </p:txBody>
      </p:sp>
      <p:sp>
        <p:nvSpPr>
          <p:cNvPr id="8" name="Shape 6"/>
          <p:cNvSpPr/>
          <p:nvPr/>
        </p:nvSpPr>
        <p:spPr>
          <a:xfrm>
            <a:off x="915731" y="1449740"/>
            <a:ext cx="125349" cy="123790"/>
          </a:xfrm>
          <a:prstGeom prst="ellipse">
            <a:avLst/>
          </a:prstGeom>
          <a:solidFill>
            <a:srgbClr val="10B981"/>
          </a:solidFill>
          <a:ln/>
        </p:spPr>
        <p:txBody>
          <a:bodyPr/>
          <a:lstStyle/>
          <a:p>
            <a:endParaRPr lang="fr-FR"/>
          </a:p>
        </p:txBody>
      </p:sp>
      <p:pic>
        <p:nvPicPr>
          <p:cNvPr id="9" name="Image 0" descr="preencoded.png"/>
          <p:cNvPicPr>
            <a:picLocks noChangeAspect="1"/>
          </p:cNvPicPr>
          <p:nvPr/>
        </p:nvPicPr>
        <p:blipFill>
          <a:blip r:embed="rId3"/>
          <a:stretch>
            <a:fillRect/>
          </a:stretch>
        </p:blipFill>
        <p:spPr>
          <a:xfrm>
            <a:off x="502920" y="1691640"/>
            <a:ext cx="5337327" cy="3335829"/>
          </a:xfrm>
          <a:prstGeom prst="rect">
            <a:avLst/>
          </a:prstGeom>
        </p:spPr>
      </p:pic>
      <p:grpSp>
        <p:nvGrpSpPr>
          <p:cNvPr id="19" name="Group 18">
            <a:extLst>
              <a:ext uri="{FF2B5EF4-FFF2-40B4-BE49-F238E27FC236}">
                <a16:creationId xmlns:a16="http://schemas.microsoft.com/office/drawing/2014/main" id="{03000138-C296-8AEF-09B4-B9BF75D4AF68}"/>
              </a:ext>
            </a:extLst>
          </p:cNvPr>
          <p:cNvGrpSpPr/>
          <p:nvPr/>
        </p:nvGrpSpPr>
        <p:grpSpPr>
          <a:xfrm>
            <a:off x="6903720" y="1691640"/>
            <a:ext cx="1737360" cy="1005840"/>
            <a:chOff x="6903720" y="1691640"/>
            <a:chExt cx="1737360" cy="1005840"/>
          </a:xfrm>
        </p:grpSpPr>
        <p:sp>
          <p:nvSpPr>
            <p:cNvPr id="10" name="ANIM::0::card1v"/>
            <p:cNvSpPr/>
            <p:nvPr/>
          </p:nvSpPr>
          <p:spPr>
            <a:xfrm>
              <a:off x="6903720" y="1691640"/>
              <a:ext cx="1737360" cy="100584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1" name="Text 8"/>
            <p:cNvSpPr/>
            <p:nvPr/>
          </p:nvSpPr>
          <p:spPr>
            <a:xfrm>
              <a:off x="6903720" y="1783080"/>
              <a:ext cx="1737360" cy="502920"/>
            </a:xfrm>
            <a:prstGeom prst="rect">
              <a:avLst/>
            </a:prstGeom>
            <a:noFill/>
            <a:ln/>
          </p:spPr>
          <p:txBody>
            <a:bodyPr wrap="square" lIns="0" tIns="0" rIns="0" bIns="0" rtlCol="0" anchor="ctr"/>
            <a:lstStyle/>
            <a:p>
              <a:pPr marL="0" indent="0" algn="ctr">
                <a:buNone/>
              </a:pPr>
              <a:r>
                <a:rPr lang="en-US" sz="2600" b="1">
                  <a:solidFill>
                    <a:srgbClr val="22D3EE"/>
                  </a:solidFill>
                  <a:latin typeface="Sora" pitchFamily="34" charset="0"/>
                  <a:ea typeface="Sora" pitchFamily="34" charset="-122"/>
                  <a:cs typeface="Sora" pitchFamily="34" charset="-120"/>
                </a:rPr>
                <a:t>100+</a:t>
              </a:r>
              <a:endParaRPr lang="en-US" sz="2600"/>
            </a:p>
          </p:txBody>
        </p:sp>
        <p:sp>
          <p:nvSpPr>
            <p:cNvPr id="12" name="Text 9"/>
            <p:cNvSpPr/>
            <p:nvPr/>
          </p:nvSpPr>
          <p:spPr>
            <a:xfrm>
              <a:off x="6903720" y="2313432"/>
              <a:ext cx="1737360" cy="274320"/>
            </a:xfrm>
            <a:prstGeom prst="rect">
              <a:avLst/>
            </a:prstGeom>
            <a:noFill/>
            <a:ln/>
          </p:spPr>
          <p:txBody>
            <a:bodyPr wrap="square" lIns="0" tIns="0" rIns="0" bIns="0" rtlCol="0" anchor="ctr"/>
            <a:lstStyle/>
            <a:p>
              <a:pPr marL="0" indent="0" algn="ctr">
                <a:buNone/>
              </a:pPr>
              <a:r>
                <a:rPr lang="en-US" sz="950">
                  <a:solidFill>
                    <a:srgbClr val="8890A6"/>
                  </a:solidFill>
                  <a:latin typeface="Inter" pitchFamily="34" charset="0"/>
                  <a:ea typeface="Inter" pitchFamily="34" charset="-122"/>
                  <a:cs typeface="Inter" pitchFamily="34" charset="-120"/>
                </a:rPr>
                <a:t>Companies</a:t>
              </a:r>
              <a:endParaRPr lang="en-US" sz="950"/>
            </a:p>
          </p:txBody>
        </p:sp>
      </p:grpSp>
      <p:grpSp>
        <p:nvGrpSpPr>
          <p:cNvPr id="20" name="Group 19">
            <a:extLst>
              <a:ext uri="{FF2B5EF4-FFF2-40B4-BE49-F238E27FC236}">
                <a16:creationId xmlns:a16="http://schemas.microsoft.com/office/drawing/2014/main" id="{DE09F6DF-ACBF-EC3B-CE35-B392EBE3E019}"/>
              </a:ext>
            </a:extLst>
          </p:cNvPr>
          <p:cNvGrpSpPr/>
          <p:nvPr/>
        </p:nvGrpSpPr>
        <p:grpSpPr>
          <a:xfrm>
            <a:off x="6903720" y="2862072"/>
            <a:ext cx="1737360" cy="1005840"/>
            <a:chOff x="6903720" y="2862072"/>
            <a:chExt cx="1737360" cy="1005840"/>
          </a:xfrm>
        </p:grpSpPr>
        <p:sp>
          <p:nvSpPr>
            <p:cNvPr id="13" name="ANIM::160::card1w"/>
            <p:cNvSpPr/>
            <p:nvPr/>
          </p:nvSpPr>
          <p:spPr>
            <a:xfrm>
              <a:off x="6903720" y="2862072"/>
              <a:ext cx="1737360" cy="100584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4" name="Text 11"/>
            <p:cNvSpPr/>
            <p:nvPr/>
          </p:nvSpPr>
          <p:spPr>
            <a:xfrm>
              <a:off x="6903720" y="2953512"/>
              <a:ext cx="1737360" cy="502920"/>
            </a:xfrm>
            <a:prstGeom prst="rect">
              <a:avLst/>
            </a:prstGeom>
            <a:noFill/>
            <a:ln/>
          </p:spPr>
          <p:txBody>
            <a:bodyPr wrap="square" lIns="0" tIns="0" rIns="0" bIns="0" rtlCol="0" anchor="ctr"/>
            <a:lstStyle/>
            <a:p>
              <a:pPr marL="0" indent="0" algn="ctr">
                <a:buNone/>
              </a:pPr>
              <a:r>
                <a:rPr lang="en-US" sz="2600" b="1">
                  <a:solidFill>
                    <a:srgbClr val="10B981"/>
                  </a:solidFill>
                  <a:latin typeface="Sora" pitchFamily="34" charset="0"/>
                  <a:ea typeface="Sora" pitchFamily="34" charset="-122"/>
                  <a:cs typeface="Sora" pitchFamily="34" charset="-120"/>
                </a:rPr>
                <a:t>500+</a:t>
              </a:r>
              <a:endParaRPr lang="en-US" sz="2600"/>
            </a:p>
          </p:txBody>
        </p:sp>
        <p:sp>
          <p:nvSpPr>
            <p:cNvPr id="15" name="Text 12"/>
            <p:cNvSpPr/>
            <p:nvPr/>
          </p:nvSpPr>
          <p:spPr>
            <a:xfrm>
              <a:off x="6903720" y="3483864"/>
              <a:ext cx="1737360" cy="274320"/>
            </a:xfrm>
            <a:prstGeom prst="rect">
              <a:avLst/>
            </a:prstGeom>
            <a:noFill/>
            <a:ln/>
          </p:spPr>
          <p:txBody>
            <a:bodyPr wrap="square" lIns="0" tIns="0" rIns="0" bIns="0" rtlCol="0" anchor="ctr"/>
            <a:lstStyle/>
            <a:p>
              <a:pPr marL="0" indent="0" algn="ctr">
                <a:buNone/>
              </a:pPr>
              <a:r>
                <a:rPr lang="en-US" sz="950">
                  <a:solidFill>
                    <a:srgbClr val="8890A6"/>
                  </a:solidFill>
                  <a:latin typeface="Inter" pitchFamily="34" charset="0"/>
                  <a:ea typeface="Inter" pitchFamily="34" charset="-122"/>
                  <a:cs typeface="Inter" pitchFamily="34" charset="-120"/>
                </a:rPr>
                <a:t>Employees</a:t>
              </a:r>
              <a:endParaRPr lang="en-US" sz="950"/>
            </a:p>
          </p:txBody>
        </p:sp>
      </p:grpSp>
      <p:grpSp>
        <p:nvGrpSpPr>
          <p:cNvPr id="21" name="Group 20">
            <a:extLst>
              <a:ext uri="{FF2B5EF4-FFF2-40B4-BE49-F238E27FC236}">
                <a16:creationId xmlns:a16="http://schemas.microsoft.com/office/drawing/2014/main" id="{50E985C8-6ADE-6A26-EA87-A1FB9505ACCF}"/>
              </a:ext>
            </a:extLst>
          </p:cNvPr>
          <p:cNvGrpSpPr/>
          <p:nvPr/>
        </p:nvGrpSpPr>
        <p:grpSpPr>
          <a:xfrm>
            <a:off x="6903720" y="4032504"/>
            <a:ext cx="1737360" cy="1005840"/>
            <a:chOff x="6903720" y="4032504"/>
            <a:chExt cx="1737360" cy="1005840"/>
          </a:xfrm>
        </p:grpSpPr>
        <p:sp>
          <p:nvSpPr>
            <p:cNvPr id="16" name="ANIM::320::card1x"/>
            <p:cNvSpPr/>
            <p:nvPr/>
          </p:nvSpPr>
          <p:spPr>
            <a:xfrm>
              <a:off x="6903720" y="4032504"/>
              <a:ext cx="1737360" cy="100584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Text 14"/>
            <p:cNvSpPr/>
            <p:nvPr/>
          </p:nvSpPr>
          <p:spPr>
            <a:xfrm>
              <a:off x="6903720" y="4123944"/>
              <a:ext cx="1737360" cy="502920"/>
            </a:xfrm>
            <a:prstGeom prst="rect">
              <a:avLst/>
            </a:prstGeom>
            <a:noFill/>
            <a:ln/>
          </p:spPr>
          <p:txBody>
            <a:bodyPr wrap="square" lIns="0" tIns="0" rIns="0" bIns="0" rtlCol="0" anchor="ctr"/>
            <a:lstStyle/>
            <a:p>
              <a:pPr marL="0" indent="0" algn="ctr">
                <a:buNone/>
              </a:pPr>
              <a:r>
                <a:rPr lang="en-US" sz="2600" b="1">
                  <a:solidFill>
                    <a:srgbClr val="FF6B6B"/>
                  </a:solidFill>
                  <a:latin typeface="Sora" pitchFamily="34" charset="0"/>
                  <a:ea typeface="Sora" pitchFamily="34" charset="-122"/>
                  <a:cs typeface="Sora" pitchFamily="34" charset="-120"/>
                </a:rPr>
                <a:t>8</a:t>
              </a:r>
              <a:endParaRPr lang="en-US" sz="2600"/>
            </a:p>
          </p:txBody>
        </p:sp>
        <p:sp>
          <p:nvSpPr>
            <p:cNvPr id="18" name="Text 15"/>
            <p:cNvSpPr/>
            <p:nvPr/>
          </p:nvSpPr>
          <p:spPr>
            <a:xfrm>
              <a:off x="6903720" y="4654296"/>
              <a:ext cx="1737360" cy="274320"/>
            </a:xfrm>
            <a:prstGeom prst="rect">
              <a:avLst/>
            </a:prstGeom>
            <a:noFill/>
            <a:ln/>
          </p:spPr>
          <p:txBody>
            <a:bodyPr wrap="square" lIns="0" tIns="0" rIns="0" bIns="0" rtlCol="0" anchor="ctr"/>
            <a:lstStyle/>
            <a:p>
              <a:pPr marL="0" indent="0" algn="ctr">
                <a:buNone/>
              </a:pPr>
              <a:r>
                <a:rPr lang="en-US" sz="950">
                  <a:solidFill>
                    <a:srgbClr val="8890A6"/>
                  </a:solidFill>
                  <a:latin typeface="Inter" pitchFamily="34" charset="0"/>
                  <a:ea typeface="Inter" pitchFamily="34" charset="-122"/>
                  <a:cs typeface="Inter" pitchFamily="34" charset="-120"/>
                </a:rPr>
                <a:t>Active alerts</a:t>
              </a:r>
              <a:endParaRPr lang="en-US" sz="95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000" fill="hold"/>
                                        <p:tgtEl>
                                          <p:spTgt spid="19"/>
                                        </p:tgtEl>
                                        <p:attrNameLst>
                                          <p:attrName>ppt_x</p:attrName>
                                        </p:attrNameLst>
                                      </p:cBhvr>
                                      <p:tavLst>
                                        <p:tav tm="0">
                                          <p:val>
                                            <p:strVal val="1+#ppt_w/2"/>
                                          </p:val>
                                        </p:tav>
                                        <p:tav tm="100000">
                                          <p:val>
                                            <p:strVal val="#ppt_x"/>
                                          </p:val>
                                        </p:tav>
                                      </p:tavLst>
                                    </p:anim>
                                    <p:anim calcmode="lin" valueType="num">
                                      <p:cBhvr additive="base">
                                        <p:cTn id="8" dur="100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1000" fill="hold"/>
                                        <p:tgtEl>
                                          <p:spTgt spid="20"/>
                                        </p:tgtEl>
                                        <p:attrNameLst>
                                          <p:attrName>ppt_x</p:attrName>
                                        </p:attrNameLst>
                                      </p:cBhvr>
                                      <p:tavLst>
                                        <p:tav tm="0">
                                          <p:val>
                                            <p:strVal val="1+#ppt_w/2"/>
                                          </p:val>
                                        </p:tav>
                                        <p:tav tm="100000">
                                          <p:val>
                                            <p:strVal val="#ppt_x"/>
                                          </p:val>
                                        </p:tav>
                                      </p:tavLst>
                                    </p:anim>
                                    <p:anim calcmode="lin" valueType="num">
                                      <p:cBhvr additive="base">
                                        <p:cTn id="13" dur="1000" fill="hold"/>
                                        <p:tgtEl>
                                          <p:spTgt spid="20"/>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1000" fill="hold"/>
                                        <p:tgtEl>
                                          <p:spTgt spid="21"/>
                                        </p:tgtEl>
                                        <p:attrNameLst>
                                          <p:attrName>ppt_x</p:attrName>
                                        </p:attrNameLst>
                                      </p:cBhvr>
                                      <p:tavLst>
                                        <p:tav tm="0">
                                          <p:val>
                                            <p:strVal val="1+#ppt_w/2"/>
                                          </p:val>
                                        </p:tav>
                                        <p:tav tm="100000">
                                          <p:val>
                                            <p:strVal val="#ppt_x"/>
                                          </p:val>
                                        </p:tav>
                                      </p:tavLst>
                                    </p:anim>
                                    <p:anim calcmode="lin" valueType="num">
                                      <p:cBhvr additive="base">
                                        <p:cTn id="18" dur="10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0B0E1A"/>
        </a:solidFill>
        <a:effectLst/>
      </p:bgPr>
    </p:bg>
    <p:spTree>
      <p:nvGrpSpPr>
        <p:cNvPr id="1" name=""/>
        <p:cNvGrpSpPr/>
        <p:nvPr/>
      </p:nvGrpSpPr>
      <p:grpSpPr>
        <a:xfrm>
          <a:off x="0" y="0"/>
          <a:ext cx="0" cy="0"/>
          <a:chOff x="0" y="0"/>
          <a:chExt cx="0" cy="0"/>
        </a:xfrm>
      </p:grpSpPr>
      <p:sp>
        <p:nvSpPr>
          <p:cNvPr id="2" name="GRAD::violetPink3::blob::1y"/>
          <p:cNvSpPr/>
          <p:nvPr/>
        </p:nvSpPr>
        <p:spPr>
          <a:xfrm>
            <a:off x="5691684" y="-1668780"/>
            <a:ext cx="5029200" cy="5029200"/>
          </a:xfrm>
          <a:prstGeom prst="ellipse">
            <a:avLst/>
          </a:prstGeom>
          <a:gradFill rotWithShape="1">
            <a:gsLst>
              <a:gs pos="0">
                <a:srgbClr val="8B5CF6">
                  <a:alpha val="42000"/>
                </a:srgbClr>
              </a:gs>
              <a:gs pos="55000">
                <a:srgbClr val="EC4899">
                  <a:alpha val="16000"/>
                </a:srgbClr>
              </a:gs>
              <a:gs pos="100000">
                <a:srgbClr val="EC4899">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411480"/>
            <a:ext cx="7772400" cy="868680"/>
          </a:xfrm>
          <a:prstGeom prst="rect">
            <a:avLst/>
          </a:prstGeom>
          <a:noFill/>
          <a:ln/>
        </p:spPr>
        <p:txBody>
          <a:bodyPr wrap="square" lIns="0" tIns="0" rIns="0" bIns="0" rtlCol="0" anchor="ctr"/>
          <a:lstStyle/>
          <a:p>
            <a:pPr marL="0" indent="0" algn="l">
              <a:buNone/>
            </a:pPr>
            <a:r>
              <a:rPr lang="en-US" sz="2300" b="1">
                <a:solidFill>
                  <a:srgbClr val="FFFFFF"/>
                </a:solidFill>
                <a:latin typeface="Sora" pitchFamily="34" charset="0"/>
                <a:ea typeface="Sora" pitchFamily="34" charset="-122"/>
                <a:cs typeface="Sora" pitchFamily="34" charset="-120"/>
              </a:rPr>
              <a:t>Every conversation,</a:t>
            </a:r>
            <a:endParaRPr lang="en-US" sz="2300"/>
          </a:p>
          <a:p>
            <a:pPr marL="0" indent="0" algn="l">
              <a:buNone/>
            </a:pPr>
            <a:r>
              <a:rPr lang="en-US" sz="2300" b="1">
                <a:solidFill>
                  <a:srgbClr val="FFFFFF"/>
                </a:solidFill>
                <a:latin typeface="Sora" pitchFamily="34" charset="0"/>
                <a:ea typeface="Sora" pitchFamily="34" charset="-122"/>
                <a:cs typeface="Sora" pitchFamily="34" charset="-120"/>
              </a:rPr>
              <a:t>every document, centralised</a:t>
            </a:r>
            <a:endParaRPr lang="en-US" sz="2300"/>
          </a:p>
        </p:txBody>
      </p:sp>
      <p:sp>
        <p:nvSpPr>
          <p:cNvPr id="4" name="Shape 2"/>
          <p:cNvSpPr/>
          <p:nvPr/>
        </p:nvSpPr>
        <p:spPr>
          <a:xfrm rot="-78000">
            <a:off x="329184" y="1444752"/>
            <a:ext cx="4233672" cy="2947797"/>
          </a:xfrm>
          <a:prstGeom prst="roundRect">
            <a:avLst>
              <a:gd name="adj" fmla="val 2792"/>
            </a:avLst>
          </a:prstGeom>
          <a:solidFill>
            <a:srgbClr val="12131C"/>
          </a:solidFill>
          <a:ln w="9525">
            <a:solidFill>
              <a:srgbClr val="FFFFFF">
                <a:alpha val="18000"/>
              </a:srgbClr>
            </a:solidFill>
            <a:prstDash val="solid"/>
          </a:ln>
          <a:effectLst>
            <a:outerShdw blurRad="355600" dist="177800" dir="5400000" algn="bl" rotWithShape="0">
              <a:srgbClr val="000000">
                <a:alpha val="55000"/>
              </a:srgbClr>
            </a:outerShdw>
          </a:effectLst>
        </p:spPr>
        <p:txBody>
          <a:bodyPr/>
          <a:lstStyle/>
          <a:p>
            <a:endParaRPr lang="fr-FR"/>
          </a:p>
        </p:txBody>
      </p:sp>
      <p:sp>
        <p:nvSpPr>
          <p:cNvPr id="5" name="Shape 3"/>
          <p:cNvSpPr/>
          <p:nvPr/>
        </p:nvSpPr>
        <p:spPr>
          <a:xfrm rot="-78000">
            <a:off x="329184" y="1444752"/>
            <a:ext cx="4233672" cy="256032"/>
          </a:xfrm>
          <a:prstGeom prst="roundRect">
            <a:avLst/>
          </a:prstGeom>
          <a:solidFill>
            <a:srgbClr val="1B1D2B"/>
          </a:solidFill>
          <a:ln/>
        </p:spPr>
        <p:txBody>
          <a:bodyPr/>
          <a:lstStyle/>
          <a:p>
            <a:endParaRPr lang="fr-FR"/>
          </a:p>
        </p:txBody>
      </p:sp>
      <p:sp>
        <p:nvSpPr>
          <p:cNvPr id="6" name="Shape 4"/>
          <p:cNvSpPr/>
          <p:nvPr/>
        </p:nvSpPr>
        <p:spPr>
          <a:xfrm rot="-78000">
            <a:off x="365760" y="1531620"/>
            <a:ext cx="82296" cy="82296"/>
          </a:xfrm>
          <a:prstGeom prst="ellipse">
            <a:avLst/>
          </a:prstGeom>
          <a:solidFill>
            <a:srgbClr val="FF6B6B"/>
          </a:solidFill>
          <a:ln/>
        </p:spPr>
        <p:txBody>
          <a:bodyPr/>
          <a:lstStyle/>
          <a:p>
            <a:endParaRPr lang="fr-FR"/>
          </a:p>
        </p:txBody>
      </p:sp>
      <p:sp>
        <p:nvSpPr>
          <p:cNvPr id="7" name="Shape 5"/>
          <p:cNvSpPr/>
          <p:nvPr/>
        </p:nvSpPr>
        <p:spPr>
          <a:xfrm rot="-78000">
            <a:off x="521208" y="1531620"/>
            <a:ext cx="82296" cy="82296"/>
          </a:xfrm>
          <a:prstGeom prst="ellipse">
            <a:avLst/>
          </a:prstGeom>
          <a:solidFill>
            <a:srgbClr val="F59E0B"/>
          </a:solidFill>
          <a:ln/>
        </p:spPr>
        <p:txBody>
          <a:bodyPr/>
          <a:lstStyle/>
          <a:p>
            <a:endParaRPr lang="fr-FR"/>
          </a:p>
        </p:txBody>
      </p:sp>
      <p:sp>
        <p:nvSpPr>
          <p:cNvPr id="8" name="Shape 6"/>
          <p:cNvSpPr/>
          <p:nvPr/>
        </p:nvSpPr>
        <p:spPr>
          <a:xfrm rot="-78000">
            <a:off x="676656" y="1531620"/>
            <a:ext cx="82296" cy="82296"/>
          </a:xfrm>
          <a:prstGeom prst="ellipse">
            <a:avLst/>
          </a:prstGeom>
          <a:solidFill>
            <a:srgbClr val="10B981"/>
          </a:solidFill>
          <a:ln/>
        </p:spPr>
        <p:txBody>
          <a:bodyPr/>
          <a:lstStyle/>
          <a:p>
            <a:endParaRPr lang="fr-FR"/>
          </a:p>
        </p:txBody>
      </p:sp>
      <p:pic>
        <p:nvPicPr>
          <p:cNvPr id="9" name="Image 0" descr="preencoded.png"/>
          <p:cNvPicPr>
            <a:picLocks noChangeAspect="1"/>
          </p:cNvPicPr>
          <p:nvPr/>
        </p:nvPicPr>
        <p:blipFill>
          <a:blip r:embed="rId3"/>
          <a:stretch>
            <a:fillRect/>
          </a:stretch>
        </p:blipFill>
        <p:spPr>
          <a:xfrm rot="-78000">
            <a:off x="365760" y="1737360"/>
            <a:ext cx="4160520" cy="2600325"/>
          </a:xfrm>
          <a:prstGeom prst="rect">
            <a:avLst/>
          </a:prstGeom>
        </p:spPr>
      </p:pic>
      <p:sp>
        <p:nvSpPr>
          <p:cNvPr id="10" name="Shape 7"/>
          <p:cNvSpPr/>
          <p:nvPr/>
        </p:nvSpPr>
        <p:spPr>
          <a:xfrm rot="78000">
            <a:off x="4672584" y="1673352"/>
            <a:ext cx="4233672" cy="2947797"/>
          </a:xfrm>
          <a:prstGeom prst="roundRect">
            <a:avLst>
              <a:gd name="adj" fmla="val 2792"/>
            </a:avLst>
          </a:prstGeom>
          <a:solidFill>
            <a:srgbClr val="12131C"/>
          </a:solidFill>
          <a:ln w="9525">
            <a:solidFill>
              <a:srgbClr val="FFFFFF">
                <a:alpha val="18000"/>
              </a:srgbClr>
            </a:solidFill>
            <a:prstDash val="solid"/>
          </a:ln>
          <a:effectLst>
            <a:outerShdw blurRad="355600" dist="177800" dir="5400000" algn="bl" rotWithShape="0">
              <a:srgbClr val="000000">
                <a:alpha val="55000"/>
              </a:srgbClr>
            </a:outerShdw>
          </a:effectLst>
        </p:spPr>
        <p:txBody>
          <a:bodyPr/>
          <a:lstStyle/>
          <a:p>
            <a:endParaRPr lang="fr-FR"/>
          </a:p>
        </p:txBody>
      </p:sp>
      <p:sp>
        <p:nvSpPr>
          <p:cNvPr id="11" name="Shape 8"/>
          <p:cNvSpPr/>
          <p:nvPr/>
        </p:nvSpPr>
        <p:spPr>
          <a:xfrm rot="78000">
            <a:off x="4642050" y="1578690"/>
            <a:ext cx="4233672" cy="256032"/>
          </a:xfrm>
          <a:prstGeom prst="roundRect">
            <a:avLst/>
          </a:prstGeom>
          <a:solidFill>
            <a:srgbClr val="1B1D2B"/>
          </a:solidFill>
          <a:ln/>
        </p:spPr>
        <p:txBody>
          <a:bodyPr/>
          <a:lstStyle/>
          <a:p>
            <a:endParaRPr lang="fr-FR"/>
          </a:p>
        </p:txBody>
      </p:sp>
      <p:sp>
        <p:nvSpPr>
          <p:cNvPr id="12" name="Shape 9"/>
          <p:cNvSpPr/>
          <p:nvPr/>
        </p:nvSpPr>
        <p:spPr>
          <a:xfrm rot="78000">
            <a:off x="4678626" y="1665558"/>
            <a:ext cx="82296" cy="82296"/>
          </a:xfrm>
          <a:prstGeom prst="ellipse">
            <a:avLst/>
          </a:prstGeom>
          <a:solidFill>
            <a:srgbClr val="FF6B6B"/>
          </a:solidFill>
          <a:ln/>
        </p:spPr>
        <p:txBody>
          <a:bodyPr/>
          <a:lstStyle/>
          <a:p>
            <a:endParaRPr lang="fr-FR"/>
          </a:p>
        </p:txBody>
      </p:sp>
      <p:sp>
        <p:nvSpPr>
          <p:cNvPr id="13" name="Shape 10"/>
          <p:cNvSpPr/>
          <p:nvPr/>
        </p:nvSpPr>
        <p:spPr>
          <a:xfrm rot="78000">
            <a:off x="4834074" y="1665558"/>
            <a:ext cx="82296" cy="82296"/>
          </a:xfrm>
          <a:prstGeom prst="ellipse">
            <a:avLst/>
          </a:prstGeom>
          <a:solidFill>
            <a:srgbClr val="F59E0B"/>
          </a:solidFill>
          <a:ln/>
        </p:spPr>
        <p:txBody>
          <a:bodyPr/>
          <a:lstStyle/>
          <a:p>
            <a:endParaRPr lang="fr-FR"/>
          </a:p>
        </p:txBody>
      </p:sp>
      <p:sp>
        <p:nvSpPr>
          <p:cNvPr id="14" name="Shape 11"/>
          <p:cNvSpPr/>
          <p:nvPr/>
        </p:nvSpPr>
        <p:spPr>
          <a:xfrm rot="78000">
            <a:off x="4989522" y="1665558"/>
            <a:ext cx="82296" cy="82296"/>
          </a:xfrm>
          <a:prstGeom prst="ellipse">
            <a:avLst/>
          </a:prstGeom>
          <a:solidFill>
            <a:srgbClr val="10B981"/>
          </a:solidFill>
          <a:ln/>
        </p:spPr>
        <p:txBody>
          <a:bodyPr/>
          <a:lstStyle/>
          <a:p>
            <a:endParaRPr lang="fr-FR"/>
          </a:p>
        </p:txBody>
      </p:sp>
      <p:pic>
        <p:nvPicPr>
          <p:cNvPr id="15" name="Image 1" descr="preencoded.png"/>
          <p:cNvPicPr>
            <a:picLocks noChangeAspect="1"/>
          </p:cNvPicPr>
          <p:nvPr/>
        </p:nvPicPr>
        <p:blipFill>
          <a:blip r:embed="rId4"/>
          <a:stretch>
            <a:fillRect/>
          </a:stretch>
        </p:blipFill>
        <p:spPr>
          <a:xfrm rot="78000">
            <a:off x="4678626" y="1871298"/>
            <a:ext cx="4160520" cy="2600325"/>
          </a:xfrm>
          <a:prstGeom prst="rect">
            <a:avLst/>
          </a:prstGeom>
        </p:spPr>
      </p:pic>
      <p:sp>
        <p:nvSpPr>
          <p:cNvPr id="16" name="Text 12"/>
          <p:cNvSpPr/>
          <p:nvPr/>
        </p:nvSpPr>
        <p:spPr>
          <a:xfrm>
            <a:off x="502920" y="4434840"/>
            <a:ext cx="4023360" cy="54864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Central Messaging Workspace — one inbox for all companies, real-time WebSocket delivery.</a:t>
            </a:r>
            <a:endParaRPr lang="en-US" sz="950"/>
          </a:p>
        </p:txBody>
      </p:sp>
      <p:sp>
        <p:nvSpPr>
          <p:cNvPr id="17" name="Text 13"/>
          <p:cNvSpPr/>
          <p:nvPr/>
        </p:nvSpPr>
        <p:spPr>
          <a:xfrm>
            <a:off x="4709160" y="4434840"/>
            <a:ext cx="4023360" cy="548640"/>
          </a:xfrm>
          <a:prstGeom prst="rect">
            <a:avLst/>
          </a:prstGeom>
          <a:noFill/>
          <a:ln/>
        </p:spPr>
        <p:txBody>
          <a:bodyPr wrap="square" lIns="0" tIns="0" rIns="0" bIns="0" rtlCol="0" anchor="ctr"/>
          <a:lstStyle/>
          <a:p>
            <a:pPr marL="0" indent="0" algn="l">
              <a:buNone/>
            </a:pPr>
            <a:r>
              <a:rPr lang="en-US" sz="950">
                <a:solidFill>
                  <a:srgbClr val="8890A6"/>
                </a:solidFill>
                <a:latin typeface="Inter" pitchFamily="34" charset="0"/>
                <a:ea typeface="Inter" pitchFamily="34" charset="-122"/>
                <a:cs typeface="Inter" pitchFamily="34" charset="-120"/>
              </a:rPr>
              <a:t>HR Document Hub — categorised by type with inline PDF preview, no download needed.</a:t>
            </a:r>
            <a:endParaRPr lang="en-US" sz="95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10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10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childTnLst>
                                </p:cTn>
                              </p:par>
                              <p:par>
                                <p:cTn id="50" presetID="6" presetClass="entr" presetSubtype="32" fill="hold" grpId="0" nodeType="with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circle(out)">
                                      <p:cBhvr>
                                        <p:cTn id="52"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4">
    <p:bg>
      <p:bgPr>
        <a:solidFill>
          <a:srgbClr val="0B0E1A"/>
        </a:solidFill>
        <a:effectLst/>
      </p:bgPr>
    </p:bg>
    <p:spTree>
      <p:nvGrpSpPr>
        <p:cNvPr id="1" name=""/>
        <p:cNvGrpSpPr/>
        <p:nvPr/>
      </p:nvGrpSpPr>
      <p:grpSpPr>
        <a:xfrm>
          <a:off x="0" y="0"/>
          <a:ext cx="0" cy="0"/>
          <a:chOff x="0" y="0"/>
          <a:chExt cx="0" cy="0"/>
        </a:xfrm>
      </p:grpSpPr>
      <p:sp>
        <p:nvSpPr>
          <p:cNvPr id="2" name="GRAD::coralOrange2::blob::i"/>
          <p:cNvSpPr/>
          <p:nvPr/>
        </p:nvSpPr>
        <p:spPr>
          <a:xfrm>
            <a:off x="-1868893" y="2423160"/>
            <a:ext cx="5486400" cy="54864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521208" y="1965960"/>
            <a:ext cx="3657600" cy="91440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The actual programs, servers, and tools used to build and run the application.</a:t>
            </a:r>
            <a:endParaRPr lang="en-US" sz="1300"/>
          </a:p>
        </p:txBody>
      </p:sp>
      <p:pic>
        <p:nvPicPr>
          <p:cNvPr id="5" name="Image 0" descr="preencoded.png"/>
          <p:cNvPicPr>
            <a:picLocks noChangeAspect="1"/>
          </p:cNvPicPr>
          <p:nvPr/>
        </p:nvPicPr>
        <p:blipFill>
          <a:blip r:embed="rId3"/>
          <a:stretch>
            <a:fillRect/>
          </a:stretch>
        </p:blipFill>
        <p:spPr>
          <a:xfrm>
            <a:off x="1093065" y="3022810"/>
            <a:ext cx="2025510" cy="1284014"/>
          </a:xfrm>
          <a:prstGeom prst="rect">
            <a:avLst/>
          </a:prstGeom>
        </p:spPr>
      </p:pic>
      <p:grpSp>
        <p:nvGrpSpPr>
          <p:cNvPr id="32" name="Group 31">
            <a:extLst>
              <a:ext uri="{FF2B5EF4-FFF2-40B4-BE49-F238E27FC236}">
                <a16:creationId xmlns:a16="http://schemas.microsoft.com/office/drawing/2014/main" id="{AB58D794-A2B0-1850-0709-C49CAED78DFD}"/>
              </a:ext>
            </a:extLst>
          </p:cNvPr>
          <p:cNvGrpSpPr/>
          <p:nvPr/>
        </p:nvGrpSpPr>
        <p:grpSpPr>
          <a:xfrm>
            <a:off x="4846320" y="502920"/>
            <a:ext cx="3383280" cy="868680"/>
            <a:chOff x="4846320" y="502920"/>
            <a:chExt cx="3383280" cy="868680"/>
          </a:xfrm>
        </p:grpSpPr>
        <p:sp>
          <p:nvSpPr>
            <p:cNvPr id="6" name="ANIM::250::cardk"/>
            <p:cNvSpPr/>
            <p:nvPr/>
          </p:nvSpPr>
          <p:spPr>
            <a:xfrm>
              <a:off x="4846320" y="502920"/>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7" name="Shape 4"/>
            <p:cNvSpPr/>
            <p:nvPr/>
          </p:nvSpPr>
          <p:spPr>
            <a:xfrm>
              <a:off x="5047488" y="722376"/>
              <a:ext cx="438912" cy="438912"/>
            </a:xfrm>
            <a:prstGeom prst="ellipse">
              <a:avLst/>
            </a:prstGeom>
            <a:solidFill>
              <a:srgbClr val="FF6B6B">
                <a:alpha val="85000"/>
              </a:srgbClr>
            </a:solidFill>
            <a:ln/>
          </p:spPr>
          <p:txBody>
            <a:bodyPr/>
            <a:lstStyle/>
            <a:p>
              <a:endParaRPr lang="fr-FR"/>
            </a:p>
          </p:txBody>
        </p:sp>
        <p:sp>
          <p:nvSpPr>
            <p:cNvPr id="8" name="Text 5"/>
            <p:cNvSpPr/>
            <p:nvPr/>
          </p:nvSpPr>
          <p:spPr>
            <a:xfrm>
              <a:off x="5047488" y="722376"/>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9" name="Text 6"/>
            <p:cNvSpPr/>
            <p:nvPr/>
          </p:nvSpPr>
          <p:spPr>
            <a:xfrm>
              <a:off x="5623560" y="621792"/>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Local Testing</a:t>
              </a:r>
              <a:endParaRPr lang="en-US" sz="1300"/>
            </a:p>
          </p:txBody>
        </p:sp>
        <p:sp>
          <p:nvSpPr>
            <p:cNvPr id="10" name="Text 7"/>
            <p:cNvSpPr/>
            <p:nvPr/>
          </p:nvSpPr>
          <p:spPr>
            <a:xfrm>
              <a:off x="5623560" y="932688"/>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VS Code editor, Flutter SDK, and virtual emulators for testing screens.</a:t>
              </a:r>
              <a:endParaRPr lang="en-US" sz="950"/>
            </a:p>
          </p:txBody>
        </p:sp>
      </p:grpSp>
      <p:grpSp>
        <p:nvGrpSpPr>
          <p:cNvPr id="33" name="Group 32">
            <a:extLst>
              <a:ext uri="{FF2B5EF4-FFF2-40B4-BE49-F238E27FC236}">
                <a16:creationId xmlns:a16="http://schemas.microsoft.com/office/drawing/2014/main" id="{F036AE31-7EB2-E3FF-2F2B-C89CE08F0DBE}"/>
              </a:ext>
            </a:extLst>
          </p:cNvPr>
          <p:cNvGrpSpPr/>
          <p:nvPr/>
        </p:nvGrpSpPr>
        <p:grpSpPr>
          <a:xfrm>
            <a:off x="5440680" y="1481328"/>
            <a:ext cx="3383280" cy="868680"/>
            <a:chOff x="5440680" y="1481328"/>
            <a:chExt cx="3383280" cy="868680"/>
          </a:xfrm>
        </p:grpSpPr>
        <p:sp>
          <p:nvSpPr>
            <p:cNvPr id="11" name="ANIM::410::cardl"/>
            <p:cNvSpPr/>
            <p:nvPr/>
          </p:nvSpPr>
          <p:spPr>
            <a:xfrm>
              <a:off x="5440680" y="1481328"/>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2" name="Shape 9"/>
            <p:cNvSpPr/>
            <p:nvPr/>
          </p:nvSpPr>
          <p:spPr>
            <a:xfrm>
              <a:off x="5641848" y="1700784"/>
              <a:ext cx="438912" cy="438912"/>
            </a:xfrm>
            <a:prstGeom prst="ellipse">
              <a:avLst/>
            </a:prstGeom>
            <a:solidFill>
              <a:srgbClr val="F59E0B">
                <a:alpha val="85000"/>
              </a:srgbClr>
            </a:solidFill>
            <a:ln/>
          </p:spPr>
          <p:txBody>
            <a:bodyPr/>
            <a:lstStyle/>
            <a:p>
              <a:endParaRPr lang="fr-FR"/>
            </a:p>
          </p:txBody>
        </p:sp>
        <p:sp>
          <p:nvSpPr>
            <p:cNvPr id="13" name="Text 10"/>
            <p:cNvSpPr/>
            <p:nvPr/>
          </p:nvSpPr>
          <p:spPr>
            <a:xfrm>
              <a:off x="5641848" y="1700784"/>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4" name="Text 11"/>
            <p:cNvSpPr/>
            <p:nvPr/>
          </p:nvSpPr>
          <p:spPr>
            <a:xfrm>
              <a:off x="6217920" y="1600200"/>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Web Server</a:t>
              </a:r>
              <a:endParaRPr lang="en-US" sz="1300"/>
            </a:p>
          </p:txBody>
        </p:sp>
        <p:sp>
          <p:nvSpPr>
            <p:cNvPr id="15" name="Text 12"/>
            <p:cNvSpPr/>
            <p:nvPr/>
          </p:nvSpPr>
          <p:spPr>
            <a:xfrm>
              <a:off x="6217920" y="1911096"/>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Web administration panel deployed and hosted on Vercel cloud servers.</a:t>
              </a:r>
              <a:endParaRPr lang="en-US" sz="950"/>
            </a:p>
          </p:txBody>
        </p:sp>
      </p:grpSp>
      <p:grpSp>
        <p:nvGrpSpPr>
          <p:cNvPr id="34" name="Group 33">
            <a:extLst>
              <a:ext uri="{FF2B5EF4-FFF2-40B4-BE49-F238E27FC236}">
                <a16:creationId xmlns:a16="http://schemas.microsoft.com/office/drawing/2014/main" id="{9BD9284D-DD53-A2BB-3983-EC7DA53C168C}"/>
              </a:ext>
            </a:extLst>
          </p:cNvPr>
          <p:cNvGrpSpPr/>
          <p:nvPr/>
        </p:nvGrpSpPr>
        <p:grpSpPr>
          <a:xfrm>
            <a:off x="4886413" y="2468880"/>
            <a:ext cx="3383280" cy="868680"/>
            <a:chOff x="4886413" y="2468880"/>
            <a:chExt cx="3383280" cy="868680"/>
          </a:xfrm>
        </p:grpSpPr>
        <p:sp>
          <p:nvSpPr>
            <p:cNvPr id="16" name="ANIM::570::cardm"/>
            <p:cNvSpPr/>
            <p:nvPr/>
          </p:nvSpPr>
          <p:spPr>
            <a:xfrm>
              <a:off x="4886413" y="2468880"/>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Shape 14"/>
            <p:cNvSpPr/>
            <p:nvPr/>
          </p:nvSpPr>
          <p:spPr>
            <a:xfrm>
              <a:off x="5047488" y="2679192"/>
              <a:ext cx="438912" cy="438912"/>
            </a:xfrm>
            <a:prstGeom prst="ellipse">
              <a:avLst/>
            </a:prstGeom>
            <a:solidFill>
              <a:srgbClr val="EC4899">
                <a:alpha val="85000"/>
              </a:srgbClr>
            </a:solidFill>
            <a:ln/>
          </p:spPr>
          <p:txBody>
            <a:bodyPr/>
            <a:lstStyle/>
            <a:p>
              <a:endParaRPr lang="fr-FR"/>
            </a:p>
          </p:txBody>
        </p:sp>
        <p:sp>
          <p:nvSpPr>
            <p:cNvPr id="18" name="Text 15"/>
            <p:cNvSpPr/>
            <p:nvPr/>
          </p:nvSpPr>
          <p:spPr>
            <a:xfrm>
              <a:off x="5047488" y="2679192"/>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19" name="Text 16"/>
            <p:cNvSpPr/>
            <p:nvPr/>
          </p:nvSpPr>
          <p:spPr>
            <a:xfrm>
              <a:off x="5623560" y="2578608"/>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Backend Cloud</a:t>
              </a:r>
              <a:endParaRPr lang="en-US" sz="1300"/>
            </a:p>
          </p:txBody>
        </p:sp>
        <p:sp>
          <p:nvSpPr>
            <p:cNvPr id="20" name="Text 17"/>
            <p:cNvSpPr/>
            <p:nvPr/>
          </p:nvSpPr>
          <p:spPr>
            <a:xfrm>
              <a:off x="5623560" y="2889504"/>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Supabase platform hosting our database, logins, and files.</a:t>
              </a:r>
              <a:endParaRPr lang="en-US" sz="950"/>
            </a:p>
          </p:txBody>
        </p:sp>
      </p:grpSp>
      <p:grpSp>
        <p:nvGrpSpPr>
          <p:cNvPr id="35" name="Group 34">
            <a:extLst>
              <a:ext uri="{FF2B5EF4-FFF2-40B4-BE49-F238E27FC236}">
                <a16:creationId xmlns:a16="http://schemas.microsoft.com/office/drawing/2014/main" id="{C328776C-340C-F661-F9D7-C182AFA99F11}"/>
              </a:ext>
            </a:extLst>
          </p:cNvPr>
          <p:cNvGrpSpPr/>
          <p:nvPr/>
        </p:nvGrpSpPr>
        <p:grpSpPr>
          <a:xfrm>
            <a:off x="5440680" y="3438144"/>
            <a:ext cx="3383280" cy="868680"/>
            <a:chOff x="5440680" y="3438144"/>
            <a:chExt cx="3383280" cy="868680"/>
          </a:xfrm>
        </p:grpSpPr>
        <p:sp>
          <p:nvSpPr>
            <p:cNvPr id="21" name="ANIM::730::cardn"/>
            <p:cNvSpPr/>
            <p:nvPr/>
          </p:nvSpPr>
          <p:spPr>
            <a:xfrm>
              <a:off x="5440680" y="3438144"/>
              <a:ext cx="3383280" cy="868680"/>
            </a:xfrm>
            <a:prstGeom prst="roundRect">
              <a:avLst>
                <a:gd name="adj" fmla="val 16842"/>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22" name="Shape 19"/>
            <p:cNvSpPr/>
            <p:nvPr/>
          </p:nvSpPr>
          <p:spPr>
            <a:xfrm>
              <a:off x="5641848" y="3657600"/>
              <a:ext cx="438912" cy="438912"/>
            </a:xfrm>
            <a:prstGeom prst="ellipse">
              <a:avLst/>
            </a:prstGeom>
            <a:solidFill>
              <a:srgbClr val="8B5CF6">
                <a:alpha val="85000"/>
              </a:srgbClr>
            </a:solidFill>
            <a:ln/>
          </p:spPr>
          <p:txBody>
            <a:bodyPr/>
            <a:lstStyle/>
            <a:p>
              <a:endParaRPr lang="fr-FR"/>
            </a:p>
          </p:txBody>
        </p:sp>
        <p:sp>
          <p:nvSpPr>
            <p:cNvPr id="23" name="Text 20"/>
            <p:cNvSpPr/>
            <p:nvPr/>
          </p:nvSpPr>
          <p:spPr>
            <a:xfrm>
              <a:off x="5641848" y="3657600"/>
              <a:ext cx="438912" cy="438912"/>
            </a:xfrm>
            <a:prstGeom prst="rect">
              <a:avLst/>
            </a:prstGeom>
            <a:noFill/>
            <a:ln/>
          </p:spPr>
          <p:txBody>
            <a:bodyPr wrap="square" lIns="0" tIns="0" rIns="0" bIns="0" rtlCol="0" anchor="ctr"/>
            <a:lstStyle/>
            <a:p>
              <a:pPr marL="0" indent="0" algn="ctr">
                <a:buNone/>
              </a:pPr>
              <a:r>
                <a:rPr lang="en-US" sz="1800" b="1">
                  <a:solidFill>
                    <a:srgbClr val="0B0E1A"/>
                  </a:solidFill>
                </a:rPr>
                <a:t>◫</a:t>
              </a:r>
              <a:endParaRPr lang="en-US" sz="1800"/>
            </a:p>
          </p:txBody>
        </p:sp>
        <p:sp>
          <p:nvSpPr>
            <p:cNvPr id="24" name="Text 21"/>
            <p:cNvSpPr/>
            <p:nvPr/>
          </p:nvSpPr>
          <p:spPr>
            <a:xfrm>
              <a:off x="6217920" y="3557016"/>
              <a:ext cx="2468880" cy="310896"/>
            </a:xfrm>
            <a:prstGeom prst="rect">
              <a:avLst/>
            </a:prstGeom>
            <a:noFill/>
            <a:ln/>
          </p:spPr>
          <p:txBody>
            <a:bodyPr wrap="square" lIns="0" tIns="0" rIns="0" bIns="0" rtlCol="0" anchor="ctr"/>
            <a:lstStyle/>
            <a:p>
              <a:pPr marL="0" indent="0" algn="l">
                <a:buNone/>
              </a:pPr>
              <a:r>
                <a:rPr lang="en-US" sz="1300" b="1">
                  <a:solidFill>
                    <a:srgbClr val="FFFFFF"/>
                  </a:solidFill>
                  <a:latin typeface="Sora"/>
                  <a:ea typeface="Sora"/>
                  <a:cs typeface="Sora"/>
                </a:rPr>
                <a:t>Code Storage</a:t>
              </a:r>
              <a:endParaRPr lang="en-US" sz="1300"/>
            </a:p>
          </p:txBody>
        </p:sp>
        <p:sp>
          <p:nvSpPr>
            <p:cNvPr id="25" name="Text 22"/>
            <p:cNvSpPr/>
            <p:nvPr/>
          </p:nvSpPr>
          <p:spPr>
            <a:xfrm>
              <a:off x="6217920" y="3867912"/>
              <a:ext cx="2468880" cy="365760"/>
            </a:xfrm>
            <a:prstGeom prst="rect">
              <a:avLst/>
            </a:prstGeom>
            <a:noFill/>
            <a:ln/>
          </p:spPr>
          <p:txBody>
            <a:bodyPr wrap="square" lIns="0" tIns="0" rIns="0" bIns="0" rtlCol="0" anchor="ctr"/>
            <a:lstStyle/>
            <a:p>
              <a:pPr marL="0" indent="0" algn="l">
                <a:buNone/>
              </a:pPr>
              <a:r>
                <a:rPr lang="en-US" sz="950">
                  <a:solidFill>
                    <a:srgbClr val="8890A6"/>
                  </a:solidFill>
                  <a:latin typeface="Inter"/>
                  <a:ea typeface="Inter"/>
                  <a:cs typeface="Inter"/>
                </a:rPr>
                <a:t>Git and GitHub for storing and tracking code changes during development.</a:t>
              </a:r>
              <a:endParaRPr lang="en-US" sz="950"/>
            </a:p>
          </p:txBody>
        </p:sp>
      </p:grpSp>
      <p:sp>
        <p:nvSpPr>
          <p:cNvPr id="31" name="ANIM::0::hj">
            <a:extLst>
              <a:ext uri="{FF2B5EF4-FFF2-40B4-BE49-F238E27FC236}">
                <a16:creationId xmlns:a16="http://schemas.microsoft.com/office/drawing/2014/main" id="{60D2DFFA-97BA-E4E2-464F-12B33A37D83F}"/>
              </a:ext>
            </a:extLst>
          </p:cNvPr>
          <p:cNvSpPr/>
          <p:nvPr/>
        </p:nvSpPr>
        <p:spPr>
          <a:xfrm>
            <a:off x="521208" y="587181"/>
            <a:ext cx="4114800" cy="146304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Execution &amp; Deployment Environment</a:t>
            </a:r>
            <a:endParaRPr lang="en-US" sz="26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fill="hold"/>
                                        <p:tgtEl>
                                          <p:spTgt spid="32"/>
                                        </p:tgtEl>
                                        <p:attrNameLst>
                                          <p:attrName>ppt_x</p:attrName>
                                        </p:attrNameLst>
                                      </p:cBhvr>
                                      <p:tavLst>
                                        <p:tav tm="0">
                                          <p:val>
                                            <p:strVal val="1+#ppt_w/2"/>
                                          </p:val>
                                        </p:tav>
                                        <p:tav tm="100000">
                                          <p:val>
                                            <p:strVal val="#ppt_x"/>
                                          </p:val>
                                        </p:tav>
                                      </p:tavLst>
                                    </p:anim>
                                    <p:anim calcmode="lin" valueType="num">
                                      <p:cBhvr additive="base">
                                        <p:cTn id="8" dur="1000" fill="hold"/>
                                        <p:tgtEl>
                                          <p:spTgt spid="3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1000" fill="hold"/>
                                        <p:tgtEl>
                                          <p:spTgt spid="33"/>
                                        </p:tgtEl>
                                        <p:attrNameLst>
                                          <p:attrName>ppt_x</p:attrName>
                                        </p:attrNameLst>
                                      </p:cBhvr>
                                      <p:tavLst>
                                        <p:tav tm="0">
                                          <p:val>
                                            <p:strVal val="1+#ppt_w/2"/>
                                          </p:val>
                                        </p:tav>
                                        <p:tav tm="100000">
                                          <p:val>
                                            <p:strVal val="#ppt_x"/>
                                          </p:val>
                                        </p:tav>
                                      </p:tavLst>
                                    </p:anim>
                                    <p:anim calcmode="lin" valueType="num">
                                      <p:cBhvr additive="base">
                                        <p:cTn id="13" dur="1000" fill="hold"/>
                                        <p:tgtEl>
                                          <p:spTgt spid="33"/>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2"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1000" fill="hold"/>
                                        <p:tgtEl>
                                          <p:spTgt spid="34"/>
                                        </p:tgtEl>
                                        <p:attrNameLst>
                                          <p:attrName>ppt_x</p:attrName>
                                        </p:attrNameLst>
                                      </p:cBhvr>
                                      <p:tavLst>
                                        <p:tav tm="0">
                                          <p:val>
                                            <p:strVal val="1+#ppt_w/2"/>
                                          </p:val>
                                        </p:tav>
                                        <p:tav tm="100000">
                                          <p:val>
                                            <p:strVal val="#ppt_x"/>
                                          </p:val>
                                        </p:tav>
                                      </p:tavLst>
                                    </p:anim>
                                    <p:anim calcmode="lin" valueType="num">
                                      <p:cBhvr additive="base">
                                        <p:cTn id="18" dur="1000" fill="hold"/>
                                        <p:tgtEl>
                                          <p:spTgt spid="34"/>
                                        </p:tgtEl>
                                        <p:attrNameLst>
                                          <p:attrName>ppt_y</p:attrName>
                                        </p:attrNameLst>
                                      </p:cBhvr>
                                      <p:tavLst>
                                        <p:tav tm="0">
                                          <p:val>
                                            <p:strVal val="#ppt_y"/>
                                          </p:val>
                                        </p:tav>
                                        <p:tav tm="100000">
                                          <p:val>
                                            <p:strVal val="#ppt_y"/>
                                          </p:val>
                                        </p:tav>
                                      </p:tavLst>
                                    </p:anim>
                                  </p:childTnLst>
                                </p:cTn>
                              </p:par>
                            </p:childTnLst>
                          </p:cTn>
                        </p:par>
                        <p:par>
                          <p:cTn id="19" fill="hold">
                            <p:stCondLst>
                              <p:cond delay="3000"/>
                            </p:stCondLst>
                            <p:childTnLst>
                              <p:par>
                                <p:cTn id="20" presetID="2" presetClass="entr" presetSubtype="2"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 calcmode="lin" valueType="num">
                                      <p:cBhvr additive="base">
                                        <p:cTn id="22" dur="1000" fill="hold"/>
                                        <p:tgtEl>
                                          <p:spTgt spid="35"/>
                                        </p:tgtEl>
                                        <p:attrNameLst>
                                          <p:attrName>ppt_x</p:attrName>
                                        </p:attrNameLst>
                                      </p:cBhvr>
                                      <p:tavLst>
                                        <p:tav tm="0">
                                          <p:val>
                                            <p:strVal val="1+#ppt_w/2"/>
                                          </p:val>
                                        </p:tav>
                                        <p:tav tm="100000">
                                          <p:val>
                                            <p:strVal val="#ppt_x"/>
                                          </p:val>
                                        </p:tav>
                                      </p:tavLst>
                                    </p:anim>
                                    <p:anim calcmode="lin" valueType="num">
                                      <p:cBhvr additive="base">
                                        <p:cTn id="23" dur="1000" fill="hold"/>
                                        <p:tgtEl>
                                          <p:spTgt spid="35"/>
                                        </p:tgtEl>
                                        <p:attrNameLst>
                                          <p:attrName>ppt_y</p:attrName>
                                        </p:attrNameLst>
                                      </p:cBhvr>
                                      <p:tavLst>
                                        <p:tav tm="0">
                                          <p:val>
                                            <p:strVal val="#ppt_y"/>
                                          </p:val>
                                        </p:tav>
                                        <p:tav tm="100000">
                                          <p:val>
                                            <p:strVal val="#ppt_y"/>
                                          </p:val>
                                        </p:tav>
                                      </p:tavLst>
                                    </p:anim>
                                  </p:childTnLst>
                                </p:cTn>
                              </p:par>
                              <p:par>
                                <p:cTn id="24" presetID="2" presetClass="entr" presetSubtype="3"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1250" fill="hold"/>
                                        <p:tgtEl>
                                          <p:spTgt spid="2"/>
                                        </p:tgtEl>
                                        <p:attrNameLst>
                                          <p:attrName>ppt_x</p:attrName>
                                        </p:attrNameLst>
                                      </p:cBhvr>
                                      <p:tavLst>
                                        <p:tav tm="0">
                                          <p:val>
                                            <p:strVal val="1+#ppt_w/2"/>
                                          </p:val>
                                        </p:tav>
                                        <p:tav tm="100000">
                                          <p:val>
                                            <p:strVal val="#ppt_x"/>
                                          </p:val>
                                        </p:tav>
                                      </p:tavLst>
                                    </p:anim>
                                    <p:anim calcmode="lin" valueType="num">
                                      <p:cBhvr additive="base">
                                        <p:cTn id="27" dur="1250" fill="hold"/>
                                        <p:tgtEl>
                                          <p:spTgt spid="2"/>
                                        </p:tgtEl>
                                        <p:attrNameLst>
                                          <p:attrName>ppt_y</p:attrName>
                                        </p:attrNameLst>
                                      </p:cBhvr>
                                      <p:tavLst>
                                        <p:tav tm="0">
                                          <p:val>
                                            <p:strVal val="0-#ppt_h/2"/>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1000"/>
                                        <p:tgtEl>
                                          <p:spTgt spid="4"/>
                                        </p:tgtEl>
                                      </p:cBhvr>
                                    </p:animEffect>
                                  </p:childTnLst>
                                </p:cTn>
                              </p:par>
                              <p:par>
                                <p:cTn id="31" presetID="10"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p:bldP spid="11" grpId="0"/>
      <p:bldP spid="16" grpId="0"/>
      <p:bldP spid="21" grpId="0"/>
      <p:bldP spid="31"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3">
    <p:bg>
      <p:bgPr>
        <a:solidFill>
          <a:srgbClr val="0B0E1A"/>
        </a:solidFill>
        <a:effectLst/>
      </p:bgPr>
    </p:bg>
    <p:spTree>
      <p:nvGrpSpPr>
        <p:cNvPr id="1" name=""/>
        <p:cNvGrpSpPr/>
        <p:nvPr/>
      </p:nvGrpSpPr>
      <p:grpSpPr>
        <a:xfrm>
          <a:off x="0" y="0"/>
          <a:ext cx="0" cy="0"/>
          <a:chOff x="0" y="0"/>
          <a:chExt cx="0" cy="0"/>
        </a:xfrm>
      </p:grpSpPr>
      <p:sp>
        <p:nvSpPr>
          <p:cNvPr id="2" name="GRAD::coralOrange::blob::e"/>
          <p:cNvSpPr/>
          <p:nvPr/>
        </p:nvSpPr>
        <p:spPr>
          <a:xfrm>
            <a:off x="-2467440" y="-1747620"/>
            <a:ext cx="6400800" cy="6400800"/>
          </a:xfrm>
          <a:prstGeom prst="ellipse">
            <a:avLst/>
          </a:prstGeom>
          <a:gradFill rotWithShape="1">
            <a:gsLst>
              <a:gs pos="0">
                <a:srgbClr val="FF6B6B">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GRAD::coralOrange2::blob::f"/>
          <p:cNvSpPr/>
          <p:nvPr/>
        </p:nvSpPr>
        <p:spPr>
          <a:xfrm>
            <a:off x="5486400" y="1828800"/>
            <a:ext cx="5943600" cy="5943600"/>
          </a:xfrm>
          <a:prstGeom prst="ellipse">
            <a:avLst/>
          </a:prstGeom>
          <a:gradFill rotWithShape="1">
            <a:gsLst>
              <a:gs pos="0">
                <a:srgbClr val="FF6B6B">
                  <a:alpha val="46000"/>
                </a:srgbClr>
              </a:gs>
              <a:gs pos="55000">
                <a:srgbClr val="F59E0B">
                  <a:alpha val="19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4" name="Text 2"/>
          <p:cNvSpPr/>
          <p:nvPr/>
        </p:nvSpPr>
        <p:spPr>
          <a:xfrm>
            <a:off x="-365760" y="457200"/>
            <a:ext cx="5943600" cy="4206240"/>
          </a:xfrm>
          <a:prstGeom prst="rect">
            <a:avLst/>
          </a:prstGeom>
          <a:noFill/>
          <a:ln/>
        </p:spPr>
        <p:txBody>
          <a:bodyPr wrap="square" lIns="0" tIns="0" rIns="0" bIns="0" rtlCol="0" anchor="ctr"/>
          <a:lstStyle/>
          <a:p>
            <a:pPr algn="l"/>
            <a:r>
              <a:rPr lang="en-US" sz="28000" b="1">
                <a:solidFill>
                  <a:srgbClr val="FFFFFF">
                    <a:alpha val="10000"/>
                  </a:srgbClr>
                </a:solidFill>
                <a:latin typeface="Sora"/>
                <a:ea typeface="Sora"/>
                <a:cs typeface="Sora"/>
              </a:rPr>
              <a:t>06</a:t>
            </a:r>
          </a:p>
        </p:txBody>
      </p:sp>
      <p:sp>
        <p:nvSpPr>
          <p:cNvPr id="5" name="Shape 3"/>
          <p:cNvSpPr/>
          <p:nvPr/>
        </p:nvSpPr>
        <p:spPr>
          <a:xfrm>
            <a:off x="4160520" y="1691640"/>
            <a:ext cx="182880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6" name="Text 4"/>
          <p:cNvSpPr/>
          <p:nvPr/>
        </p:nvSpPr>
        <p:spPr>
          <a:xfrm>
            <a:off x="4160520" y="1691640"/>
            <a:ext cx="1828800" cy="365760"/>
          </a:xfrm>
          <a:prstGeom prst="rect">
            <a:avLst/>
          </a:prstGeom>
          <a:noFill/>
          <a:ln/>
        </p:spPr>
        <p:txBody>
          <a:bodyPr wrap="square" lIns="0" tIns="0" rIns="0" bIns="0" rtlCol="0" anchor="ctr"/>
          <a:lstStyle/>
          <a:p>
            <a:pPr algn="l"/>
            <a:r>
              <a:rPr lang="en-US" sz="1000" b="1" spc="150">
                <a:solidFill>
                  <a:srgbClr val="8890A6"/>
                </a:solidFill>
                <a:latin typeface="Inter"/>
                <a:ea typeface="Inter"/>
                <a:cs typeface="Inter"/>
              </a:rPr>
              <a:t>           CHAPTER 06</a:t>
            </a:r>
          </a:p>
        </p:txBody>
      </p:sp>
      <p:sp>
        <p:nvSpPr>
          <p:cNvPr id="8" name="ANIM::450::subh"/>
          <p:cNvSpPr/>
          <p:nvPr/>
        </p:nvSpPr>
        <p:spPr>
          <a:xfrm>
            <a:off x="4160520" y="3659473"/>
            <a:ext cx="4206240" cy="365760"/>
          </a:xfrm>
          <a:prstGeom prst="rect">
            <a:avLst/>
          </a:prstGeom>
          <a:noFill/>
          <a:ln/>
        </p:spPr>
        <p:txBody>
          <a:bodyPr wrap="square" lIns="0" tIns="0" rIns="0" bIns="0" rtlCol="0" anchor="ctr"/>
          <a:lstStyle/>
          <a:p>
            <a:pPr marL="0" indent="0" algn="l">
              <a:buNone/>
            </a:pPr>
            <a:r>
              <a:rPr lang="en-US" sz="1300">
                <a:solidFill>
                  <a:srgbClr val="8890A6"/>
                </a:solidFill>
                <a:latin typeface="Inter"/>
                <a:ea typeface="Inter"/>
                <a:cs typeface="Inter"/>
              </a:rPr>
              <a:t>Testing results, live demonstration, and project wrap-up</a:t>
            </a:r>
            <a:endParaRPr lang="en-US" sz="1300"/>
          </a:p>
        </p:txBody>
      </p:sp>
      <p:sp>
        <p:nvSpPr>
          <p:cNvPr id="14" name="TextBox 13">
            <a:extLst>
              <a:ext uri="{FF2B5EF4-FFF2-40B4-BE49-F238E27FC236}">
                <a16:creationId xmlns:a16="http://schemas.microsoft.com/office/drawing/2014/main" id="{495ADA72-95C4-FC40-39A4-3EB6B1957FDF}"/>
              </a:ext>
            </a:extLst>
          </p:cNvPr>
          <p:cNvSpPr txBox="1"/>
          <p:nvPr/>
        </p:nvSpPr>
        <p:spPr>
          <a:xfrm>
            <a:off x="4556880" y="2589950"/>
            <a:ext cx="4587120"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FFFFFF"/>
                </a:solidFill>
                <a:effectLst/>
                <a:uLnTx/>
                <a:uFillTx/>
                <a:latin typeface="Sora"/>
                <a:ea typeface="Sora"/>
                <a:cs typeface="Sora"/>
              </a:rPr>
              <a:t>Testing </a:t>
            </a:r>
            <a:endParaRPr kumimoji="0" lang="en-US" sz="2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ANIM::200::ttlg"/>
          <p:cNvSpPr/>
          <p:nvPr/>
        </p:nvSpPr>
        <p:spPr>
          <a:xfrm>
            <a:off x="-3154680" y="3082393"/>
            <a:ext cx="2862720" cy="1154160"/>
          </a:xfrm>
          <a:prstGeom prst="rect">
            <a:avLst/>
          </a:prstGeom>
          <a:noFill/>
          <a:ln/>
        </p:spPr>
        <p:txBody>
          <a:bodyPr wrap="square" lIns="0" tIns="0" rIns="0" bIns="0" rtlCol="0" anchor="ctr"/>
          <a:lstStyle/>
          <a:p>
            <a:pPr marL="0" indent="0" algn="l">
              <a:buNone/>
            </a:pPr>
            <a:endParaRPr lang="en-US" sz="2600"/>
          </a:p>
        </p:txBody>
      </p:sp>
    </p:spTree>
  </p:cSld>
  <p:clrMapOvr>
    <a:masterClrMapping/>
  </p:clrMapOvr>
  <mc:AlternateContent xmlns:mc="http://schemas.openxmlformats.org/markup-compatibility/2006" xmlns:p14="http://schemas.microsoft.com/office/powerpoint/2010/main">
    <mc:Choice Requires="p14">
      <p:transition spd="slow" p14:dur="1200">
        <p:extLst>
          <p:ext uri="{EAA6730D-07C4-43C0-AC2F-2B797B595A98}">
            <p159:prstTrans xmlns="" xmlns:p159="http://schemas.microsoft.com/office/powerpoint/2015/09/main" prst="morph"/>
          </p:ext>
        </p:extLst>
      </p:transition>
    </mc:Choice>
    <mc:Fallback xmlns="">
      <p:transition spd="slow">
        <p:extLst>
          <p:ext uri="{EAA6730D-07C4-43C0-AC2F-2B797B595A98}">
            <p159:prstTrans xmlns:p159="http://schemas.microsoft.com/office/powerpoint/2015/09/main" xmlns:p14="http://schemas.microsoft.com/office/powerpoint/2010/main" xmlns="" prst="morph"/>
          </p:ext>
        </p:extLs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childTnLst>
                                </p:cTn>
                              </p:par>
                              <p:par>
                                <p:cTn id="21" presetID="10" presetClass="entr"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p:bldP spid="8" grpId="1" animBg="1"/>
      <p:bldP spid="14"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name="Slide 16">
    <p:bg>
      <p:bgPr>
        <a:solidFill>
          <a:srgbClr val="0B0E1A"/>
        </a:solidFill>
        <a:effectLst/>
      </p:bgPr>
    </p:bg>
    <p:spTree>
      <p:nvGrpSpPr>
        <p:cNvPr id="1" name=""/>
        <p:cNvGrpSpPr/>
        <p:nvPr/>
      </p:nvGrpSpPr>
      <p:grpSpPr>
        <a:xfrm>
          <a:off x="0" y="0"/>
          <a:ext cx="0" cy="0"/>
          <a:chOff x="0" y="0"/>
          <a:chExt cx="0" cy="0"/>
        </a:xfrm>
      </p:grpSpPr>
      <p:sp>
        <p:nvSpPr>
          <p:cNvPr id="2" name="GRAD::cyanEmerald3::blob::1u"/>
          <p:cNvSpPr/>
          <p:nvPr/>
        </p:nvSpPr>
        <p:spPr>
          <a:xfrm>
            <a:off x="-1371600" y="2743200"/>
            <a:ext cx="5029200" cy="5029200"/>
          </a:xfrm>
          <a:prstGeom prst="ellipse">
            <a:avLst/>
          </a:prstGeom>
          <a:gradFill rotWithShape="1">
            <a:gsLst>
              <a:gs pos="0">
                <a:srgbClr val="22D3EE">
                  <a:alpha val="42000"/>
                </a:srgbClr>
              </a:gs>
              <a:gs pos="55000">
                <a:srgbClr val="10B981">
                  <a:alpha val="16000"/>
                </a:srgbClr>
              </a:gs>
              <a:gs pos="100000">
                <a:srgbClr val="10B981">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411480"/>
            <a:ext cx="7772400" cy="868680"/>
          </a:xfrm>
          <a:prstGeom prst="rect">
            <a:avLst/>
          </a:prstGeom>
          <a:noFill/>
          <a:ln/>
        </p:spPr>
        <p:txBody>
          <a:bodyPr wrap="square" lIns="0" tIns="0" rIns="0" bIns="0" rtlCol="0" anchor="ctr"/>
          <a:lstStyle/>
          <a:p>
            <a:pPr marL="0" indent="0" algn="l">
              <a:buNone/>
            </a:pPr>
            <a:r>
              <a:rPr lang="en-US" sz="2600" b="1">
                <a:solidFill>
                  <a:srgbClr val="FFFFFF"/>
                </a:solidFill>
                <a:latin typeface="Sora"/>
                <a:ea typeface="Sora"/>
                <a:cs typeface="Sora"/>
              </a:rPr>
              <a:t>Live Demo &amp;amp; Functional Validation</a:t>
            </a:r>
            <a:endParaRPr lang="en-US" sz="2600"/>
          </a:p>
        </p:txBody>
      </p:sp>
      <p:sp>
        <p:nvSpPr>
          <p:cNvPr id="4" name="Shape 2"/>
          <p:cNvSpPr/>
          <p:nvPr/>
        </p:nvSpPr>
        <p:spPr>
          <a:xfrm>
            <a:off x="621792" y="1190041"/>
            <a:ext cx="5663659" cy="3638130"/>
          </a:xfrm>
          <a:prstGeom prst="roundRect">
            <a:avLst>
              <a:gd name="adj" fmla="val 1970"/>
            </a:avLst>
          </a:prstGeom>
          <a:solidFill>
            <a:srgbClr val="12131C"/>
          </a:solidFill>
          <a:ln w="9525">
            <a:solidFill>
              <a:srgbClr val="FFFFFF">
                <a:alpha val="18000"/>
              </a:srgbClr>
            </a:solidFill>
            <a:prstDash val="solid"/>
          </a:ln>
          <a:effectLst>
            <a:outerShdw blurRad="355600" dist="177800" dir="5400000" algn="bl" rotWithShape="0">
              <a:srgbClr val="000000">
                <a:alpha val="55000"/>
              </a:srgbClr>
            </a:outerShdw>
          </a:effectLst>
        </p:spPr>
        <p:txBody>
          <a:bodyPr/>
          <a:lstStyle/>
          <a:p>
            <a:endParaRPr lang="fr-FR"/>
          </a:p>
        </p:txBody>
      </p:sp>
      <p:sp>
        <p:nvSpPr>
          <p:cNvPr id="5" name="Shape 3"/>
          <p:cNvSpPr/>
          <p:nvPr/>
        </p:nvSpPr>
        <p:spPr>
          <a:xfrm>
            <a:off x="621792" y="1190041"/>
            <a:ext cx="5663659" cy="223027"/>
          </a:xfrm>
          <a:prstGeom prst="roundRect">
            <a:avLst/>
          </a:prstGeom>
          <a:solidFill>
            <a:srgbClr val="1B1D2B"/>
          </a:solidFill>
          <a:ln/>
        </p:spPr>
        <p:txBody>
          <a:bodyPr/>
          <a:lstStyle/>
          <a:p>
            <a:endParaRPr lang="fr-FR"/>
          </a:p>
        </p:txBody>
      </p:sp>
      <p:sp>
        <p:nvSpPr>
          <p:cNvPr id="6" name="Shape 4"/>
          <p:cNvSpPr/>
          <p:nvPr/>
        </p:nvSpPr>
        <p:spPr>
          <a:xfrm>
            <a:off x="730504" y="1239607"/>
            <a:ext cx="138176" cy="136159"/>
          </a:xfrm>
          <a:prstGeom prst="ellipse">
            <a:avLst/>
          </a:prstGeom>
          <a:solidFill>
            <a:srgbClr val="FF6B6B"/>
          </a:solidFill>
          <a:ln/>
        </p:spPr>
        <p:txBody>
          <a:bodyPr/>
          <a:lstStyle/>
          <a:p>
            <a:endParaRPr lang="fr-FR"/>
          </a:p>
        </p:txBody>
      </p:sp>
      <p:sp>
        <p:nvSpPr>
          <p:cNvPr id="7" name="Shape 5"/>
          <p:cNvSpPr/>
          <p:nvPr/>
        </p:nvSpPr>
        <p:spPr>
          <a:xfrm>
            <a:off x="940816" y="1239607"/>
            <a:ext cx="138176" cy="136159"/>
          </a:xfrm>
          <a:prstGeom prst="ellipse">
            <a:avLst/>
          </a:prstGeom>
          <a:solidFill>
            <a:srgbClr val="F59E0B"/>
          </a:solidFill>
          <a:ln/>
        </p:spPr>
        <p:txBody>
          <a:bodyPr/>
          <a:lstStyle/>
          <a:p>
            <a:endParaRPr lang="fr-FR"/>
          </a:p>
        </p:txBody>
      </p:sp>
      <p:sp>
        <p:nvSpPr>
          <p:cNvPr id="8" name="Shape 6"/>
          <p:cNvSpPr/>
          <p:nvPr/>
        </p:nvSpPr>
        <p:spPr>
          <a:xfrm>
            <a:off x="1151128" y="1239607"/>
            <a:ext cx="138176" cy="136159"/>
          </a:xfrm>
          <a:prstGeom prst="ellipse">
            <a:avLst/>
          </a:prstGeom>
          <a:solidFill>
            <a:srgbClr val="10B981"/>
          </a:solidFill>
          <a:ln/>
        </p:spPr>
        <p:txBody>
          <a:bodyPr/>
          <a:lstStyle/>
          <a:p>
            <a:endParaRPr lang="fr-FR"/>
          </a:p>
        </p:txBody>
      </p:sp>
      <p:pic>
        <p:nvPicPr>
          <p:cNvPr id="9" name="Image 0" descr="preencoded.png"/>
          <p:cNvPicPr>
            <a:picLocks noChangeAspect="1"/>
          </p:cNvPicPr>
          <p:nvPr/>
        </p:nvPicPr>
        <p:blipFill>
          <a:blip r:embed="rId3"/>
          <a:stretch>
            <a:fillRect/>
          </a:stretch>
        </p:blipFill>
        <p:spPr>
          <a:xfrm>
            <a:off x="655205" y="1462634"/>
            <a:ext cx="5596831" cy="3498019"/>
          </a:xfrm>
          <a:prstGeom prst="rect">
            <a:avLst/>
          </a:prstGeom>
        </p:spPr>
      </p:pic>
      <p:grpSp>
        <p:nvGrpSpPr>
          <p:cNvPr id="21" name="Group 20">
            <a:extLst>
              <a:ext uri="{FF2B5EF4-FFF2-40B4-BE49-F238E27FC236}">
                <a16:creationId xmlns:a16="http://schemas.microsoft.com/office/drawing/2014/main" id="{694FE28B-8C21-D280-B8EC-D7764CA7B206}"/>
              </a:ext>
            </a:extLst>
          </p:cNvPr>
          <p:cNvGrpSpPr/>
          <p:nvPr/>
        </p:nvGrpSpPr>
        <p:grpSpPr>
          <a:xfrm>
            <a:off x="6903720" y="1413068"/>
            <a:ext cx="1832317" cy="1005840"/>
            <a:chOff x="6903720" y="1413068"/>
            <a:chExt cx="1832317" cy="1005840"/>
          </a:xfrm>
        </p:grpSpPr>
        <p:sp>
          <p:nvSpPr>
            <p:cNvPr id="10" name="ANIM::0::card1v"/>
            <p:cNvSpPr/>
            <p:nvPr/>
          </p:nvSpPr>
          <p:spPr>
            <a:xfrm>
              <a:off x="6903720" y="1413068"/>
              <a:ext cx="1832317" cy="100584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1" name="Text 8"/>
            <p:cNvSpPr/>
            <p:nvPr/>
          </p:nvSpPr>
          <p:spPr>
            <a:xfrm>
              <a:off x="6914271" y="1425026"/>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18 / 18 Tests</a:t>
              </a:r>
              <a:endParaRPr lang="en-US" sz="1300"/>
            </a:p>
          </p:txBody>
        </p:sp>
        <p:sp>
          <p:nvSpPr>
            <p:cNvPr id="12" name="Text 9"/>
            <p:cNvSpPr/>
            <p:nvPr/>
          </p:nvSpPr>
          <p:spPr>
            <a:xfrm>
              <a:off x="7033143" y="1955378"/>
              <a:ext cx="1618488"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All 18 tests (login, RLS, offline sync) passed</a:t>
              </a:r>
              <a:endParaRPr lang="en-US" sz="950"/>
            </a:p>
          </p:txBody>
        </p:sp>
      </p:grpSp>
      <p:grpSp>
        <p:nvGrpSpPr>
          <p:cNvPr id="20" name="Group 19">
            <a:extLst>
              <a:ext uri="{FF2B5EF4-FFF2-40B4-BE49-F238E27FC236}">
                <a16:creationId xmlns:a16="http://schemas.microsoft.com/office/drawing/2014/main" id="{57789461-B427-992C-936A-96F62AE7B36F}"/>
              </a:ext>
            </a:extLst>
          </p:cNvPr>
          <p:cNvGrpSpPr/>
          <p:nvPr/>
        </p:nvGrpSpPr>
        <p:grpSpPr>
          <a:xfrm>
            <a:off x="6903720" y="2583500"/>
            <a:ext cx="1832317" cy="1005840"/>
            <a:chOff x="6903720" y="2583500"/>
            <a:chExt cx="1832317" cy="1005840"/>
          </a:xfrm>
        </p:grpSpPr>
        <p:sp>
          <p:nvSpPr>
            <p:cNvPr id="13" name="ANIM::160::card1w"/>
            <p:cNvSpPr/>
            <p:nvPr/>
          </p:nvSpPr>
          <p:spPr>
            <a:xfrm>
              <a:off x="6903720" y="2583500"/>
              <a:ext cx="1832317" cy="100584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4" name="Text 11"/>
            <p:cNvSpPr/>
            <p:nvPr/>
          </p:nvSpPr>
          <p:spPr>
            <a:xfrm>
              <a:off x="6914271" y="2595458"/>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Demo Video</a:t>
              </a:r>
              <a:endParaRPr lang="en-US" sz="1300"/>
            </a:p>
          </p:txBody>
        </p:sp>
        <p:sp>
          <p:nvSpPr>
            <p:cNvPr id="15" name="Text 12"/>
            <p:cNvSpPr/>
            <p:nvPr/>
          </p:nvSpPr>
          <p:spPr>
            <a:xfrm>
              <a:off x="6914271" y="3125810"/>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Real-time walkthrough of mobile and web apps</a:t>
              </a:r>
              <a:endParaRPr lang="en-US" sz="950"/>
            </a:p>
          </p:txBody>
        </p:sp>
      </p:grpSp>
      <p:grpSp>
        <p:nvGrpSpPr>
          <p:cNvPr id="19" name="Group 18">
            <a:extLst>
              <a:ext uri="{FF2B5EF4-FFF2-40B4-BE49-F238E27FC236}">
                <a16:creationId xmlns:a16="http://schemas.microsoft.com/office/drawing/2014/main" id="{838A626B-6967-F262-ED52-149E4062C00B}"/>
              </a:ext>
            </a:extLst>
          </p:cNvPr>
          <p:cNvGrpSpPr/>
          <p:nvPr/>
        </p:nvGrpSpPr>
        <p:grpSpPr>
          <a:xfrm>
            <a:off x="6903720" y="3753932"/>
            <a:ext cx="1832317" cy="1005840"/>
            <a:chOff x="6903720" y="3753932"/>
            <a:chExt cx="1832317" cy="1005840"/>
          </a:xfrm>
        </p:grpSpPr>
        <p:sp>
          <p:nvSpPr>
            <p:cNvPr id="16" name="ANIM::320::card1x"/>
            <p:cNvSpPr/>
            <p:nvPr/>
          </p:nvSpPr>
          <p:spPr>
            <a:xfrm>
              <a:off x="6903720" y="3753932"/>
              <a:ext cx="1832317" cy="1005840"/>
            </a:xfrm>
            <a:prstGeom prst="roundRect">
              <a:avLst>
                <a:gd name="adj" fmla="val 14545"/>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Text 14"/>
            <p:cNvSpPr/>
            <p:nvPr/>
          </p:nvSpPr>
          <p:spPr>
            <a:xfrm>
              <a:off x="6914271" y="3765890"/>
              <a:ext cx="1737360" cy="502920"/>
            </a:xfrm>
            <a:prstGeom prst="rect">
              <a:avLst/>
            </a:prstGeom>
            <a:noFill/>
            <a:ln/>
          </p:spPr>
          <p:txBody>
            <a:bodyPr wrap="square" lIns="0" tIns="0" rIns="0" bIns="0" rtlCol="0" anchor="ctr"/>
            <a:lstStyle/>
            <a:p>
              <a:pPr marL="0" indent="0" algn="ctr">
                <a:buNone/>
              </a:pPr>
              <a:r>
                <a:rPr lang="en-US" sz="1300" b="1">
                  <a:solidFill>
                    <a:srgbClr val="00D2C4"/>
                  </a:solidFill>
                  <a:latin typeface="Sora"/>
                  <a:ea typeface="Sora"/>
                  <a:cs typeface="Sora"/>
                </a:rPr>
                <a:t>Offline Caching</a:t>
              </a:r>
              <a:endParaRPr lang="en-US" sz="1300"/>
            </a:p>
          </p:txBody>
        </p:sp>
        <p:sp>
          <p:nvSpPr>
            <p:cNvPr id="18" name="Text 15"/>
            <p:cNvSpPr/>
            <p:nvPr/>
          </p:nvSpPr>
          <p:spPr>
            <a:xfrm>
              <a:off x="6914271" y="4296242"/>
              <a:ext cx="1737360" cy="274320"/>
            </a:xfrm>
            <a:prstGeom prst="rect">
              <a:avLst/>
            </a:prstGeom>
            <a:noFill/>
            <a:ln/>
          </p:spPr>
          <p:txBody>
            <a:bodyPr wrap="square" lIns="0" tIns="0" rIns="0" bIns="0" rtlCol="0" anchor="ctr"/>
            <a:lstStyle/>
            <a:p>
              <a:pPr marL="0" indent="0" algn="ctr">
                <a:buNone/>
              </a:pPr>
              <a:r>
                <a:rPr lang="en-US" sz="950">
                  <a:solidFill>
                    <a:srgbClr val="FFFFFF"/>
                  </a:solidFill>
                  <a:latin typeface="Inter"/>
                  <a:ea typeface="Inter"/>
                  <a:cs typeface="Inter"/>
                </a:rPr>
                <a:t>App saves check-ins offline and syncs automatically</a:t>
              </a:r>
              <a:endParaRPr lang="en-US" sz="95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fill="hold"/>
                                        <p:tgtEl>
                                          <p:spTgt spid="21"/>
                                        </p:tgtEl>
                                        <p:attrNameLst>
                                          <p:attrName>ppt_x</p:attrName>
                                        </p:attrNameLst>
                                      </p:cBhvr>
                                      <p:tavLst>
                                        <p:tav tm="0">
                                          <p:val>
                                            <p:strVal val="1+#ppt_w/2"/>
                                          </p:val>
                                        </p:tav>
                                        <p:tav tm="100000">
                                          <p:val>
                                            <p:strVal val="#ppt_x"/>
                                          </p:val>
                                        </p:tav>
                                      </p:tavLst>
                                    </p:anim>
                                    <p:anim calcmode="lin" valueType="num">
                                      <p:cBhvr additive="base">
                                        <p:cTn id="8" dur="10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1000" fill="hold"/>
                                        <p:tgtEl>
                                          <p:spTgt spid="20"/>
                                        </p:tgtEl>
                                        <p:attrNameLst>
                                          <p:attrName>ppt_x</p:attrName>
                                        </p:attrNameLst>
                                      </p:cBhvr>
                                      <p:tavLst>
                                        <p:tav tm="0">
                                          <p:val>
                                            <p:strVal val="1+#ppt_w/2"/>
                                          </p:val>
                                        </p:tav>
                                        <p:tav tm="100000">
                                          <p:val>
                                            <p:strVal val="#ppt_x"/>
                                          </p:val>
                                        </p:tav>
                                      </p:tavLst>
                                    </p:anim>
                                    <p:anim calcmode="lin" valueType="num">
                                      <p:cBhvr additive="base">
                                        <p:cTn id="13" dur="1000" fill="hold"/>
                                        <p:tgtEl>
                                          <p:spTgt spid="20"/>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2"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1000" fill="hold"/>
                                        <p:tgtEl>
                                          <p:spTgt spid="19"/>
                                        </p:tgtEl>
                                        <p:attrNameLst>
                                          <p:attrName>ppt_x</p:attrName>
                                        </p:attrNameLst>
                                      </p:cBhvr>
                                      <p:tavLst>
                                        <p:tav tm="0">
                                          <p:val>
                                            <p:strVal val="1+#ppt_w/2"/>
                                          </p:val>
                                        </p:tav>
                                        <p:tav tm="100000">
                                          <p:val>
                                            <p:strVal val="#ppt_x"/>
                                          </p:val>
                                        </p:tav>
                                      </p:tavLst>
                                    </p:anim>
                                    <p:anim calcmode="lin" valueType="num">
                                      <p:cBhvr additive="base">
                                        <p:cTn id="18" dur="10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0B0E1A"/>
        </a:solidFill>
        <a:effectLst/>
      </p:bgPr>
    </p:bg>
    <p:spTree>
      <p:nvGrpSpPr>
        <p:cNvPr id="1" name=""/>
        <p:cNvGrpSpPr/>
        <p:nvPr/>
      </p:nvGrpSpPr>
      <p:grpSpPr>
        <a:xfrm>
          <a:off x="0" y="0"/>
          <a:ext cx="0" cy="0"/>
          <a:chOff x="0" y="0"/>
          <a:chExt cx="0" cy="0"/>
        </a:xfrm>
      </p:grpSpPr>
      <p:sp>
        <p:nvSpPr>
          <p:cNvPr id="2" name="GRAD::goldPremium::blob::2d"/>
          <p:cNvSpPr/>
          <p:nvPr/>
        </p:nvSpPr>
        <p:spPr>
          <a:xfrm>
            <a:off x="-1677924" y="-1635369"/>
            <a:ext cx="5486400" cy="5486400"/>
          </a:xfrm>
          <a:prstGeom prst="ellipse">
            <a:avLst/>
          </a:prstGeom>
          <a:gradFill rotWithShape="1">
            <a:gsLst>
              <a:gs pos="0">
                <a:srgbClr val="E8C158">
                  <a:alpha val="50000"/>
                </a:srgbClr>
              </a:gs>
              <a:gs pos="55000">
                <a:srgbClr val="F59E0B">
                  <a:alpha val="22000"/>
                </a:srgbClr>
              </a:gs>
              <a:gs pos="100000">
                <a:srgbClr val="F59E0B">
                  <a:alpha val="0"/>
                </a:srgbClr>
              </a:gs>
            </a:gsLst>
            <a:path path="circle">
              <a:fillToRect l="50000" t="50000" r="50000" b="50000"/>
            </a:path>
          </a:gradFill>
          <a:ln/>
          <a:effectLst>
            <a:softEdge rad="380000"/>
          </a:effectLst>
        </p:spPr>
        <p:txBody>
          <a:bodyPr/>
          <a:lstStyle/>
          <a:p>
            <a:endParaRPr lang="fr-FR"/>
          </a:p>
        </p:txBody>
      </p:sp>
      <p:sp>
        <p:nvSpPr>
          <p:cNvPr id="3" name="Text 1"/>
          <p:cNvSpPr/>
          <p:nvPr/>
        </p:nvSpPr>
        <p:spPr>
          <a:xfrm>
            <a:off x="502920" y="384048"/>
            <a:ext cx="7772400" cy="502920"/>
          </a:xfrm>
          <a:prstGeom prst="rect">
            <a:avLst/>
          </a:prstGeom>
          <a:noFill/>
          <a:ln/>
        </p:spPr>
        <p:txBody>
          <a:bodyPr wrap="square" lIns="0" tIns="0" rIns="0" bIns="0" rtlCol="0" anchor="ctr"/>
          <a:lstStyle/>
          <a:p>
            <a:pPr marL="0" indent="0" algn="l">
              <a:buNone/>
            </a:pPr>
            <a:r>
              <a:rPr lang="en-US" sz="2300" b="1">
                <a:solidFill>
                  <a:srgbClr val="FFFFFF"/>
                </a:solidFill>
                <a:latin typeface="Sora" pitchFamily="34" charset="0"/>
                <a:ea typeface="Sora" pitchFamily="34" charset="-122"/>
                <a:cs typeface="Sora" pitchFamily="34" charset="-120"/>
              </a:rPr>
              <a:t>Delivered, and what's next</a:t>
            </a:r>
            <a:endParaRPr lang="en-US" sz="2300"/>
          </a:p>
        </p:txBody>
      </p:sp>
      <p:grpSp>
        <p:nvGrpSpPr>
          <p:cNvPr id="31" name="Group 30">
            <a:extLst>
              <a:ext uri="{FF2B5EF4-FFF2-40B4-BE49-F238E27FC236}">
                <a16:creationId xmlns:a16="http://schemas.microsoft.com/office/drawing/2014/main" id="{765FA936-130B-253A-1094-D2814BE94C03}"/>
              </a:ext>
            </a:extLst>
          </p:cNvPr>
          <p:cNvGrpSpPr/>
          <p:nvPr/>
        </p:nvGrpSpPr>
        <p:grpSpPr>
          <a:xfrm>
            <a:off x="502920" y="1097280"/>
            <a:ext cx="3931920" cy="1600200"/>
            <a:chOff x="502920" y="1097280"/>
            <a:chExt cx="3931920" cy="1600200"/>
          </a:xfrm>
        </p:grpSpPr>
        <p:sp>
          <p:nvSpPr>
            <p:cNvPr id="4" name="ANIM::0::card2e"/>
            <p:cNvSpPr/>
            <p:nvPr/>
          </p:nvSpPr>
          <p:spPr>
            <a:xfrm>
              <a:off x="502920" y="1097280"/>
              <a:ext cx="3931920" cy="731520"/>
            </a:xfrm>
            <a:prstGeom prst="roundRect">
              <a:avLst>
                <a:gd name="adj" fmla="val 20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5" name="Shape 3"/>
            <p:cNvSpPr/>
            <p:nvPr/>
          </p:nvSpPr>
          <p:spPr>
            <a:xfrm>
              <a:off x="685800" y="1316736"/>
              <a:ext cx="292608" cy="292608"/>
            </a:xfrm>
            <a:prstGeom prst="ellipse">
              <a:avLst/>
            </a:prstGeom>
            <a:solidFill>
              <a:srgbClr val="10B981">
                <a:alpha val="85000"/>
              </a:srgbClr>
            </a:solidFill>
            <a:ln/>
          </p:spPr>
          <p:txBody>
            <a:bodyPr/>
            <a:lstStyle/>
            <a:p>
              <a:endParaRPr lang="fr-FR"/>
            </a:p>
          </p:txBody>
        </p:sp>
        <p:sp>
          <p:nvSpPr>
            <p:cNvPr id="6" name="Text 4"/>
            <p:cNvSpPr/>
            <p:nvPr/>
          </p:nvSpPr>
          <p:spPr>
            <a:xfrm>
              <a:off x="685800" y="1316736"/>
              <a:ext cx="292608" cy="292608"/>
            </a:xfrm>
            <a:prstGeom prst="rect">
              <a:avLst/>
            </a:prstGeom>
            <a:noFill/>
            <a:ln/>
          </p:spPr>
          <p:txBody>
            <a:bodyPr wrap="square" lIns="0" tIns="0" rIns="0" bIns="0" rtlCol="0" anchor="ctr"/>
            <a:lstStyle/>
            <a:p>
              <a:pPr marL="0" indent="0" algn="ctr">
                <a:buNone/>
              </a:pPr>
              <a:r>
                <a:rPr lang="en-US" sz="1200" b="1">
                  <a:solidFill>
                    <a:srgbClr val="0B0E1A"/>
                  </a:solidFill>
                  <a:latin typeface="Inter" pitchFamily="34" charset="0"/>
                  <a:ea typeface="Inter" pitchFamily="34" charset="-122"/>
                  <a:cs typeface="Inter" pitchFamily="34" charset="-120"/>
                </a:rPr>
                <a:t>✓</a:t>
              </a:r>
              <a:endParaRPr lang="en-US" sz="1200"/>
            </a:p>
          </p:txBody>
        </p:sp>
        <p:sp>
          <p:nvSpPr>
            <p:cNvPr id="7" name="Text 5"/>
            <p:cNvSpPr/>
            <p:nvPr/>
          </p:nvSpPr>
          <p:spPr>
            <a:xfrm>
              <a:off x="1097280" y="1261872"/>
              <a:ext cx="3200400" cy="457200"/>
            </a:xfrm>
            <a:prstGeom prst="rect">
              <a:avLst/>
            </a:prstGeom>
            <a:noFill/>
            <a:ln/>
          </p:spPr>
          <p:txBody>
            <a:bodyPr wrap="square" lIns="0" tIns="0" rIns="0" bIns="0" rtlCol="0" anchor="ctr"/>
            <a:lstStyle/>
            <a:p>
              <a:pPr marL="0" indent="0" algn="l">
                <a:buNone/>
              </a:pPr>
              <a:r>
                <a:rPr lang="en-US" sz="1100" b="1">
                  <a:solidFill>
                    <a:srgbClr val="FFFFFF"/>
                  </a:solidFill>
                  <a:latin typeface="Sora" pitchFamily="34" charset="0"/>
                  <a:ea typeface="Sora" pitchFamily="34" charset="-122"/>
                  <a:cs typeface="Sora" pitchFamily="34" charset="-120"/>
                </a:rPr>
                <a:t>Full mobile app — auth to warnings</a:t>
              </a:r>
              <a:endParaRPr lang="en-US" sz="1100"/>
            </a:p>
          </p:txBody>
        </p:sp>
        <p:sp>
          <p:nvSpPr>
            <p:cNvPr id="12" name="ANIM::260::card2g"/>
            <p:cNvSpPr/>
            <p:nvPr/>
          </p:nvSpPr>
          <p:spPr>
            <a:xfrm>
              <a:off x="502920" y="1965960"/>
              <a:ext cx="3931920" cy="731520"/>
            </a:xfrm>
            <a:prstGeom prst="roundRect">
              <a:avLst>
                <a:gd name="adj" fmla="val 20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3" name="Shape 11"/>
            <p:cNvSpPr/>
            <p:nvPr/>
          </p:nvSpPr>
          <p:spPr>
            <a:xfrm>
              <a:off x="685800" y="2185416"/>
              <a:ext cx="292608" cy="292608"/>
            </a:xfrm>
            <a:prstGeom prst="ellipse">
              <a:avLst/>
            </a:prstGeom>
            <a:solidFill>
              <a:srgbClr val="10B981">
                <a:alpha val="85000"/>
              </a:srgbClr>
            </a:solidFill>
            <a:ln/>
          </p:spPr>
          <p:txBody>
            <a:bodyPr/>
            <a:lstStyle/>
            <a:p>
              <a:endParaRPr lang="fr-FR"/>
            </a:p>
          </p:txBody>
        </p:sp>
        <p:sp>
          <p:nvSpPr>
            <p:cNvPr id="14" name="Text 12"/>
            <p:cNvSpPr/>
            <p:nvPr/>
          </p:nvSpPr>
          <p:spPr>
            <a:xfrm>
              <a:off x="685800" y="2185416"/>
              <a:ext cx="292608" cy="292608"/>
            </a:xfrm>
            <a:prstGeom prst="rect">
              <a:avLst/>
            </a:prstGeom>
            <a:noFill/>
            <a:ln/>
          </p:spPr>
          <p:txBody>
            <a:bodyPr wrap="square" lIns="0" tIns="0" rIns="0" bIns="0" rtlCol="0" anchor="ctr"/>
            <a:lstStyle/>
            <a:p>
              <a:pPr marL="0" indent="0" algn="ctr">
                <a:buNone/>
              </a:pPr>
              <a:r>
                <a:rPr lang="en-US" sz="1200" b="1">
                  <a:solidFill>
                    <a:srgbClr val="0B0E1A"/>
                  </a:solidFill>
                  <a:latin typeface="Inter" pitchFamily="34" charset="0"/>
                  <a:ea typeface="Inter" pitchFamily="34" charset="-122"/>
                  <a:cs typeface="Inter" pitchFamily="34" charset="-120"/>
                </a:rPr>
                <a:t>✓</a:t>
              </a:r>
              <a:endParaRPr lang="en-US" sz="1200"/>
            </a:p>
          </p:txBody>
        </p:sp>
        <p:sp>
          <p:nvSpPr>
            <p:cNvPr id="15" name="Text 13"/>
            <p:cNvSpPr/>
            <p:nvPr/>
          </p:nvSpPr>
          <p:spPr>
            <a:xfrm>
              <a:off x="1097280" y="2130552"/>
              <a:ext cx="3200400" cy="457200"/>
            </a:xfrm>
            <a:prstGeom prst="rect">
              <a:avLst/>
            </a:prstGeom>
            <a:noFill/>
            <a:ln/>
          </p:spPr>
          <p:txBody>
            <a:bodyPr wrap="square" lIns="0" tIns="0" rIns="0" bIns="0" rtlCol="0" anchor="ctr"/>
            <a:lstStyle/>
            <a:p>
              <a:pPr marL="0" indent="0" algn="l">
                <a:buNone/>
              </a:pPr>
              <a:r>
                <a:rPr lang="en-US" sz="1100" b="1">
                  <a:solidFill>
                    <a:srgbClr val="FFFFFF"/>
                  </a:solidFill>
                  <a:latin typeface="Sora" pitchFamily="34" charset="0"/>
                  <a:ea typeface="Sora" pitchFamily="34" charset="-122"/>
                  <a:cs typeface="Sora" pitchFamily="34" charset="-120"/>
                </a:rPr>
                <a:t>Real-time backend, 100% data isolation</a:t>
              </a:r>
              <a:endParaRPr lang="en-US" sz="1100"/>
            </a:p>
          </p:txBody>
        </p:sp>
      </p:grpSp>
      <p:grpSp>
        <p:nvGrpSpPr>
          <p:cNvPr id="30" name="Group 29">
            <a:extLst>
              <a:ext uri="{FF2B5EF4-FFF2-40B4-BE49-F238E27FC236}">
                <a16:creationId xmlns:a16="http://schemas.microsoft.com/office/drawing/2014/main" id="{E0ED8D39-A04E-AE86-02A3-27617AD0088F}"/>
              </a:ext>
            </a:extLst>
          </p:cNvPr>
          <p:cNvGrpSpPr/>
          <p:nvPr/>
        </p:nvGrpSpPr>
        <p:grpSpPr>
          <a:xfrm>
            <a:off x="4663440" y="1097280"/>
            <a:ext cx="3931920" cy="1600200"/>
            <a:chOff x="4663440" y="1097280"/>
            <a:chExt cx="3931920" cy="1600200"/>
          </a:xfrm>
        </p:grpSpPr>
        <p:sp>
          <p:nvSpPr>
            <p:cNvPr id="8" name="ANIM::130::card2f"/>
            <p:cNvSpPr/>
            <p:nvPr/>
          </p:nvSpPr>
          <p:spPr>
            <a:xfrm>
              <a:off x="4663440" y="1097280"/>
              <a:ext cx="3931920" cy="731520"/>
            </a:xfrm>
            <a:prstGeom prst="roundRect">
              <a:avLst>
                <a:gd name="adj" fmla="val 20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9" name="Shape 7"/>
            <p:cNvSpPr/>
            <p:nvPr/>
          </p:nvSpPr>
          <p:spPr>
            <a:xfrm>
              <a:off x="4846320" y="1316736"/>
              <a:ext cx="292608" cy="292608"/>
            </a:xfrm>
            <a:prstGeom prst="ellipse">
              <a:avLst/>
            </a:prstGeom>
            <a:solidFill>
              <a:srgbClr val="10B981">
                <a:alpha val="85000"/>
              </a:srgbClr>
            </a:solidFill>
            <a:ln/>
          </p:spPr>
          <p:txBody>
            <a:bodyPr/>
            <a:lstStyle/>
            <a:p>
              <a:endParaRPr lang="fr-FR"/>
            </a:p>
          </p:txBody>
        </p:sp>
        <p:sp>
          <p:nvSpPr>
            <p:cNvPr id="10" name="Text 8"/>
            <p:cNvSpPr/>
            <p:nvPr/>
          </p:nvSpPr>
          <p:spPr>
            <a:xfrm>
              <a:off x="4846320" y="1316736"/>
              <a:ext cx="292608" cy="292608"/>
            </a:xfrm>
            <a:prstGeom prst="rect">
              <a:avLst/>
            </a:prstGeom>
            <a:noFill/>
            <a:ln/>
          </p:spPr>
          <p:txBody>
            <a:bodyPr wrap="square" lIns="0" tIns="0" rIns="0" bIns="0" rtlCol="0" anchor="ctr"/>
            <a:lstStyle/>
            <a:p>
              <a:pPr marL="0" indent="0" algn="ctr">
                <a:buNone/>
              </a:pPr>
              <a:r>
                <a:rPr lang="en-US" sz="1200" b="1">
                  <a:solidFill>
                    <a:srgbClr val="0B0E1A"/>
                  </a:solidFill>
                  <a:latin typeface="Inter" pitchFamily="34" charset="0"/>
                  <a:ea typeface="Inter" pitchFamily="34" charset="-122"/>
                  <a:cs typeface="Inter" pitchFamily="34" charset="-120"/>
                </a:rPr>
                <a:t>✓</a:t>
              </a:r>
              <a:endParaRPr lang="en-US" sz="1200"/>
            </a:p>
          </p:txBody>
        </p:sp>
        <p:sp>
          <p:nvSpPr>
            <p:cNvPr id="11" name="Text 9"/>
            <p:cNvSpPr/>
            <p:nvPr/>
          </p:nvSpPr>
          <p:spPr>
            <a:xfrm>
              <a:off x="5257800" y="1261872"/>
              <a:ext cx="3200400" cy="457200"/>
            </a:xfrm>
            <a:prstGeom prst="rect">
              <a:avLst/>
            </a:prstGeom>
            <a:noFill/>
            <a:ln/>
          </p:spPr>
          <p:txBody>
            <a:bodyPr wrap="square" lIns="0" tIns="0" rIns="0" bIns="0" rtlCol="0" anchor="ctr"/>
            <a:lstStyle/>
            <a:p>
              <a:pPr marL="0" indent="0" algn="l">
                <a:buNone/>
              </a:pPr>
              <a:r>
                <a:rPr lang="en-US" sz="1100" b="1">
                  <a:solidFill>
                    <a:srgbClr val="FFFFFF"/>
                  </a:solidFill>
                  <a:latin typeface="Sora" pitchFamily="34" charset="0"/>
                  <a:ea typeface="Sora" pitchFamily="34" charset="-122"/>
                  <a:cs typeface="Sora" pitchFamily="34" charset="-120"/>
                </a:rPr>
                <a:t>Full web platform — CRM to accounts</a:t>
              </a:r>
              <a:endParaRPr lang="en-US" sz="1100"/>
            </a:p>
          </p:txBody>
        </p:sp>
        <p:sp>
          <p:nvSpPr>
            <p:cNvPr id="16" name="ANIM::390::card2h"/>
            <p:cNvSpPr/>
            <p:nvPr/>
          </p:nvSpPr>
          <p:spPr>
            <a:xfrm>
              <a:off x="4663440" y="1965960"/>
              <a:ext cx="3931920" cy="731520"/>
            </a:xfrm>
            <a:prstGeom prst="roundRect">
              <a:avLst>
                <a:gd name="adj" fmla="val 20000"/>
              </a:avLst>
            </a:prstGeom>
            <a:solidFill>
              <a:srgbClr val="FFFFFF">
                <a:alpha val="8000"/>
              </a:srgbClr>
            </a:solidFill>
            <a:ln w="9525">
              <a:solidFill>
                <a:srgbClr val="FFFFFF">
                  <a:alpha val="30000"/>
                </a:srgbClr>
              </a:solidFill>
              <a:prstDash val="solid"/>
            </a:ln>
            <a:effectLst>
              <a:outerShdw blurRad="228600" dist="101600" dir="5400000" algn="bl" rotWithShape="0">
                <a:srgbClr val="000000">
                  <a:alpha val="35000"/>
                </a:srgbClr>
              </a:outerShdw>
            </a:effectLst>
          </p:spPr>
          <p:txBody>
            <a:bodyPr/>
            <a:lstStyle/>
            <a:p>
              <a:endParaRPr lang="fr-FR"/>
            </a:p>
          </p:txBody>
        </p:sp>
        <p:sp>
          <p:nvSpPr>
            <p:cNvPr id="17" name="Shape 15"/>
            <p:cNvSpPr/>
            <p:nvPr/>
          </p:nvSpPr>
          <p:spPr>
            <a:xfrm>
              <a:off x="4846320" y="2185416"/>
              <a:ext cx="292608" cy="292608"/>
            </a:xfrm>
            <a:prstGeom prst="ellipse">
              <a:avLst/>
            </a:prstGeom>
            <a:solidFill>
              <a:srgbClr val="10B981">
                <a:alpha val="85000"/>
              </a:srgbClr>
            </a:solidFill>
            <a:ln/>
          </p:spPr>
          <p:txBody>
            <a:bodyPr/>
            <a:lstStyle/>
            <a:p>
              <a:endParaRPr lang="fr-FR"/>
            </a:p>
          </p:txBody>
        </p:sp>
        <p:sp>
          <p:nvSpPr>
            <p:cNvPr id="18" name="Text 16"/>
            <p:cNvSpPr/>
            <p:nvPr/>
          </p:nvSpPr>
          <p:spPr>
            <a:xfrm>
              <a:off x="4846320" y="2185416"/>
              <a:ext cx="292608" cy="292608"/>
            </a:xfrm>
            <a:prstGeom prst="rect">
              <a:avLst/>
            </a:prstGeom>
            <a:noFill/>
            <a:ln/>
          </p:spPr>
          <p:txBody>
            <a:bodyPr wrap="square" lIns="0" tIns="0" rIns="0" bIns="0" rtlCol="0" anchor="ctr"/>
            <a:lstStyle/>
            <a:p>
              <a:pPr marL="0" indent="0" algn="ctr">
                <a:buNone/>
              </a:pPr>
              <a:r>
                <a:rPr lang="en-US" sz="1200" b="1">
                  <a:solidFill>
                    <a:srgbClr val="0B0E1A"/>
                  </a:solidFill>
                  <a:latin typeface="Inter" pitchFamily="34" charset="0"/>
                  <a:ea typeface="Inter" pitchFamily="34" charset="-122"/>
                  <a:cs typeface="Inter" pitchFamily="34" charset="-120"/>
                </a:rPr>
                <a:t>✓</a:t>
              </a:r>
              <a:endParaRPr lang="en-US" sz="1200"/>
            </a:p>
          </p:txBody>
        </p:sp>
        <p:sp>
          <p:nvSpPr>
            <p:cNvPr id="19" name="Text 17"/>
            <p:cNvSpPr/>
            <p:nvPr/>
          </p:nvSpPr>
          <p:spPr>
            <a:xfrm>
              <a:off x="5257800" y="2130552"/>
              <a:ext cx="3200400" cy="457200"/>
            </a:xfrm>
            <a:prstGeom prst="rect">
              <a:avLst/>
            </a:prstGeom>
            <a:noFill/>
            <a:ln/>
          </p:spPr>
          <p:txBody>
            <a:bodyPr wrap="square" lIns="0" tIns="0" rIns="0" bIns="0" rtlCol="0" anchor="ctr"/>
            <a:lstStyle/>
            <a:p>
              <a:pPr marL="0" indent="0" algn="l">
                <a:buNone/>
              </a:pPr>
              <a:r>
                <a:rPr lang="en-US" sz="1100" b="1">
                  <a:solidFill>
                    <a:srgbClr val="FFFFFF"/>
                  </a:solidFill>
                  <a:latin typeface="Sora" pitchFamily="34" charset="0"/>
                  <a:ea typeface="Sora" pitchFamily="34" charset="-122"/>
                  <a:cs typeface="Sora" pitchFamily="34" charset="-120"/>
                </a:rPr>
                <a:t>Bilingual · adaptive · cloud-deployed</a:t>
              </a:r>
              <a:endParaRPr lang="en-US" sz="1100"/>
            </a:p>
          </p:txBody>
        </p:sp>
      </p:grpSp>
      <p:grpSp>
        <p:nvGrpSpPr>
          <p:cNvPr id="32" name="Group 31">
            <a:extLst>
              <a:ext uri="{FF2B5EF4-FFF2-40B4-BE49-F238E27FC236}">
                <a16:creationId xmlns:a16="http://schemas.microsoft.com/office/drawing/2014/main" id="{A515BFD5-71A4-01F8-74B0-42A515E05DB5}"/>
              </a:ext>
            </a:extLst>
          </p:cNvPr>
          <p:cNvGrpSpPr/>
          <p:nvPr/>
        </p:nvGrpSpPr>
        <p:grpSpPr>
          <a:xfrm>
            <a:off x="-45720" y="3639312"/>
            <a:ext cx="9235440" cy="932688"/>
            <a:chOff x="-45720" y="3639312"/>
            <a:chExt cx="9235440" cy="932688"/>
          </a:xfrm>
        </p:grpSpPr>
        <p:sp>
          <p:nvSpPr>
            <p:cNvPr id="20" name="Shape 18"/>
            <p:cNvSpPr/>
            <p:nvPr/>
          </p:nvSpPr>
          <p:spPr>
            <a:xfrm>
              <a:off x="777240" y="3703320"/>
              <a:ext cx="7589520" cy="0"/>
            </a:xfrm>
            <a:prstGeom prst="line">
              <a:avLst/>
            </a:prstGeom>
            <a:noFill/>
            <a:ln w="19050">
              <a:solidFill>
                <a:srgbClr val="FFFFFF">
                  <a:alpha val="22000"/>
                </a:srgbClr>
              </a:solidFill>
              <a:prstDash val="solid"/>
            </a:ln>
          </p:spPr>
          <p:txBody>
            <a:bodyPr/>
            <a:lstStyle/>
            <a:p>
              <a:endParaRPr lang="fr-FR"/>
            </a:p>
          </p:txBody>
        </p:sp>
        <p:sp>
          <p:nvSpPr>
            <p:cNvPr id="21" name="Shape 19"/>
            <p:cNvSpPr/>
            <p:nvPr/>
          </p:nvSpPr>
          <p:spPr>
            <a:xfrm>
              <a:off x="713232" y="3639312"/>
              <a:ext cx="128016" cy="128016"/>
            </a:xfrm>
            <a:prstGeom prst="ellipse">
              <a:avLst/>
            </a:prstGeom>
            <a:solidFill>
              <a:srgbClr val="22D3EE"/>
            </a:solidFill>
            <a:ln w="25400">
              <a:solidFill>
                <a:srgbClr val="0B0E1A"/>
              </a:solidFill>
              <a:prstDash val="solid"/>
            </a:ln>
          </p:spPr>
          <p:txBody>
            <a:bodyPr/>
            <a:lstStyle/>
            <a:p>
              <a:endParaRPr lang="fr-FR"/>
            </a:p>
          </p:txBody>
        </p:sp>
        <p:sp>
          <p:nvSpPr>
            <p:cNvPr id="22" name="Text 20"/>
            <p:cNvSpPr/>
            <p:nvPr/>
          </p:nvSpPr>
          <p:spPr>
            <a:xfrm>
              <a:off x="137160" y="3931920"/>
              <a:ext cx="1737360" cy="274320"/>
            </a:xfrm>
            <a:prstGeom prst="rect">
              <a:avLst/>
            </a:prstGeom>
            <a:noFill/>
            <a:ln/>
          </p:spPr>
          <p:txBody>
            <a:bodyPr wrap="square" lIns="0" tIns="0" rIns="0" bIns="0" rtlCol="0" anchor="ctr"/>
            <a:lstStyle/>
            <a:p>
              <a:pPr marL="0" indent="0" algn="ctr">
                <a:buNone/>
              </a:pPr>
              <a:r>
                <a:rPr lang="en-US" sz="1150" b="1">
                  <a:solidFill>
                    <a:srgbClr val="FFFFFF"/>
                  </a:solidFill>
                  <a:latin typeface="Sora" pitchFamily="34" charset="0"/>
                  <a:ea typeface="Sora" pitchFamily="34" charset="-122"/>
                  <a:cs typeface="Sora" pitchFamily="34" charset="-120"/>
                </a:rPr>
                <a:t>Short-term</a:t>
              </a:r>
              <a:endParaRPr lang="en-US" sz="1150"/>
            </a:p>
          </p:txBody>
        </p:sp>
        <p:sp>
          <p:nvSpPr>
            <p:cNvPr id="23" name="Text 21"/>
            <p:cNvSpPr/>
            <p:nvPr/>
          </p:nvSpPr>
          <p:spPr>
            <a:xfrm>
              <a:off x="-45720" y="4206240"/>
              <a:ext cx="2103120" cy="365760"/>
            </a:xfrm>
            <a:prstGeom prst="rect">
              <a:avLst/>
            </a:prstGeom>
            <a:noFill/>
            <a:ln/>
          </p:spPr>
          <p:txBody>
            <a:bodyPr wrap="square" lIns="0" tIns="0" rIns="0" bIns="0" rtlCol="0" anchor="ctr"/>
            <a:lstStyle/>
            <a:p>
              <a:pPr marL="0" indent="0" algn="ctr">
                <a:buNone/>
              </a:pPr>
              <a:r>
                <a:rPr lang="en-US" sz="900">
                  <a:solidFill>
                    <a:srgbClr val="8890A6"/>
                  </a:solidFill>
                  <a:latin typeface="Inter" pitchFamily="34" charset="0"/>
                  <a:ea typeface="Inter" pitchFamily="34" charset="-122"/>
                  <a:cs typeface="Inter" pitchFamily="34" charset="-120"/>
                </a:rPr>
                <a:t>Automated email</a:t>
              </a:r>
              <a:endParaRPr lang="en-US" sz="900"/>
            </a:p>
          </p:txBody>
        </p:sp>
        <p:sp>
          <p:nvSpPr>
            <p:cNvPr id="24" name="Shape 22"/>
            <p:cNvSpPr/>
            <p:nvPr/>
          </p:nvSpPr>
          <p:spPr>
            <a:xfrm>
              <a:off x="4515026" y="3659007"/>
              <a:ext cx="128016" cy="128016"/>
            </a:xfrm>
            <a:prstGeom prst="ellipse">
              <a:avLst/>
            </a:prstGeom>
            <a:solidFill>
              <a:srgbClr val="8B5CF6"/>
            </a:solidFill>
            <a:ln w="25400">
              <a:solidFill>
                <a:srgbClr val="0B0E1A"/>
              </a:solidFill>
              <a:prstDash val="solid"/>
            </a:ln>
          </p:spPr>
          <p:txBody>
            <a:bodyPr/>
            <a:lstStyle/>
            <a:p>
              <a:endParaRPr lang="fr-FR"/>
            </a:p>
          </p:txBody>
        </p:sp>
        <p:sp>
          <p:nvSpPr>
            <p:cNvPr id="25" name="Text 23"/>
            <p:cNvSpPr/>
            <p:nvPr/>
          </p:nvSpPr>
          <p:spPr>
            <a:xfrm>
              <a:off x="3703320" y="3884256"/>
              <a:ext cx="1737360" cy="274320"/>
            </a:xfrm>
            <a:prstGeom prst="rect">
              <a:avLst/>
            </a:prstGeom>
            <a:noFill/>
            <a:ln/>
          </p:spPr>
          <p:txBody>
            <a:bodyPr wrap="square" lIns="0" tIns="0" rIns="0" bIns="0" rtlCol="0" anchor="ctr"/>
            <a:lstStyle/>
            <a:p>
              <a:pPr marL="0" indent="0" algn="ctr">
                <a:buNone/>
              </a:pPr>
              <a:r>
                <a:rPr lang="en-US" sz="1150" b="1">
                  <a:solidFill>
                    <a:srgbClr val="FFFFFF"/>
                  </a:solidFill>
                  <a:latin typeface="Sora" pitchFamily="34" charset="0"/>
                  <a:ea typeface="Sora" pitchFamily="34" charset="-122"/>
                  <a:cs typeface="Sora" pitchFamily="34" charset="-120"/>
                </a:rPr>
                <a:t>Medium-term</a:t>
              </a:r>
              <a:endParaRPr lang="en-US" sz="1150"/>
            </a:p>
          </p:txBody>
        </p:sp>
        <p:sp>
          <p:nvSpPr>
            <p:cNvPr id="26" name="Text 24"/>
            <p:cNvSpPr/>
            <p:nvPr/>
          </p:nvSpPr>
          <p:spPr>
            <a:xfrm>
              <a:off x="3520440" y="4158576"/>
              <a:ext cx="2103120" cy="365760"/>
            </a:xfrm>
            <a:prstGeom prst="rect">
              <a:avLst/>
            </a:prstGeom>
            <a:noFill/>
            <a:ln/>
          </p:spPr>
          <p:txBody>
            <a:bodyPr wrap="square" lIns="0" tIns="0" rIns="0" bIns="0" rtlCol="0" anchor="ctr"/>
            <a:lstStyle/>
            <a:p>
              <a:pPr marL="0" indent="0" algn="ctr">
                <a:buNone/>
              </a:pPr>
              <a:r>
                <a:rPr lang="en-US" sz="900">
                  <a:solidFill>
                    <a:srgbClr val="8890A6"/>
                  </a:solidFill>
                  <a:latin typeface="Inter" pitchFamily="34" charset="0"/>
                  <a:ea typeface="Inter" pitchFamily="34" charset="-122"/>
                  <a:cs typeface="Inter" pitchFamily="34" charset="-120"/>
                </a:rPr>
                <a:t>PDF generation</a:t>
              </a:r>
              <a:endParaRPr lang="en-US" sz="900"/>
            </a:p>
          </p:txBody>
        </p:sp>
        <p:sp>
          <p:nvSpPr>
            <p:cNvPr id="27" name="Shape 25"/>
            <p:cNvSpPr/>
            <p:nvPr/>
          </p:nvSpPr>
          <p:spPr>
            <a:xfrm>
              <a:off x="8268286" y="3657600"/>
              <a:ext cx="128016" cy="128016"/>
            </a:xfrm>
            <a:prstGeom prst="ellipse">
              <a:avLst/>
            </a:prstGeom>
            <a:solidFill>
              <a:srgbClr val="EC4899"/>
            </a:solidFill>
            <a:ln w="25400">
              <a:solidFill>
                <a:srgbClr val="0B0E1A"/>
              </a:solidFill>
              <a:prstDash val="solid"/>
            </a:ln>
          </p:spPr>
          <p:txBody>
            <a:bodyPr/>
            <a:lstStyle/>
            <a:p>
              <a:endParaRPr lang="fr-FR"/>
            </a:p>
          </p:txBody>
        </p:sp>
        <p:sp>
          <p:nvSpPr>
            <p:cNvPr id="28" name="Text 26"/>
            <p:cNvSpPr/>
            <p:nvPr/>
          </p:nvSpPr>
          <p:spPr>
            <a:xfrm>
              <a:off x="7452360" y="3851031"/>
              <a:ext cx="1737360" cy="274320"/>
            </a:xfrm>
            <a:prstGeom prst="rect">
              <a:avLst/>
            </a:prstGeom>
            <a:noFill/>
            <a:ln/>
          </p:spPr>
          <p:txBody>
            <a:bodyPr wrap="square" lIns="0" tIns="0" rIns="0" bIns="0" rtlCol="0" anchor="ctr"/>
            <a:lstStyle/>
            <a:p>
              <a:pPr marL="0" indent="0" algn="ctr">
                <a:buNone/>
              </a:pPr>
              <a:r>
                <a:rPr lang="en-US" sz="1150" b="1">
                  <a:solidFill>
                    <a:srgbClr val="FFFFFF"/>
                  </a:solidFill>
                  <a:latin typeface="Sora" pitchFamily="34" charset="0"/>
                  <a:ea typeface="Sora" pitchFamily="34" charset="-122"/>
                  <a:cs typeface="Sora" pitchFamily="34" charset="-120"/>
                </a:rPr>
                <a:t>Long-term</a:t>
              </a:r>
              <a:endParaRPr lang="en-US" sz="1150"/>
            </a:p>
          </p:txBody>
        </p:sp>
        <p:sp>
          <p:nvSpPr>
            <p:cNvPr id="29" name="Text 27"/>
            <p:cNvSpPr/>
            <p:nvPr/>
          </p:nvSpPr>
          <p:spPr>
            <a:xfrm>
              <a:off x="7399606" y="4135287"/>
              <a:ext cx="1737360" cy="365760"/>
            </a:xfrm>
            <a:prstGeom prst="rect">
              <a:avLst/>
            </a:prstGeom>
            <a:noFill/>
            <a:ln/>
          </p:spPr>
          <p:txBody>
            <a:bodyPr wrap="square" lIns="0" tIns="0" rIns="0" bIns="0" rtlCol="0" anchor="ctr"/>
            <a:lstStyle/>
            <a:p>
              <a:pPr marL="0" indent="0" algn="ctr">
                <a:buNone/>
              </a:pPr>
              <a:r>
                <a:rPr lang="en-US" sz="900">
                  <a:solidFill>
                    <a:srgbClr val="8890A6"/>
                  </a:solidFill>
                  <a:latin typeface="Inter" pitchFamily="34" charset="0"/>
                  <a:ea typeface="Inter" pitchFamily="34" charset="-122"/>
                  <a:cs typeface="Inter" pitchFamily="34" charset="-120"/>
                </a:rPr>
                <a:t>Document OCR</a:t>
              </a:r>
              <a:endParaRPr lang="en-US" sz="9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1+#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500" fill="hold"/>
                                        <p:tgtEl>
                                          <p:spTgt spid="31"/>
                                        </p:tgtEl>
                                        <p:attrNameLst>
                                          <p:attrName>ppt_x</p:attrName>
                                        </p:attrNameLst>
                                      </p:cBhvr>
                                      <p:tavLst>
                                        <p:tav tm="0">
                                          <p:val>
                                            <p:strVal val="0-#ppt_w/2"/>
                                          </p:val>
                                        </p:tav>
                                        <p:tav tm="100000">
                                          <p:val>
                                            <p:strVal val="#ppt_x"/>
                                          </p:val>
                                        </p:tav>
                                      </p:tavLst>
                                    </p:anim>
                                    <p:anim calcmode="lin" valueType="num">
                                      <p:cBhvr additive="base">
                                        <p:cTn id="12" dur="1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1500" fill="hold"/>
                                        <p:tgtEl>
                                          <p:spTgt spid="30"/>
                                        </p:tgtEl>
                                        <p:attrNameLst>
                                          <p:attrName>ppt_x</p:attrName>
                                        </p:attrNameLst>
                                      </p:cBhvr>
                                      <p:tavLst>
                                        <p:tav tm="0">
                                          <p:val>
                                            <p:strVal val="1+#ppt_w/2"/>
                                          </p:val>
                                        </p:tav>
                                        <p:tav tm="100000">
                                          <p:val>
                                            <p:strVal val="#ppt_x"/>
                                          </p:val>
                                        </p:tav>
                                      </p:tavLst>
                                    </p:anim>
                                    <p:anim calcmode="lin" valueType="num">
                                      <p:cBhvr additive="base">
                                        <p:cTn id="16" dur="1500" fill="hold"/>
                                        <p:tgtEl>
                                          <p:spTgt spid="30"/>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1500" fill="hold"/>
                                        <p:tgtEl>
                                          <p:spTgt spid="32"/>
                                        </p:tgtEl>
                                        <p:attrNameLst>
                                          <p:attrName>ppt_x</p:attrName>
                                        </p:attrNameLst>
                                      </p:cBhvr>
                                      <p:tavLst>
                                        <p:tav tm="0">
                                          <p:val>
                                            <p:strVal val="1+#ppt_w/2"/>
                                          </p:val>
                                        </p:tav>
                                        <p:tav tm="100000">
                                          <p:val>
                                            <p:strVal val="#ppt_x"/>
                                          </p:val>
                                        </p:tav>
                                      </p:tavLst>
                                    </p:anim>
                                    <p:anim calcmode="lin" valueType="num">
                                      <p:cBhvr additive="base">
                                        <p:cTn id="20" dur="1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12" grpId="0"/>
      <p:bldP spid="8"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0B0E1A"/>
        </a:solidFill>
        <a:effectLst/>
      </p:bgPr>
    </p:bg>
    <p:spTree>
      <p:nvGrpSpPr>
        <p:cNvPr id="1" name=""/>
        <p:cNvGrpSpPr/>
        <p:nvPr/>
      </p:nvGrpSpPr>
      <p:grpSpPr>
        <a:xfrm>
          <a:off x="0" y="0"/>
          <a:ext cx="0" cy="0"/>
          <a:chOff x="0" y="0"/>
          <a:chExt cx="0" cy="0"/>
        </a:xfrm>
      </p:grpSpPr>
      <p:sp>
        <p:nvSpPr>
          <p:cNvPr id="2" name="GRAD::fullSpectrum::blob::2i"/>
          <p:cNvSpPr/>
          <p:nvPr/>
        </p:nvSpPr>
        <p:spPr>
          <a:xfrm>
            <a:off x="2286000" y="-1828800"/>
            <a:ext cx="6400800" cy="6400800"/>
          </a:xfrm>
          <a:prstGeom prst="ellipse">
            <a:avLst/>
          </a:prstGeom>
          <a:gradFill rotWithShape="1">
            <a:gsLst>
              <a:gs pos="0">
                <a:srgbClr val="4F7CFF">
                  <a:alpha val="50000"/>
                </a:srgbClr>
              </a:gs>
              <a:gs pos="55000">
                <a:srgbClr val="EC4899">
                  <a:alpha val="22000"/>
                </a:srgbClr>
              </a:gs>
              <a:gs pos="100000">
                <a:srgbClr val="EC4899">
                  <a:alpha val="0"/>
                </a:srgbClr>
              </a:gs>
            </a:gsLst>
            <a:path path="circle">
              <a:fillToRect l="50000" t="50000" r="50000" b="50000"/>
            </a:path>
          </a:gradFill>
          <a:ln/>
          <a:effectLst>
            <a:softEdge rad="380000"/>
          </a:effectLst>
        </p:spPr>
        <p:txBody>
          <a:bodyPr/>
          <a:lstStyle/>
          <a:p>
            <a:endParaRPr lang="fr-FR"/>
          </a:p>
        </p:txBody>
      </p:sp>
      <p:sp>
        <p:nvSpPr>
          <p:cNvPr id="3" name="GRAD::fullSpectrum2::blob::2j"/>
          <p:cNvSpPr/>
          <p:nvPr/>
        </p:nvSpPr>
        <p:spPr>
          <a:xfrm>
            <a:off x="-1371600" y="2286000"/>
            <a:ext cx="5486400" cy="5486400"/>
          </a:xfrm>
          <a:prstGeom prst="ellipse">
            <a:avLst/>
          </a:prstGeom>
          <a:gradFill rotWithShape="1">
            <a:gsLst>
              <a:gs pos="0">
                <a:srgbClr val="4F7CFF">
                  <a:alpha val="46000"/>
                </a:srgbClr>
              </a:gs>
              <a:gs pos="55000">
                <a:srgbClr val="EC4899">
                  <a:alpha val="19000"/>
                </a:srgbClr>
              </a:gs>
              <a:gs pos="100000">
                <a:srgbClr val="EC4899">
                  <a:alpha val="0"/>
                </a:srgbClr>
              </a:gs>
            </a:gsLst>
            <a:path path="circle">
              <a:fillToRect l="50000" t="50000" r="50000" b="50000"/>
            </a:path>
          </a:gradFill>
          <a:ln/>
          <a:effectLst>
            <a:softEdge rad="380000"/>
          </a:effectLst>
        </p:spPr>
        <p:txBody>
          <a:bodyPr/>
          <a:lstStyle/>
          <a:p>
            <a:endParaRPr lang="fr-FR"/>
          </a:p>
        </p:txBody>
      </p:sp>
      <p:pic>
        <p:nvPicPr>
          <p:cNvPr id="4" name="Image 0" descr="preencoded.png"/>
          <p:cNvPicPr>
            <a:picLocks noChangeAspect="1"/>
          </p:cNvPicPr>
          <p:nvPr/>
        </p:nvPicPr>
        <p:blipFill>
          <a:blip r:embed="rId2"/>
          <a:stretch>
            <a:fillRect/>
          </a:stretch>
        </p:blipFill>
        <p:spPr>
          <a:xfrm>
            <a:off x="3886200" y="502920"/>
            <a:ext cx="1371600" cy="950976"/>
          </a:xfrm>
          <a:prstGeom prst="rect">
            <a:avLst/>
          </a:prstGeom>
        </p:spPr>
      </p:pic>
      <p:sp>
        <p:nvSpPr>
          <p:cNvPr id="5" name="ANIM::150::thanks2k"/>
          <p:cNvSpPr/>
          <p:nvPr/>
        </p:nvSpPr>
        <p:spPr>
          <a:xfrm>
            <a:off x="0" y="1737360"/>
            <a:ext cx="9144000" cy="1097280"/>
          </a:xfrm>
          <a:prstGeom prst="rect">
            <a:avLst/>
          </a:prstGeom>
          <a:noFill/>
          <a:ln/>
        </p:spPr>
        <p:txBody>
          <a:bodyPr wrap="square" lIns="0" tIns="0" rIns="0" bIns="0" rtlCol="0" anchor="ctr"/>
          <a:lstStyle/>
          <a:p>
            <a:pPr marL="0" indent="0" algn="ctr">
              <a:buNone/>
            </a:pPr>
            <a:r>
              <a:rPr lang="en-US" sz="6400" b="1">
                <a:solidFill>
                  <a:srgbClr val="FFFFFF"/>
                </a:solidFill>
                <a:latin typeface="Sora" pitchFamily="34" charset="0"/>
                <a:ea typeface="Sora" pitchFamily="34" charset="-122"/>
                <a:cs typeface="Sora" pitchFamily="34" charset="-120"/>
              </a:rPr>
              <a:t>Thank you.</a:t>
            </a:r>
            <a:endParaRPr lang="en-US" sz="6400"/>
          </a:p>
        </p:txBody>
      </p:sp>
      <p:sp>
        <p:nvSpPr>
          <p:cNvPr id="6" name="Text 3"/>
          <p:cNvSpPr/>
          <p:nvPr/>
        </p:nvSpPr>
        <p:spPr>
          <a:xfrm>
            <a:off x="0" y="2697480"/>
            <a:ext cx="9144000" cy="365760"/>
          </a:xfrm>
          <a:prstGeom prst="rect">
            <a:avLst/>
          </a:prstGeom>
          <a:noFill/>
          <a:ln/>
        </p:spPr>
        <p:txBody>
          <a:bodyPr wrap="square" lIns="0" tIns="0" rIns="0" bIns="0" rtlCol="0" anchor="ctr"/>
          <a:lstStyle/>
          <a:p>
            <a:pPr marL="0" indent="0" algn="ctr">
              <a:buNone/>
            </a:pPr>
            <a:r>
              <a:rPr lang="en-US" sz="1500">
                <a:solidFill>
                  <a:srgbClr val="C7CCDA"/>
                </a:solidFill>
                <a:latin typeface="Inter" pitchFamily="34" charset="0"/>
                <a:ea typeface="Inter" pitchFamily="34" charset="-122"/>
                <a:cs typeface="Inter" pitchFamily="34" charset="-120"/>
              </a:rPr>
              <a:t>We're happy to take your questions.</a:t>
            </a:r>
            <a:endParaRPr lang="en-US" sz="1500"/>
          </a:p>
        </p:txBody>
      </p:sp>
      <p:sp>
        <p:nvSpPr>
          <p:cNvPr id="7" name="Shape 4"/>
          <p:cNvSpPr/>
          <p:nvPr/>
        </p:nvSpPr>
        <p:spPr>
          <a:xfrm>
            <a:off x="1691640" y="3520440"/>
            <a:ext cx="576072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8" name="Text 5"/>
          <p:cNvSpPr/>
          <p:nvPr/>
        </p:nvSpPr>
        <p:spPr>
          <a:xfrm>
            <a:off x="1691640" y="3520440"/>
            <a:ext cx="5760720" cy="365760"/>
          </a:xfrm>
          <a:prstGeom prst="rect">
            <a:avLst/>
          </a:prstGeom>
          <a:noFill/>
          <a:ln/>
        </p:spPr>
        <p:txBody>
          <a:bodyPr wrap="square" lIns="0" tIns="0" rIns="0" bIns="0" rtlCol="0" anchor="ctr"/>
          <a:lstStyle/>
          <a:p>
            <a:pPr marL="0" indent="0" algn="ctr">
              <a:buNone/>
            </a:pPr>
            <a:r>
              <a:rPr lang="en-US" sz="950" b="1" kern="0" spc="100">
                <a:solidFill>
                  <a:srgbClr val="FFFFFF"/>
                </a:solidFill>
                <a:latin typeface="Inter" pitchFamily="34" charset="0"/>
                <a:ea typeface="Inter" pitchFamily="34" charset="-122"/>
                <a:cs typeface="Inter" pitchFamily="34" charset="-120"/>
              </a:rPr>
              <a:t>Hassen ABDELLI  ·  ibdellihassen7@gmail.com</a:t>
            </a:r>
            <a:endParaRPr lang="en-US" sz="950"/>
          </a:p>
        </p:txBody>
      </p:sp>
      <p:sp>
        <p:nvSpPr>
          <p:cNvPr id="9" name="Shape 6"/>
          <p:cNvSpPr/>
          <p:nvPr/>
        </p:nvSpPr>
        <p:spPr>
          <a:xfrm>
            <a:off x="1691640" y="3977640"/>
            <a:ext cx="5760720" cy="365760"/>
          </a:xfrm>
          <a:prstGeom prst="roundRect">
            <a:avLst>
              <a:gd name="adj" fmla="val 50000"/>
            </a:avLst>
          </a:prstGeom>
          <a:solidFill>
            <a:srgbClr val="FFFFFF">
              <a:alpha val="10000"/>
            </a:srgbClr>
          </a:solidFill>
          <a:ln w="9525">
            <a:solidFill>
              <a:srgbClr val="FFFFFF">
                <a:alpha val="40000"/>
              </a:srgbClr>
            </a:solidFill>
            <a:prstDash val="solid"/>
          </a:ln>
        </p:spPr>
        <p:txBody>
          <a:bodyPr/>
          <a:lstStyle/>
          <a:p>
            <a:endParaRPr lang="fr-FR"/>
          </a:p>
        </p:txBody>
      </p:sp>
      <p:sp>
        <p:nvSpPr>
          <p:cNvPr id="10" name="Text 7"/>
          <p:cNvSpPr/>
          <p:nvPr/>
        </p:nvSpPr>
        <p:spPr>
          <a:xfrm>
            <a:off x="1691640" y="3977640"/>
            <a:ext cx="5760720" cy="365760"/>
          </a:xfrm>
          <a:prstGeom prst="rect">
            <a:avLst/>
          </a:prstGeom>
          <a:noFill/>
          <a:ln/>
        </p:spPr>
        <p:txBody>
          <a:bodyPr wrap="square" lIns="0" tIns="0" rIns="0" bIns="0" rtlCol="0" anchor="ctr"/>
          <a:lstStyle/>
          <a:p>
            <a:pPr marL="0" indent="0" algn="ctr">
              <a:buNone/>
            </a:pPr>
            <a:r>
              <a:rPr lang="en-US" sz="950" b="1" kern="0" spc="100">
                <a:solidFill>
                  <a:srgbClr val="FFFFFF"/>
                </a:solidFill>
                <a:latin typeface="Inter" pitchFamily="34" charset="0"/>
                <a:ea typeface="Inter" pitchFamily="34" charset="-122"/>
                <a:cs typeface="Inter" pitchFamily="34" charset="-120"/>
              </a:rPr>
              <a:t>Yassine ELHADJ  ·  yassineehadj@gmail.com</a:t>
            </a:r>
            <a:endParaRPr lang="en-US" sz="950"/>
          </a:p>
        </p:txBody>
      </p:sp>
      <p:sp>
        <p:nvSpPr>
          <p:cNvPr id="11" name="Text 8"/>
          <p:cNvSpPr/>
          <p:nvPr/>
        </p:nvSpPr>
        <p:spPr>
          <a:xfrm>
            <a:off x="0" y="4709160"/>
            <a:ext cx="9144000" cy="274320"/>
          </a:xfrm>
          <a:prstGeom prst="rect">
            <a:avLst/>
          </a:prstGeom>
          <a:noFill/>
          <a:ln/>
        </p:spPr>
        <p:txBody>
          <a:bodyPr wrap="square" lIns="0" tIns="0" rIns="0" bIns="0" rtlCol="0" anchor="ctr"/>
          <a:lstStyle/>
          <a:p>
            <a:pPr marL="0" indent="0" algn="ctr">
              <a:buNone/>
            </a:pPr>
            <a:r>
              <a:rPr lang="en-US" sz="900">
                <a:solidFill>
                  <a:srgbClr val="8890A6"/>
                </a:solidFill>
                <a:latin typeface="Inter" pitchFamily="34" charset="0"/>
                <a:ea typeface="Inter" pitchFamily="34" charset="-122"/>
                <a:cs typeface="Inter" pitchFamily="34" charset="-120"/>
              </a:rPr>
              <a:t>University of Kairouan  ·  Faculty of Sciences and Techniques of Sidi Bouzid  ·  2025/2026</a:t>
            </a:r>
            <a:endParaRPr lang="en-US" sz="9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0-#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1+#ppt_w/2"/>
                                          </p:val>
                                        </p:tav>
                                        <p:tav tm="100000">
                                          <p:val>
                                            <p:strVal val="#ppt_x"/>
                                          </p:val>
                                        </p:tav>
                                      </p:tavLst>
                                    </p:anim>
                                    <p:anim calcmode="lin" valueType="num">
                                      <p:cBhvr additive="base">
                                        <p:cTn id="12" dur="1500" fill="hold"/>
                                        <p:tgtEl>
                                          <p:spTgt spid="3"/>
                                        </p:tgtEl>
                                        <p:attrNameLst>
                                          <p:attrName>ppt_y</p:attrName>
                                        </p:attrNameLst>
                                      </p:cBhvr>
                                      <p:tavLst>
                                        <p:tav tm="0">
                                          <p:val>
                                            <p:strVal val="0-#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500"/>
                                        <p:tgtEl>
                                          <p:spTgt spid="4"/>
                                        </p:tgtEl>
                                      </p:cBhvr>
                                    </p:animEffect>
                                  </p:childTnLst>
                                </p:cTn>
                              </p:par>
                              <p:par>
                                <p:cTn id="16" presetID="10" presetClass="entr" presetSubtype="0" fill="hold" grpId="1"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p:bldP spid="5" grpId="1" animBg="1"/>
      <p:bldP spid="6" grpId="0" animBg="1"/>
      <p:bldP spid="7" grpId="0" animBg="1"/>
      <p:bldP spid="8" grpId="0" animBg="1"/>
      <p:bldP spid="9" grpId="0" animBg="1"/>
      <p:bldP spid="10" grpId="0" animBg="1"/>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2562</Words>
  <Application>Microsoft Office PowerPoint</Application>
  <PresentationFormat>On-screen Show (16:9)</PresentationFormat>
  <Paragraphs>377</Paragraphs>
  <Slides>30</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Calibri</vt:lpstr>
      <vt:lpstr>Inter</vt:lpstr>
      <vt:lpstr>Sora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HMI Stars — Final Year Defense</dc:title>
  <dc:subject>PptxGenJS Presentation</dc:subject>
  <dc:creator>Hassen ABDELLI &amp; Yassine ELHADJ</dc:creator>
  <cp:lastModifiedBy>Hadj Yassine</cp:lastModifiedBy>
  <cp:revision>57</cp:revision>
  <dcterms:created xsi:type="dcterms:W3CDTF">2026-06-21T04:59:53Z</dcterms:created>
  <dcterms:modified xsi:type="dcterms:W3CDTF">2026-06-22T06:28:27Z</dcterms:modified>
</cp:coreProperties>
</file>